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1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C1C1E"/>
                </a:solidFill>
                <a:latin typeface="Arial"/>
              </a:rP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658368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7C34C7"/>
                </a:solidFill>
                <a:latin typeface="Arial"/>
              </a:rPr>
              <a:t>EM FINANÇAS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43200"/>
            <a:ext cx="429768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2999232"/>
            <a:ext cx="438912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F3F3F"/>
                </a:solidFill>
                <a:latin typeface="Arial"/>
              </a:rPr>
              <a:t>De sinais a estratégias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346704"/>
            <a:ext cx="6217920" cy="4754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98989"/>
                </a:solidFill>
                <a:latin typeface="Arial"/>
              </a:rPr>
              <a:t>Uma introdução prática com exemplos de trading e ideias selecionadas de Advances in Financial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754880"/>
            <a:ext cx="32004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F3F3F"/>
                </a:solidFill>
                <a:latin typeface="Arial"/>
              </a:rPr>
              <a:t>Núcleo de Análise Quantitativa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5047488"/>
            <a:ext cx="3200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98989"/>
                </a:solidFill>
                <a:latin typeface="Arial"/>
              </a:rPr>
              <a:t>Liga de Mercado Financeiro · UFU · 2026.1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559552"/>
            <a:ext cx="128016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98989"/>
                </a:solidFill>
                <a:latin typeface="Arial"/>
              </a:rPr>
              <a:t>APRESENTADOR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742432"/>
            <a:ext cx="22860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C1E"/>
                </a:solidFill>
                <a:latin typeface="Arial"/>
              </a:rPr>
              <a:t>Julio Siqueira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ROTEIRO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Estrutura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34416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1481328"/>
            <a:ext cx="395020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Por que ML em finanças é diferente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32588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1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7" y="134416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1" y="1481328"/>
            <a:ext cx="39502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O que é ML usando trading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28600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244144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" y="230428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7592" y="2441448"/>
            <a:ext cx="395020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Classification e regression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28600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1" y="244144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7" y="230428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56831" y="2441448"/>
            <a:ext cx="39502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Bias–variance: qual é o melhor model?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24612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340156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326440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7592" y="3401568"/>
            <a:ext cx="395020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AFML: labels, triple barrier, meta-labeling, purging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24612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1" y="340156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7" y="326440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1" y="3401568"/>
            <a:ext cx="39502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Prediction vs strategy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20624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" y="43616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" y="422452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07592" y="4361688"/>
            <a:ext cx="395020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Evaluation metrics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20624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99631" y="43616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7" y="4224528"/>
            <a:ext cx="45720" cy="67665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56831" y="4361688"/>
            <a:ext cx="39502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Common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Por que ML em finanças é diferente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64879"/>
            <a:ext cx="6126480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solidFill>
                  <a:srgbClr val="3F3F3F"/>
                </a:solidFill>
                <a:latin typeface="Arial"/>
              </a:rPr>
              <a:t>O mercado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não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é um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laboratório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limpo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Os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dados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são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ruidosos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adaptativos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e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caros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para </a:t>
            </a:r>
            <a:r>
              <a:rPr lang="pt-BR" sz="1600" b="0" dirty="0" err="1">
                <a:solidFill>
                  <a:srgbClr val="3F3F3F"/>
                </a:solidFill>
                <a:latin typeface="Arial"/>
              </a:rPr>
              <a:t>seremtransformados</a:t>
            </a:r>
            <a:endParaRPr sz="1600" b="0" dirty="0">
              <a:solidFill>
                <a:srgbClr val="3F3F3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3096399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‹3›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NOSSA MISSÃO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O problema é mais difícil que parece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‹4›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074920" cy="3154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1810512"/>
            <a:ext cx="45719" cy="227739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1481328"/>
            <a:ext cx="427024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ML comum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20240"/>
            <a:ext cx="4663440" cy="2468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 err="1">
                <a:solidFill>
                  <a:srgbClr val="3F3F3F"/>
                </a:solidFill>
                <a:latin typeface="Arial"/>
              </a:rPr>
              <a:t>Exemplo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: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classificar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gato vs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cachorro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O label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geralmente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é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óbvio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O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objeto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muda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pouco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As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observações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são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quase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independentes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Accuracy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costuma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ser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informativa</a:t>
            </a:r>
            <a:endParaRPr sz="1250" b="0" dirty="0">
              <a:solidFill>
                <a:srgbClr val="3F3F3F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074920" cy="3154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810512"/>
            <a:ext cx="45719" cy="227739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1481328"/>
            <a:ext cx="42702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ML em finanças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920240"/>
            <a:ext cx="4663440" cy="2468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 err="1">
                <a:solidFill>
                  <a:srgbClr val="3F3F3F"/>
                </a:solidFill>
                <a:latin typeface="Arial"/>
              </a:rPr>
              <a:t>Exemplo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: trade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ou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no trade
• O label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precisa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ser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construído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O market regime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muda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
• As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observações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se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sobrepõem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no tempo
• P&amp;L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pode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contradizer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2801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C34C7"/>
                </a:solidFill>
                <a:latin typeface="Arial"/>
              </a:rPr>
              <a:t>Ideia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19472"/>
            <a:ext cx="89611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C1C1E"/>
                </a:solidFill>
                <a:latin typeface="Arial"/>
              </a:rPr>
              <a:t>Em finanças, o desafio raramente é “fit the past”. O desafio é sobreviver ao futuro.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POR QUE DIFERENTE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O mercado reage ao próprio aprendizado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‹5›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6949440" cy="3291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Non-stationarity: relações mudam com regimes, política monetária, liquidez e competição.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Low signal-to-noise: o sinal preditivo é fraco; ruído parece oportunidade.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Competition: se uma estratégia é óbvia, outros players exploram e reduzem o edge.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Costs and execution: um model bom no papel pode morrer com spread, fees e market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2834640" cy="2560320"/>
          </a:xfrm>
          <a:prstGeom prst="roundRect">
            <a:avLst/>
          </a:prstGeom>
          <a:solidFill>
            <a:srgbClr val="F2EBFC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9328" y="1572768"/>
            <a:ext cx="245059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34C7"/>
                </a:solidFill>
                <a:latin typeface="Arial"/>
              </a:rPr>
              <a:t>Frase para guardar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2011680"/>
            <a:ext cx="2423160" cy="187451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Um model pode acertar estatisticamente e ainda ser uma estratégia ruim.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O que é ML usando trading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39026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solidFill>
                  <a:srgbClr val="3F3F3F"/>
                </a:solidFill>
                <a:latin typeface="Arial"/>
              </a:rPr>
              <a:t>A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pergunta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simples: com a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informação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disponível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hoje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, vale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tomar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 esse </a:t>
            </a:r>
            <a:r>
              <a:rPr sz="1600" b="0" dirty="0" err="1">
                <a:solidFill>
                  <a:srgbClr val="3F3F3F"/>
                </a:solidFill>
                <a:latin typeface="Arial"/>
              </a:rPr>
              <a:t>risco</a:t>
            </a:r>
            <a:r>
              <a:rPr sz="1600" b="0" dirty="0">
                <a:solidFill>
                  <a:srgbClr val="3F3F3F"/>
                </a:solidFill>
                <a:latin typeface="Arial"/>
              </a:rPr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70546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‹6›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TRADING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Machine Learning aprende um mapeamento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‹7›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947672"/>
            <a:ext cx="2880360" cy="2148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1031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7C34C7"/>
                </a:solidFill>
                <a:latin typeface="Arial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" y="2235438"/>
            <a:ext cx="45720" cy="160468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103120"/>
            <a:ext cx="207568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1C1C1E"/>
                </a:solidFill>
                <a:latin typeface="Arial"/>
              </a:rPr>
              <a:t>Features </a:t>
            </a:r>
            <a:r>
              <a:rPr sz="1500" b="1" dirty="0" err="1">
                <a:solidFill>
                  <a:srgbClr val="1C1C1E"/>
                </a:solidFill>
                <a:latin typeface="Arial"/>
              </a:rPr>
              <a:t>hoje</a:t>
            </a:r>
            <a:endParaRPr sz="1500" b="1" dirty="0">
              <a:solidFill>
                <a:srgbClr val="1C1C1E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2542032"/>
            <a:ext cx="2468879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>
                <a:solidFill>
                  <a:srgbClr val="3F3F3F"/>
                </a:solidFill>
                <a:latin typeface="Arial"/>
              </a:rPr>
              <a:t>5-day momentum
20-day volatility
Volume change
Market return
Sector return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943100"/>
            <a:ext cx="2880360" cy="2148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209854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3" y="2230866"/>
            <a:ext cx="45722" cy="160468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6048" y="2098548"/>
            <a:ext cx="207568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Target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37460"/>
            <a:ext cx="2468879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O trade funcionou?
Exemplo: profit target antes do stop-loss.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943100"/>
            <a:ext cx="2880360" cy="2148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09854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47304" y="2230866"/>
            <a:ext cx="45720" cy="160468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2098548"/>
            <a:ext cx="207568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Model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37460"/>
            <a:ext cx="2468879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Probability, score ou class.
Exemplo: P(success) = 0.64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19856" y="2996363"/>
            <a:ext cx="914400" cy="0"/>
          </a:xfrm>
          <a:prstGeom prst="line">
            <a:avLst/>
          </a:prstGeom>
          <a:ln w="2794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14616" y="3007479"/>
            <a:ext cx="914400" cy="0"/>
          </a:xfrm>
          <a:prstGeom prst="line">
            <a:avLst/>
          </a:prstGeom>
          <a:ln w="2794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434840"/>
            <a:ext cx="1024128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dirty="0">
                <a:solidFill>
                  <a:srgbClr val="1C1C1E"/>
                </a:solidFill>
                <a:latin typeface="Arial"/>
              </a:rPr>
              <a:t>ML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não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é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mágica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. É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uma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forma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disciplinada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de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aprender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padrões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do passado e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testar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se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eles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300" b="1" dirty="0" err="1">
                <a:solidFill>
                  <a:srgbClr val="1C1C1E"/>
                </a:solidFill>
                <a:latin typeface="Arial"/>
              </a:rPr>
              <a:t>generalizam</a:t>
            </a:r>
            <a:r>
              <a:rPr sz="2300" b="1" dirty="0">
                <a:solidFill>
                  <a:srgbClr val="1C1C1E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TRADING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Uma base simples para a aula inteira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‹8›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2004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" y="1719072"/>
            <a:ext cx="54863" cy="241365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1389888"/>
            <a:ext cx="23957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28800"/>
            <a:ext cx="278892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Construir um model que decide se vale abrir uma posição long em um ativo.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2004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1719072"/>
            <a:ext cx="54863" cy="241365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1389888"/>
            <a:ext cx="23957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78892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Para cada data t, usamos apenas informações conhecidas naquele momento.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2004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719072"/>
            <a:ext cx="45719" cy="241365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1389888"/>
            <a:ext cx="23957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1828800"/>
            <a:ext cx="278892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O model não compra sozinho. Ele entrega um sinal para a strategy.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C34C7"/>
                </a:solidFill>
                <a:latin typeface="Arial"/>
              </a:rPr>
              <a:t>Pipeline mental: features → label → model → prediction → decision → backtest → risk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Classification e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O mesmo problema financeiro pode ser formulado de jeitos diferentes. A formulação muda o model e a métrica.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‹9›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Duas tarefas básicas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‹10›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34290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810512"/>
            <a:ext cx="45720" cy="2501512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1481328"/>
            <a:ext cx="42702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920240"/>
            <a:ext cx="4663440" cy="2743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Prediz um número.
Exemplos em finanças:
• next-period return
• realized volatility
• credit loss
• expected transaction value
Métricas comuns: MSE, MAE, R²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5074920" cy="34290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1810512"/>
            <a:ext cx="45719" cy="2501512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6872" y="1481328"/>
            <a:ext cx="42702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920240"/>
            <a:ext cx="4663440" cy="2743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Prediz uma categoria.
Exemplos em finanças:
• default / no default
• fraud / normal transaction
• buy / do not buy
• risk-on / risk-off
Métricas comuns: accuracy, precision, recall, AUC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FRAMING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A mesma pergunta, três formulações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‹11›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C1C1E"/>
                </a:solidFill>
                <a:latin typeface="Arial"/>
              </a:rPr>
              <a:t>Pergunta: devemos ficar long neste ativo?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246120" cy="26060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2084832"/>
            <a:ext cx="45719" cy="200307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286207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Regression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77440"/>
            <a:ext cx="2834639" cy="1920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 err="1">
                <a:solidFill>
                  <a:srgbClr val="3F3F3F"/>
                </a:solidFill>
                <a:latin typeface="Arial"/>
              </a:rPr>
              <a:t>Predizer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:
next 5-day return = +1.2%
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Decidir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:
trade se expected return &gt; cost + risk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83080"/>
            <a:ext cx="3246120" cy="26060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9703" y="2084832"/>
            <a:ext cx="45719" cy="200307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938528"/>
            <a:ext cx="286207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Classification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377440"/>
            <a:ext cx="2834639" cy="1920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Predizer:
profit target antes do stop-loss?
Decidir:
trade se P(success) &gt;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83080"/>
            <a:ext cx="3246120" cy="26060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2084832"/>
            <a:ext cx="45720" cy="200307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8" y="1938528"/>
            <a:ext cx="286207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Ranking framing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377440"/>
            <a:ext cx="2834639" cy="1920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Predizer:
quais ativos são mais atrativos?
Decidir:
long top group, evitar bottom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24128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dirty="0">
                <a:solidFill>
                  <a:srgbClr val="3F3F3F"/>
                </a:solidFill>
                <a:latin typeface="Arial"/>
              </a:rPr>
              <a:t>Para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iniciantes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: classification e regression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bastam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. Em quant strategies, ranking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frequentemente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vira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uma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formulação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3F3F3F"/>
                </a:solidFill>
                <a:latin typeface="Arial"/>
              </a:rPr>
              <a:t>mais</a:t>
            </a:r>
            <a:r>
              <a:rPr sz="1700" b="1" dirty="0">
                <a:solidFill>
                  <a:srgbClr val="3F3F3F"/>
                </a:solidFill>
                <a:latin typeface="Arial"/>
              </a:rPr>
              <a:t> natural.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Bias–variance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A pergunta útil não é “qual model é melhor?”. É “qual model generaliza melhor para este problema?”.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‹12›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LINEAR VS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Linear model: um scorecard ponderado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‹13›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05840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7C34C7"/>
                </a:solidFill>
                <a:latin typeface="Arial"/>
              </a:rPr>
              <a:t>Score = 0.8 × Momentum − 0.5 × Volatility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291840" cy="1965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" y="2492188"/>
            <a:ext cx="45719" cy="147917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90779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Como ele pensa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34640"/>
            <a:ext cx="28803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“Mais momentum ajuda.
Mais volatility atrapalha.
A relação é suave.”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40280"/>
            <a:ext cx="3291840" cy="1965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53127" y="2492188"/>
            <a:ext cx="45719" cy="147917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395728"/>
            <a:ext cx="290779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Força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34640"/>
            <a:ext cx="28803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Bom baseline.
Fácil de explicar.
Menos propenso a memorizar acidentes.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40280"/>
            <a:ext cx="3291840" cy="1965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56448" y="2546604"/>
            <a:ext cx="45720" cy="1424761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395728"/>
            <a:ext cx="290779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Risco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834640"/>
            <a:ext cx="2880360" cy="1280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Pode perder interactions:
momentum funciona em um regime e falha em outro.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LINEAR VS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Decision tree: um conjunto de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‹14›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4937760" cy="3794760"/>
          </a:xfrm>
          <a:prstGeom prst="roundRect">
            <a:avLst/>
          </a:prstGeom>
          <a:solidFill>
            <a:srgbClr val="F2EBFC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389888"/>
            <a:ext cx="455371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34C7"/>
                </a:solidFill>
                <a:latin typeface="Arial"/>
              </a:rPr>
              <a:t>Regra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28800"/>
            <a:ext cx="4526280" cy="3108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Is volatility low?
    Yes → Is momentum positive?
        Yes → Buy
        No → Avoid
    No → Is momentum extreme?
        Yes → Maybe buy
        No → Avoid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4937760" cy="16002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7" y="1471108"/>
            <a:ext cx="45719" cy="116451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89888"/>
            <a:ext cx="455371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Por que é mais flexível?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828800"/>
            <a:ext cx="452628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O tree cria regras condicionais. Ele consegue dizer que uma feature importa em um regime, mas não em outro.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29000"/>
            <a:ext cx="4937760" cy="16002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7" y="3711388"/>
            <a:ext cx="45719" cy="112955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584448"/>
            <a:ext cx="455371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O perigo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023360"/>
            <a:ext cx="4526280" cy="9144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Se a árvore for muito profunda, ela aprende coincidências históricas em vez de padrões robustos.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BIAS–VARIANCE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O trade-off: rigidez vs flexibilidade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‹15›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3200400" cy="3063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1700784"/>
            <a:ext cx="45719" cy="237744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1481328"/>
            <a:ext cx="239572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High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20240"/>
            <a:ext cx="278892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Model muito simples.
Exemplo: “se momentum &gt; 0, buy” para qualquer contexto.
Problema: underfitting.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25880"/>
            <a:ext cx="32004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9704" y="1700784"/>
            <a:ext cx="45721" cy="237744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1481328"/>
            <a:ext cx="23957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920240"/>
            <a:ext cx="278892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Captura padrões importantes sem decorar ruído.
Problema real: difícil de encontrar.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3200400" cy="3063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700784"/>
            <a:ext cx="45720" cy="237744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1481328"/>
            <a:ext cx="23957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High 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920240"/>
            <a:ext cx="2788920" cy="23774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Model flexível demais.
Exemplo: regra que só funcionou em quartas-feiras de 2021.
Problema: overfitting.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1024128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C1C1E"/>
                </a:solidFill>
                <a:latin typeface="Arial"/>
              </a:rPr>
              <a:t>Em finanças, ruído frequentemente parece sinal. Por isso, model validation é tão importante quanto o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FB9ED-B295-E933-0AE6-D5B8EBA6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FEDBA3-D20E-5C6B-12D7-F7ED438B2B2E}"/>
              </a:ext>
            </a:extLst>
          </p:cNvPr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433ECD-FF4E-FE40-1172-7F292968C985}"/>
              </a:ext>
            </a:extLst>
          </p:cNvPr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CF1EBB-34BD-A026-008D-B93063557A35}"/>
              </a:ext>
            </a:extLst>
          </p:cNvPr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F9760-AEB1-0A20-99C8-E79CB98D592C}"/>
              </a:ext>
            </a:extLst>
          </p:cNvPr>
          <p:cNvSpPr txBox="1"/>
          <p:nvPr/>
        </p:nvSpPr>
        <p:spPr>
          <a:xfrm>
            <a:off x="502919" y="685800"/>
            <a:ext cx="9241715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3200" b="1" dirty="0">
                <a:solidFill>
                  <a:srgbClr val="1C1C1E"/>
                </a:solidFill>
                <a:latin typeface="Arial"/>
              </a:rPr>
              <a:t>Modelos com pouca flexibilidade são piores?</a:t>
            </a:r>
            <a:endParaRPr sz="3200" b="1" dirty="0">
              <a:solidFill>
                <a:srgbClr val="1C1C1E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7154E-1331-3135-0F39-F7DF2C4F996B}"/>
              </a:ext>
            </a:extLst>
          </p:cNvPr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‹13›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9613E50-056E-6C86-D5AB-7B1034E1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85" r="2087"/>
          <a:stretch>
            <a:fillRect/>
          </a:stretch>
        </p:blipFill>
        <p:spPr>
          <a:xfrm>
            <a:off x="494708" y="1357680"/>
            <a:ext cx="3865353" cy="3000794"/>
          </a:xfrm>
          <a:prstGeom prst="rect">
            <a:avLst/>
          </a:prstGeom>
        </p:spPr>
      </p:pic>
      <p:sp>
        <p:nvSpPr>
          <p:cNvPr id="21" name="TextBox 15">
            <a:extLst>
              <a:ext uri="{FF2B5EF4-FFF2-40B4-BE49-F238E27FC236}">
                <a16:creationId xmlns:a16="http://schemas.microsoft.com/office/drawing/2014/main" id="{B771842C-22A3-0E03-F10F-4831CBC147BD}"/>
              </a:ext>
            </a:extLst>
          </p:cNvPr>
          <p:cNvSpPr txBox="1"/>
          <p:nvPr/>
        </p:nvSpPr>
        <p:spPr>
          <a:xfrm>
            <a:off x="960120" y="5074920"/>
            <a:ext cx="10149840" cy="6340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1" dirty="0">
                <a:solidFill>
                  <a:srgbClr val="7C34C7"/>
                </a:solidFill>
                <a:latin typeface="Arial"/>
              </a:rPr>
              <a:t>Q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uanto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mais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flexível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 o model, 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maior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 a 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necessidade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 de labeling e validation </a:t>
            </a:r>
            <a:r>
              <a:rPr sz="2000" b="1" dirty="0" err="1">
                <a:solidFill>
                  <a:srgbClr val="7C34C7"/>
                </a:solidFill>
                <a:latin typeface="Arial"/>
              </a:rPr>
              <a:t>corretos</a:t>
            </a:r>
            <a:r>
              <a:rPr sz="2000" b="1" dirty="0">
                <a:solidFill>
                  <a:srgbClr val="7C34C7"/>
                </a:solidFill>
                <a:latin typeface="Arial"/>
              </a:rPr>
              <a:t>.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E1DB8FE0-1400-77DF-F53B-0C4F48AE3B38}"/>
              </a:ext>
            </a:extLst>
          </p:cNvPr>
          <p:cNvSpPr txBox="1"/>
          <p:nvPr/>
        </p:nvSpPr>
        <p:spPr>
          <a:xfrm>
            <a:off x="502920" y="393192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7C34C7"/>
                </a:solidFill>
                <a:latin typeface="Arial"/>
              </a:rPr>
              <a:t>BIAS–VARIANCE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A2290A51-702C-C38B-74DA-27B2D500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6" r="-1"/>
          <a:stretch>
            <a:fillRect/>
          </a:stretch>
        </p:blipFill>
        <p:spPr>
          <a:xfrm>
            <a:off x="4360061" y="1360601"/>
            <a:ext cx="3897357" cy="262926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1F77D3FC-95CD-E5DD-4F4C-F126050D57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62" r="2616"/>
          <a:stretch>
            <a:fillRect/>
          </a:stretch>
        </p:blipFill>
        <p:spPr>
          <a:xfrm>
            <a:off x="8225414" y="1357680"/>
            <a:ext cx="381477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4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AFML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A contribuição prática: formular labels melhores, evitar leakage e validar de forma honesta.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‹17›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Em finanças, labels são desenhados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‹18›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337560" cy="34290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719072"/>
            <a:ext cx="45719" cy="255709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1389888"/>
            <a:ext cx="2532887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Label ingênuo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28800"/>
            <a:ext cx="2926079" cy="2743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“O retorno depois de 5 dias foi positivo?”
Problema: ignora risco, stop-loss e caminhos diferentes até o resultado.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33756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7" y="1719072"/>
            <a:ext cx="45719" cy="255709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6631" y="1389888"/>
            <a:ext cx="253288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Label econômico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828800"/>
            <a:ext cx="2926079" cy="2743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“O trade bateu profit target antes do stop-loss?”
Melhor: parece mais com uma decisão real de trading.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337560" cy="34290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1719072"/>
            <a:ext cx="45719" cy="255709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389888"/>
            <a:ext cx="253288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Label útil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28800"/>
            <a:ext cx="2926079" cy="2743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Deve responder uma pergunta operável:
“dado este sinal, vale tomar o risco?”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Triple-barrier labeling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‹19›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C1E"/>
                </a:solidFill>
                <a:latin typeface="Arial"/>
              </a:rPr>
              <a:t>Entrada no trade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063240"/>
            <a:ext cx="9692640" cy="3200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2907792"/>
            <a:ext cx="32004" cy="3200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98989"/>
                </a:solidFill>
                <a:latin typeface="Arial"/>
              </a:rPr>
              <a:t>t0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907792"/>
            <a:ext cx="32004" cy="3200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3337560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98989"/>
                </a:solidFill>
                <a:latin typeface="Arial"/>
              </a:rPr>
              <a:t>dia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07792"/>
            <a:ext cx="32004" cy="3200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337560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98989"/>
                </a:solidFill>
                <a:latin typeface="Arial"/>
              </a:rPr>
              <a:t>dia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907792"/>
            <a:ext cx="32004" cy="32004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7315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98989"/>
                </a:solidFill>
                <a:latin typeface="Arial"/>
              </a:rPr>
              <a:t>dia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1965960"/>
            <a:ext cx="9692640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" y="4069080"/>
            <a:ext cx="9692640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691640"/>
            <a:ext cx="21945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4C7"/>
                </a:solidFill>
                <a:latin typeface="Arial"/>
              </a:rPr>
              <a:t>profit-taking barrier: +2%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24528"/>
            <a:ext cx="219456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34C7"/>
                </a:solidFill>
                <a:latin typeface="Arial"/>
              </a:rPr>
              <a:t>stop-loss barrier: −1%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874519"/>
            <a:ext cx="32004" cy="22860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606040"/>
            <a:ext cx="109728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F3F3F"/>
                </a:solidFill>
                <a:latin typeface="Arial"/>
              </a:rPr>
              <a:t>vertical barrier
time limit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05840" y="2788920"/>
            <a:ext cx="1097280" cy="274320"/>
          </a:xfrm>
          <a:prstGeom prst="line">
            <a:avLst/>
          </a:prstGeom>
          <a:ln w="3810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03120" y="2487168"/>
            <a:ext cx="1188720" cy="301752"/>
          </a:xfrm>
          <a:prstGeom prst="line">
            <a:avLst/>
          </a:prstGeom>
          <a:ln w="3810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91840" y="2084831"/>
            <a:ext cx="914400" cy="402337"/>
          </a:xfrm>
          <a:prstGeom prst="line">
            <a:avLst/>
          </a:prstGeom>
          <a:ln w="3810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06240" y="1901952"/>
            <a:ext cx="548640" cy="182879"/>
          </a:xfrm>
          <a:prstGeom prst="line">
            <a:avLst/>
          </a:prstGeom>
          <a:ln w="3810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800600"/>
            <a:ext cx="960120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C1C1E"/>
                </a:solidFill>
                <a:latin typeface="Arial"/>
              </a:rPr>
              <a:t>Label +1 se atingir o profit target primeiro.
Label −1 se atingir o stop-loss primeiro.
Label 0 se o tempo acabar antes.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Por que triple barrier é útil?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‹20›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108960" cy="3108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" y="1721225"/>
            <a:ext cx="54863" cy="229496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1481328"/>
            <a:ext cx="272491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920240"/>
            <a:ext cx="2697479" cy="2423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Parece mais com trading real: existe target, stop e holding period.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325880"/>
            <a:ext cx="3108960" cy="3108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44568" y="1721224"/>
            <a:ext cx="54863" cy="235771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481328"/>
            <a:ext cx="2724912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920240"/>
            <a:ext cx="2697479" cy="2423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O label considera o caminho do preço, não só o retorno no final.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25880"/>
            <a:ext cx="3108960" cy="3108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47888" y="1721224"/>
            <a:ext cx="45719" cy="235771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481328"/>
            <a:ext cx="272491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20240"/>
            <a:ext cx="2697479" cy="24231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Evita tratar todos os trades como se tivessem o mesmo horizonte econômico.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05840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C34C7"/>
                </a:solidFill>
                <a:latin typeface="Arial"/>
              </a:rPr>
              <a:t>Analogia: o trade termina de três formas — você chega ao prêmio, cai na armadilha, ou o relógio acaba.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Meta-labeling: scout + risk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‹21›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3291840" cy="3291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700784"/>
            <a:ext cx="45719" cy="2414016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148132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Base model /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920240"/>
            <a:ext cx="288036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Primeiro model diz:
“existe uma oportunidade?”
Exemplo: momentum signal sugere buy.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2918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7" y="1810512"/>
            <a:ext cx="45719" cy="2304288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6631" y="148132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Meta-model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920240"/>
            <a:ext cx="288036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Segundo model pergunta:
“vale aceitar esse sinal agora?”
Usa volatility, liquidity, regime e signal strength.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291840" cy="3291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810512"/>
            <a:ext cx="45719" cy="2304288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148132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1920240"/>
            <a:ext cx="2880360" cy="2606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Trade somente quando o meta-model aprova.
Foco: melhorar precision e evitar trades fracos.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926080"/>
            <a:ext cx="210312" cy="0"/>
          </a:xfrm>
          <a:prstGeom prst="line">
            <a:avLst/>
          </a:prstGeom>
          <a:ln w="2794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926080"/>
            <a:ext cx="210312" cy="0"/>
          </a:xfrm>
          <a:prstGeom prst="line">
            <a:avLst/>
          </a:prstGeom>
          <a:ln w="27940">
            <a:solidFill>
              <a:srgbClr val="7C3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074920"/>
            <a:ext cx="1014984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1C1E"/>
                </a:solidFill>
                <a:latin typeface="Arial"/>
              </a:rPr>
              <a:t>O primeiro model encontra oportunidades. O meta-model decide quando confiar nelas.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Sample overlap: labels dependentes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‹22›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6012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F3F3F"/>
                </a:solidFill>
                <a:latin typeface="Arial"/>
              </a:rPr>
              <a:t>Se todo dia criamos um label usando retorno futuro de 5 dias, os labels se sobrepõem.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1C1E"/>
                </a:solidFill>
                <a:latin typeface="Arial"/>
              </a:rPr>
              <a:t>Label 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4572000" cy="411480"/>
          </a:xfrm>
          <a:prstGeom prst="rect">
            <a:avLst/>
          </a:prstGeom>
          <a:solidFill>
            <a:srgbClr val="F2EBFC"/>
          </a:solidFill>
          <a:ln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30175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C34C7"/>
                </a:solidFill>
                <a:latin typeface="Arial"/>
              </a:rPr>
              <a:t>usa vários dias futuros em comum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1C1E"/>
                </a:solidFill>
                <a:latin typeface="Arial"/>
              </a:rPr>
              <a:t>Label t+1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468880"/>
            <a:ext cx="4572000" cy="411480"/>
          </a:xfrm>
          <a:prstGeom prst="rect">
            <a:avLst/>
          </a:prstGeom>
          <a:solidFill>
            <a:srgbClr val="F2EBFC"/>
          </a:solidFill>
          <a:ln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30175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C34C7"/>
                </a:solidFill>
                <a:latin typeface="Arial"/>
              </a:rPr>
              <a:t>usa vários dias futuros em comum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54679"/>
            <a:ext cx="9144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1C1E"/>
                </a:solidFill>
                <a:latin typeface="Arial"/>
              </a:rPr>
              <a:t>Label t+2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108960"/>
            <a:ext cx="4572000" cy="411480"/>
          </a:xfrm>
          <a:prstGeom prst="rect">
            <a:avLst/>
          </a:prstGeom>
          <a:solidFill>
            <a:srgbClr val="F2EBFC"/>
          </a:solidFill>
          <a:ln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0" y="3200400"/>
            <a:ext cx="30175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7C34C7"/>
                </a:solidFill>
                <a:latin typeface="Arial"/>
              </a:rPr>
              <a:t>usa vários dias futuros em comum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828800"/>
            <a:ext cx="3291840" cy="21488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53527" y="1847088"/>
            <a:ext cx="45720" cy="211226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1984248"/>
            <a:ext cx="290779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Consequência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423160"/>
            <a:ext cx="2880360" cy="1463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O model pode parecer mais confiante do que deveria, porque várias linhas carregam quase a mesma informação futura.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7C34C7"/>
                </a:solidFill>
                <a:latin typeface="Arial"/>
              </a:rPr>
              <a:t>Analogia: é como perguntar a cinco alunos, mas quatro copiaram a resposta da mesma fonte.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Purged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‹23›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291840" cy="3200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609344"/>
            <a:ext cx="45719" cy="25146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138988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Random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28800"/>
            <a:ext cx="288036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Perigoso em time series.
Pode colocar no train exemplos que compartilham informação futura com o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2918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7" y="1719072"/>
            <a:ext cx="45719" cy="226125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6631" y="138988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Purging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828800"/>
            <a:ext cx="288036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Remove do train observações cujo período de label se sobrepõe ao 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34440"/>
            <a:ext cx="3291840" cy="3200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38988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1645920"/>
            <a:ext cx="45720" cy="247802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9952" y="1389888"/>
            <a:ext cx="248716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Embargo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28800"/>
            <a:ext cx="288036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Adiciona uma margem de segurança depois do test para reduzir contaminação.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102412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E"/>
                </a:solidFill>
                <a:latin typeface="Arial"/>
              </a:rPr>
              <a:t>Purging é limpar o train set para o model não estudar quase a própria prova.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AFML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Receita prática sem entrar demais na matemática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‹24›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4800600" cy="868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194560"/>
            <a:ext cx="45720" cy="83210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2331720"/>
            <a:ext cx="39959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Defina a pergunta econômica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70632"/>
            <a:ext cx="4389120" cy="1828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Ex.: quando aceitar um long signal?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2176272"/>
            <a:ext cx="4800600" cy="868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3317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194560"/>
            <a:ext cx="45720" cy="83210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57416" y="2331720"/>
            <a:ext cx="39959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Construa labels realistas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770632"/>
            <a:ext cx="4389120" cy="1828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Ex.: triple barrier com target, stop e prazo.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19272"/>
            <a:ext cx="4800600" cy="868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4747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3337560"/>
            <a:ext cx="45720" cy="83210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99032" y="3474720"/>
            <a:ext cx="39959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Treine um model simples primeiro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913632"/>
            <a:ext cx="4389120" cy="1828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Linear/logistic como baseline; tree/boosting depois.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3319272"/>
            <a:ext cx="4800600" cy="868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216" y="34747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337560"/>
            <a:ext cx="45720" cy="83210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57416" y="3474720"/>
            <a:ext cx="39959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Valide respeitando o tempo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913632"/>
            <a:ext cx="4389120" cy="2107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>
                <a:solidFill>
                  <a:srgbClr val="3F3F3F"/>
                </a:solidFill>
                <a:latin typeface="Arial"/>
              </a:rPr>
              <a:t>Sem random split; </a:t>
            </a:r>
            <a:r>
              <a:rPr lang="pt-BR" sz="1250" b="0" dirty="0" err="1">
                <a:solidFill>
                  <a:srgbClr val="3F3F3F"/>
                </a:solidFill>
                <a:latin typeface="Arial"/>
              </a:rPr>
              <a:t>consider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purging/embargo.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62272"/>
            <a:ext cx="4800600" cy="8686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" y="4617720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" y="4480560"/>
            <a:ext cx="45720" cy="83210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99032" y="4617720"/>
            <a:ext cx="399592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Só então olhe performance financeira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056632"/>
            <a:ext cx="4389120" cy="1828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Sharpe, drawdown, turnover, costs e estabilidade.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Prediction vs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Um model output não é uma ordem de compra. Ele é apenas uma parte da decisão.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‹25›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PREDICTION VS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Prediction não é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‹26›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2926080" cy="3200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1700784"/>
            <a:ext cx="45719" cy="2396087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1481328"/>
            <a:ext cx="21214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20240"/>
            <a:ext cx="251460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P(success) = 0.64
Score = 0.27
Class = buy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3832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810512"/>
            <a:ext cx="54864" cy="2286359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3752" y="1481328"/>
            <a:ext cx="25786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Strategy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920240"/>
            <a:ext cx="297180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Threshold
Position sizing
Stop-loss
Profit target
Holding period
Rebalancing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2926080" cy="320040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481328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7" y="1810512"/>
            <a:ext cx="45719" cy="2286359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1481328"/>
            <a:ext cx="212140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Risk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920240"/>
            <a:ext cx="2514600" cy="2514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Costs
Liquidity
Exposure limits
Correlation
Drawdown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10241280" cy="4572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7C34C7"/>
                </a:solidFill>
                <a:latin typeface="Arial"/>
              </a:rPr>
              <a:t>Sinal sem strategy é só uma opinião quantitativa. Strategy transforma o sinal em decisão com risco controlado.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Em finanças, acertar muito não basta. O tamanho dos acertos e erros importa.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‹27›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Métricas estatísticas vs métricas financeiras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‹28›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102" y="1875686"/>
            <a:ext cx="5074920" cy="338328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CA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2694" y="2031134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390" y="2360318"/>
            <a:ext cx="45719" cy="2480623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9894" y="2031134"/>
            <a:ext cx="42702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Statistical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414" y="2470046"/>
            <a:ext cx="4663440" cy="2697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>
                <a:solidFill>
                  <a:srgbClr val="3F3F3F"/>
                </a:solidFill>
                <a:latin typeface="Arial"/>
              </a:rPr>
              <a:t>Classification:
accuracy, precision, recall, F1, ROC-AUC
Regression:
MSE, MAE, R²
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Úteis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para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entender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o model, mas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insuficientes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3F3F3F"/>
                </a:solidFill>
                <a:latin typeface="Arial"/>
              </a:rPr>
              <a:t>sozinhas</a:t>
            </a:r>
            <a:r>
              <a:rPr sz="1250" b="0" dirty="0">
                <a:solidFill>
                  <a:srgbClr val="3F3F3F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93974"/>
            <a:ext cx="507492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049422"/>
            <a:ext cx="384048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C34C7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360318"/>
            <a:ext cx="45720" cy="241787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2049422"/>
            <a:ext cx="42702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1C1E"/>
                </a:solidFill>
                <a:latin typeface="Arial"/>
              </a:rPr>
              <a:t>Financial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88334"/>
            <a:ext cx="4663440" cy="2697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Sharpe ratio
Sortino ratio
Maximum drawdown
Hit rate
Turnover
Transaction costs
Stability by regime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791828"/>
            <a:ext cx="1024128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dirty="0">
                <a:solidFill>
                  <a:srgbClr val="1C1C1E"/>
                </a:solidFill>
                <a:latin typeface="Arial"/>
              </a:rPr>
              <a:t>Em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finanças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,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estar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certo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frequentemente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não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é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igual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a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ganhar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1C1C1E"/>
                </a:solidFill>
                <a:latin typeface="Arial"/>
              </a:rPr>
              <a:t>dinheiro</a:t>
            </a:r>
            <a:r>
              <a:rPr sz="2200" b="1" dirty="0">
                <a:solidFill>
                  <a:srgbClr val="1C1C1E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667512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E"/>
                </a:solidFill>
                <a:latin typeface="Arial"/>
              </a:rPr>
              <a:t>Common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1264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F3F3F"/>
                </a:solidFill>
                <a:latin typeface="Arial"/>
              </a:rPr>
              <a:t>Erros comuns que fazem uma estratégia parecer boa no backtest e ruim no mundo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425196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‹29›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C34C7"/>
                </a:solidFill>
                <a:latin typeface="Arial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813816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C1C1E"/>
                </a:solidFill>
                <a:latin typeface="Arial"/>
              </a:rPr>
              <a:t>O que evitar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‹30›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713232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Random train-test split em time series.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Look-ahead bias: usar informação que não existia no momento da previsão.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Survivorship bias: treinar só com empresas que sobreviveram.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Backtest overfitting: testar mil variações e acreditar na melhor por acaso.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Ignorar transaction costs, spread, liquidity e market impact.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Confundir feature importance com causalidade.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508760"/>
            <a:ext cx="2651760" cy="3383280"/>
          </a:xfrm>
          <a:prstGeom prst="roundRect">
            <a:avLst/>
          </a:prstGeom>
          <a:solidFill>
            <a:srgbClr val="F2EBFC"/>
          </a:solidFill>
          <a:ln w="15240">
            <a:solidFill>
              <a:srgbClr val="7C3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59368" y="1664207"/>
            <a:ext cx="2267711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34C7"/>
                </a:solidFill>
                <a:latin typeface="Arial"/>
              </a:rPr>
              <a:t>Regra dura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103120"/>
            <a:ext cx="2240279" cy="2697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F3F3F"/>
                </a:solidFill>
                <a:latin typeface="Arial"/>
              </a:rPr>
              <a:t>Se a strategy só funciona antes de transaction costs, ela não funciona.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32004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347472"/>
            <a:ext cx="32004" cy="3200400"/>
          </a:xfrm>
          <a:prstGeom prst="rect">
            <a:avLst/>
          </a:prstGeom>
          <a:solidFill>
            <a:srgbClr val="7C3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mf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737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508760"/>
            <a:ext cx="4114800" cy="4206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0" b="1" dirty="0">
                <a:solidFill>
                  <a:srgbClr val="EEEEEE"/>
                </a:solidFill>
                <a:latin typeface="Arial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98989"/>
                </a:solidFill>
                <a:latin typeface="Arial"/>
              </a:rPr>
              <a:t>MENSAGEM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63093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C1C1E"/>
                </a:solidFill>
                <a:latin typeface="Arial"/>
              </a:rPr>
              <a:t>Machine Learning em finanças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3575"/>
            <a:ext cx="667512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dirty="0" err="1">
                <a:solidFill>
                  <a:srgbClr val="7C34C7"/>
                </a:solidFill>
                <a:latin typeface="Arial"/>
              </a:rPr>
              <a:t>não</a:t>
            </a:r>
            <a:r>
              <a:rPr sz="3200" b="1" dirty="0">
                <a:solidFill>
                  <a:srgbClr val="7C34C7"/>
                </a:solidFill>
                <a:latin typeface="Arial"/>
              </a:rPr>
              <a:t> é </a:t>
            </a:r>
            <a:r>
              <a:rPr sz="3200" b="1" dirty="0" err="1">
                <a:solidFill>
                  <a:srgbClr val="7C34C7"/>
                </a:solidFill>
                <a:latin typeface="Arial"/>
              </a:rPr>
              <a:t>sobre</a:t>
            </a:r>
            <a:r>
              <a:rPr sz="3200" b="1" dirty="0">
                <a:solidFill>
                  <a:srgbClr val="7C34C7"/>
                </a:solidFill>
                <a:latin typeface="Arial"/>
              </a:rPr>
              <a:t> </a:t>
            </a:r>
            <a:r>
              <a:rPr sz="3200" b="1" dirty="0" err="1">
                <a:solidFill>
                  <a:srgbClr val="7C34C7"/>
                </a:solidFill>
                <a:latin typeface="Arial"/>
              </a:rPr>
              <a:t>encontrar</a:t>
            </a:r>
            <a:r>
              <a:rPr sz="3200" b="1" dirty="0">
                <a:solidFill>
                  <a:srgbClr val="7C34C7"/>
                </a:solidFill>
                <a:latin typeface="Arial"/>
              </a:rPr>
              <a:t> um model </a:t>
            </a:r>
            <a:r>
              <a:rPr sz="3200" b="1" dirty="0" err="1">
                <a:solidFill>
                  <a:srgbClr val="7C34C7"/>
                </a:solidFill>
                <a:latin typeface="Arial"/>
              </a:rPr>
              <a:t>mágico</a:t>
            </a:r>
            <a:endParaRPr sz="3200" b="1" dirty="0">
              <a:solidFill>
                <a:srgbClr val="7C34C7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3454280"/>
            <a:ext cx="4343400" cy="2743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582296"/>
            <a:ext cx="640080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É sobre formular uma pergunta econômica clara.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Construir labels que parecem decisões reais.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Validar sem leakage e sem autoengano.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 b="1">
                <a:solidFill>
                  <a:srgbClr val="7C34C7"/>
                </a:solidFill>
              </a:rPr>
              <a:t>■  </a:t>
            </a:r>
            <a:r>
              <a:rPr sz="1800">
                <a:solidFill>
                  <a:srgbClr val="1C1C1E"/>
                </a:solidFill>
                <a:latin typeface="Arial"/>
              </a:rPr>
              <a:t>Transformar prediction em strategy com risk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8832" y="6336792"/>
            <a:ext cx="54864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98989"/>
                </a:solidFill>
                <a:latin typeface="Arial"/>
              </a:rPr>
              <a:t>‹31›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2066</Words>
  <Application>Microsoft Office PowerPoint</Application>
  <PresentationFormat>Widescreen</PresentationFormat>
  <Paragraphs>305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JULIO SIQUEIRA</cp:lastModifiedBy>
  <cp:revision>2</cp:revision>
  <dcterms:created xsi:type="dcterms:W3CDTF">2013-01-27T09:14:16Z</dcterms:created>
  <dcterms:modified xsi:type="dcterms:W3CDTF">2026-05-23T14:29:26Z</dcterms:modified>
  <cp:category/>
</cp:coreProperties>
</file>