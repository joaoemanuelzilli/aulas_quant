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GxWzn8CITFloJcPElzbYE1aoP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27432"/>
            <a:ext cx="5029200" cy="5116068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02920" y="502920"/>
            <a:ext cx="22860" cy="23774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" y="457200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NÚCLEO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132588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QUANT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2304288"/>
            <a:ext cx="3200400" cy="16459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40080" y="23957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Núcleo de Análise Quantitativa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" y="2653565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Liga de Mercado Financeiro · UFU · 2026.1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" y="3264408"/>
            <a:ext cx="4114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 DE PESQUISA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0080" y="341071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Arthur Pires Lopes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246120" y="3429000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Elétrica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40080" y="3694176"/>
            <a:ext cx="4160520" cy="10973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640080" y="3730752"/>
            <a:ext cx="4114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GERENTE QUANT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40080" y="387705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João Emanuel Zilli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246120" y="3895344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40080" y="4142232"/>
            <a:ext cx="4160520" cy="10973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640080" y="4178808"/>
            <a:ext cx="4114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40080" y="432511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Gustavo Kono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3246120" y="4343400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40080" y="4590288"/>
            <a:ext cx="4160520" cy="10973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640080" y="4626864"/>
            <a:ext cx="4114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40080" y="4773168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Wilson Ribeiro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235708" y="4791456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5029200" y="27432"/>
            <a:ext cx="4114800" cy="51160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5120640" y="457200"/>
            <a:ext cx="39319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38000"/>
              <a:buFont typeface="Calibri"/>
              <a:buNone/>
            </a:pPr>
            <a:r>
              <a:rPr b="1" i="0" lang="en-US" sz="38000" u="none" cap="none" strike="noStrike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3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5029200" y="4709160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Diretoria de Pesquisa · 2026.1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" name="Google Shape;43;p1" title="LOGO COMPLETA - PRETO - 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428" y="-604075"/>
            <a:ext cx="3674899" cy="20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" name="Google Shape;52;p2"/>
          <p:cNvCxnSpPr/>
          <p:nvPr/>
        </p:nvCxnSpPr>
        <p:spPr>
          <a:xfrm>
            <a:off x="7132320" y="9144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2"/>
          <p:cNvCxnSpPr/>
          <p:nvPr/>
        </p:nvCxnSpPr>
        <p:spPr>
          <a:xfrm>
            <a:off x="7132320" y="91440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2"/>
          <p:cNvCxnSpPr/>
          <p:nvPr/>
        </p:nvCxnSpPr>
        <p:spPr>
          <a:xfrm>
            <a:off x="7424928" y="9144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2"/>
          <p:cNvCxnSpPr/>
          <p:nvPr/>
        </p:nvCxnSpPr>
        <p:spPr>
          <a:xfrm>
            <a:off x="7132320" y="384048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2"/>
          <p:cNvCxnSpPr/>
          <p:nvPr/>
        </p:nvCxnSpPr>
        <p:spPr>
          <a:xfrm>
            <a:off x="7717536" y="9144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2"/>
          <p:cNvCxnSpPr/>
          <p:nvPr/>
        </p:nvCxnSpPr>
        <p:spPr>
          <a:xfrm>
            <a:off x="7132320" y="676656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2"/>
          <p:cNvCxnSpPr/>
          <p:nvPr/>
        </p:nvCxnSpPr>
        <p:spPr>
          <a:xfrm>
            <a:off x="8010144" y="9144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2"/>
          <p:cNvCxnSpPr/>
          <p:nvPr/>
        </p:nvCxnSpPr>
        <p:spPr>
          <a:xfrm>
            <a:off x="7132320" y="969264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2"/>
          <p:cNvCxnSpPr/>
          <p:nvPr/>
        </p:nvCxnSpPr>
        <p:spPr>
          <a:xfrm>
            <a:off x="8302752" y="9144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2"/>
          <p:cNvCxnSpPr/>
          <p:nvPr/>
        </p:nvCxnSpPr>
        <p:spPr>
          <a:xfrm>
            <a:off x="7132320" y="1261872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2"/>
          <p:cNvCxnSpPr/>
          <p:nvPr/>
        </p:nvCxnSpPr>
        <p:spPr>
          <a:xfrm>
            <a:off x="8595360" y="9144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2"/>
          <p:cNvCxnSpPr/>
          <p:nvPr/>
        </p:nvCxnSpPr>
        <p:spPr>
          <a:xfrm>
            <a:off x="7132320" y="1554480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2"/>
          <p:cNvCxnSpPr/>
          <p:nvPr/>
        </p:nvCxnSpPr>
        <p:spPr>
          <a:xfrm>
            <a:off x="8887968" y="9144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2"/>
          <p:cNvCxnSpPr/>
          <p:nvPr/>
        </p:nvCxnSpPr>
        <p:spPr>
          <a:xfrm>
            <a:off x="7132320" y="1847088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2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NOSSA MISSÃO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365760" y="475488"/>
            <a:ext cx="8412480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365760" y="521208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Por que o Núcleo Quant existe?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365760" y="1207008"/>
            <a:ext cx="8412480" cy="96012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365760" y="1207008"/>
            <a:ext cx="50292" cy="96012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530352" y="1261872"/>
            <a:ext cx="813816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Formar membros em métodos quantitativos aplicados a finanças, desenvolvendo competências em programação, estatística, modelagem e gestão de risco — com foco em performance real em challenges, especialmente o Itaú Quant Challenge.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65760" y="2304288"/>
            <a:ext cx="2697480" cy="239572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365760" y="2304288"/>
            <a:ext cx="2697480" cy="5029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2651760" y="23591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30352" y="246888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Lacuna que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preenchemos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30352" y="3090672"/>
            <a:ext cx="2377440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530352" y="3163824"/>
            <a:ext cx="23774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Não há espaço estruturado na Liga para quem quer trabalhar com dados, modelos e automação.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3200400" y="2304288"/>
            <a:ext cx="2697480" cy="239572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3200400" y="2304288"/>
            <a:ext cx="2697480" cy="5029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5486400" y="23591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3364992" y="246888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Nossa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Proposta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3364992" y="3090672"/>
            <a:ext cx="2377440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3364992" y="3163824"/>
            <a:ext cx="23774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Criar esse espaço com processo claro, entregas aplicadas e padrão de qualidade reproduzível.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6035040" y="2304288"/>
            <a:ext cx="2697480" cy="239572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6035040" y="2304288"/>
            <a:ext cx="2697480" cy="5029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8321040" y="23591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199632" y="246888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Esperado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6199632" y="3090672"/>
            <a:ext cx="2377440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6199632" y="3163824"/>
            <a:ext cx="23774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Membros aptos a montar, testar e defender estratégias quantitativas do zero.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2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" name="Google Shape;99;p3"/>
          <p:cNvCxnSpPr/>
          <p:nvPr/>
        </p:nvCxnSpPr>
        <p:spPr>
          <a:xfrm>
            <a:off x="7132320" y="320040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3"/>
          <p:cNvCxnSpPr/>
          <p:nvPr/>
        </p:nvCxnSpPr>
        <p:spPr>
          <a:xfrm>
            <a:off x="7132320" y="3200400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3"/>
          <p:cNvCxnSpPr/>
          <p:nvPr/>
        </p:nvCxnSpPr>
        <p:spPr>
          <a:xfrm>
            <a:off x="7424928" y="320040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3"/>
          <p:cNvCxnSpPr/>
          <p:nvPr/>
        </p:nvCxnSpPr>
        <p:spPr>
          <a:xfrm>
            <a:off x="7132320" y="3493008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3"/>
          <p:cNvCxnSpPr/>
          <p:nvPr/>
        </p:nvCxnSpPr>
        <p:spPr>
          <a:xfrm>
            <a:off x="7717536" y="320040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3"/>
          <p:cNvCxnSpPr/>
          <p:nvPr/>
        </p:nvCxnSpPr>
        <p:spPr>
          <a:xfrm>
            <a:off x="7132320" y="3785616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3"/>
          <p:cNvCxnSpPr/>
          <p:nvPr/>
        </p:nvCxnSpPr>
        <p:spPr>
          <a:xfrm>
            <a:off x="8010144" y="320040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3"/>
          <p:cNvCxnSpPr/>
          <p:nvPr/>
        </p:nvCxnSpPr>
        <p:spPr>
          <a:xfrm>
            <a:off x="7132320" y="4078224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3"/>
          <p:cNvCxnSpPr/>
          <p:nvPr/>
        </p:nvCxnSpPr>
        <p:spPr>
          <a:xfrm>
            <a:off x="8302752" y="320040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3"/>
          <p:cNvCxnSpPr/>
          <p:nvPr/>
        </p:nvCxnSpPr>
        <p:spPr>
          <a:xfrm>
            <a:off x="7132320" y="4370832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3"/>
          <p:cNvCxnSpPr/>
          <p:nvPr/>
        </p:nvCxnSpPr>
        <p:spPr>
          <a:xfrm>
            <a:off x="8595360" y="320040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3"/>
          <p:cNvCxnSpPr/>
          <p:nvPr/>
        </p:nvCxnSpPr>
        <p:spPr>
          <a:xfrm>
            <a:off x="7132320" y="4663440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3"/>
          <p:cNvCxnSpPr/>
          <p:nvPr/>
        </p:nvCxnSpPr>
        <p:spPr>
          <a:xfrm>
            <a:off x="8887968" y="320040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3"/>
          <p:cNvCxnSpPr/>
          <p:nvPr/>
        </p:nvCxnSpPr>
        <p:spPr>
          <a:xfrm>
            <a:off x="7132320" y="4956048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3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STACK TÉCNICO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65760" y="475488"/>
            <a:ext cx="8412480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365760" y="52120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As ferramentas que vamos dominar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65760" y="1170432"/>
            <a:ext cx="1965960" cy="987552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365760" y="1170432"/>
            <a:ext cx="1965960" cy="5029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1984248" y="1243584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93776" y="12618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Python 3.10+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93776" y="1645920"/>
            <a:ext cx="1709928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493776" y="1719072"/>
            <a:ext cx="1709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Linguagem principal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2468880" y="1170432"/>
            <a:ext cx="1965960" cy="987552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2468880" y="1170432"/>
            <a:ext cx="1965960" cy="5029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4087368" y="1243584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2596896" y="12618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pandas / NumPy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2596896" y="1645920"/>
            <a:ext cx="1709928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2596896" y="1719072"/>
            <a:ext cx="1709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Manipulação &amp; cálculo numérico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572000" y="1170432"/>
            <a:ext cx="1965960" cy="987552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4572000" y="1170432"/>
            <a:ext cx="1965960" cy="5029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6190488" y="1243584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4700016" y="12618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Matplotlib / Plotly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4700016" y="1645920"/>
            <a:ext cx="1709928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4700016" y="1719072"/>
            <a:ext cx="1709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Visualização de dados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6675120" y="1170432"/>
            <a:ext cx="1965960" cy="987552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6675120" y="1170432"/>
            <a:ext cx="1965960" cy="5029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8293608" y="1243584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6803136" y="12618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SciPy / statsmodels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6803136" y="1645920"/>
            <a:ext cx="1709928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6803136" y="1719072"/>
            <a:ext cx="1709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Estatística &amp; séries temporais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365760" y="2340864"/>
            <a:ext cx="1965960" cy="987552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365760" y="2340864"/>
            <a:ext cx="1965960" cy="5029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1984248" y="2414016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93776" y="2432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493776" y="2816352"/>
            <a:ext cx="1709928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493776" y="2889504"/>
            <a:ext cx="1709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2468880" y="2340864"/>
            <a:ext cx="1965960" cy="987552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2468880" y="2340864"/>
            <a:ext cx="1965960" cy="5029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4087368" y="2414016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2596896" y="2432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backtrader / vectorbt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2596896" y="2816352"/>
            <a:ext cx="1709928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2596896" y="2889504"/>
            <a:ext cx="1709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Backtesting de estratégias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4572000" y="2340864"/>
            <a:ext cx="1965960" cy="987552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4572000" y="2340864"/>
            <a:ext cx="1965960" cy="5029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6190488" y="2414016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4700016" y="2432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yfinance / APIs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4700016" y="2816352"/>
            <a:ext cx="1709928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4700016" y="2889504"/>
            <a:ext cx="1709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Coleta de dados de mercado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6675120" y="2340864"/>
            <a:ext cx="1965960" cy="987552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6675120" y="2340864"/>
            <a:ext cx="1965960" cy="5029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8293608" y="2414016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6803136" y="2432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Git +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6803136" y="2816352"/>
            <a:ext cx="1709928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6803136" y="2889504"/>
            <a:ext cx="1709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Versionamento &amp; repositório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365760" y="4343400"/>
            <a:ext cx="50292" cy="4572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548640" y="4398264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Ambiente de Desenvolvimento:  VS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3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365760" y="118872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CRONOGRAMA DE AULAS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7269480" y="73152"/>
            <a:ext cx="1554480" cy="34747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7269480" y="731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BLOCO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365760" y="420624"/>
            <a:ext cx="8412480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365760" y="457200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◈  Fundamentos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365760" y="1078992"/>
            <a:ext cx="2761488" cy="47548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457200" y="1115568"/>
            <a:ext cx="2578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Bloco 1 · Fundamentos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582930" y="1325880"/>
            <a:ext cx="256032" cy="25603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582930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1273302" y="1325880"/>
            <a:ext cx="256032" cy="25603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1273302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1963674" y="1325880"/>
            <a:ext cx="256032" cy="25603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1963674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2654046" y="1325880"/>
            <a:ext cx="256032" cy="25603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2654046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3191256" y="1078992"/>
            <a:ext cx="2761488" cy="47548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3282696" y="1115568"/>
            <a:ext cx="2578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Bloco 2 · Risco &amp; Backtest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3408426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3408426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4098798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4098798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4789170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4789170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5479542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5479542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6016752" y="1078992"/>
            <a:ext cx="2761488" cy="47548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6108192" y="1115568"/>
            <a:ext cx="2578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Bloco 3 · ML &amp; Bots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6233922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6233922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6924294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6924294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7614666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7614666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8305038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8305038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365760" y="1664208"/>
            <a:ext cx="8412480" cy="74980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365760" y="1664208"/>
            <a:ext cx="50292" cy="74980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512064" y="1810512"/>
            <a:ext cx="457200" cy="4572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512064" y="1810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1078992" y="173736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Python para Finanças 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1078992" y="2048256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Ambiente (Jupyter, VS Code, Git) · pandas &amp; NumPy · Séries de preços · Retornos simples e log-retornos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365760" y="2487168"/>
            <a:ext cx="8412480" cy="74980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"/>
          <p:cNvSpPr/>
          <p:nvPr/>
        </p:nvSpPr>
        <p:spPr>
          <a:xfrm>
            <a:off x="365760" y="2487168"/>
            <a:ext cx="50292" cy="74980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"/>
          <p:cNvSpPr/>
          <p:nvPr/>
        </p:nvSpPr>
        <p:spPr>
          <a:xfrm>
            <a:off x="512064" y="2633472"/>
            <a:ext cx="457200" cy="4572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"/>
          <p:cNvSpPr/>
          <p:nvPr/>
        </p:nvSpPr>
        <p:spPr>
          <a:xfrm>
            <a:off x="512064" y="26334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1078992" y="25603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Python para Finanças II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1078992" y="2871216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yfinance &amp; APIs · Dados faltantes · Visualização com Matplotlib/Plotly · Análise exploratória de ativos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365760" y="3310128"/>
            <a:ext cx="8412480" cy="74980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"/>
          <p:cNvSpPr/>
          <p:nvPr/>
        </p:nvSpPr>
        <p:spPr>
          <a:xfrm>
            <a:off x="365760" y="3310128"/>
            <a:ext cx="50292" cy="74980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"/>
          <p:cNvSpPr/>
          <p:nvPr/>
        </p:nvSpPr>
        <p:spPr>
          <a:xfrm>
            <a:off x="512064" y="3456432"/>
            <a:ext cx="457200" cy="4572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512064" y="34564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1078992" y="338328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Estatística Aplicada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1078992" y="3694176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Estatística descritiva · Distribuições (normal, t-Student, caudas pesadas) · Testes de hipótese · Correlação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365760" y="4133088"/>
            <a:ext cx="8412480" cy="74980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"/>
          <p:cNvSpPr/>
          <p:nvPr/>
        </p:nvSpPr>
        <p:spPr>
          <a:xfrm>
            <a:off x="365760" y="4133088"/>
            <a:ext cx="50292" cy="74980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"/>
          <p:cNvSpPr/>
          <p:nvPr/>
        </p:nvSpPr>
        <p:spPr>
          <a:xfrm>
            <a:off x="512064" y="4279392"/>
            <a:ext cx="457200" cy="4572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"/>
          <p:cNvSpPr/>
          <p:nvPr/>
        </p:nvSpPr>
        <p:spPr>
          <a:xfrm>
            <a:off x="512064" y="4279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1078992" y="420624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Séries Temporais  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1078992" y="4517136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Estacionariedade &amp; testes ADF · ACF/PACF · Modelos ARIMA · GARCH · Aplicação em dados reais</a:t>
            </a: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· Monte Carlo (RBI)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4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365760" y="118872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CRONOGRAMA DE AULAS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7269480" y="73152"/>
            <a:ext cx="1554480" cy="34747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7269480" y="731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BLOCO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365760" y="420624"/>
            <a:ext cx="8412480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365760" y="457200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⬡  Risco &amp; Backtesting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365760" y="1078992"/>
            <a:ext cx="2761488" cy="47548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5"/>
          <p:cNvSpPr/>
          <p:nvPr/>
        </p:nvSpPr>
        <p:spPr>
          <a:xfrm>
            <a:off x="457200" y="1115568"/>
            <a:ext cx="2578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Bloco 1 · Fundamentos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582930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582930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1273302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1273302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1963674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1963674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2654046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2654046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3191256" y="1078992"/>
            <a:ext cx="2761488" cy="47548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3282696" y="1115568"/>
            <a:ext cx="2578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Bloco 2 · Risco &amp; Backtest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3408426" y="1325880"/>
            <a:ext cx="256032" cy="25603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3408426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4098798" y="1325880"/>
            <a:ext cx="256032" cy="25603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4098798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4789170" y="1325880"/>
            <a:ext cx="256032" cy="25603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4789170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5479542" y="1325880"/>
            <a:ext cx="256032" cy="25603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5479542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6016752" y="1078992"/>
            <a:ext cx="2761488" cy="47548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5"/>
          <p:cNvSpPr/>
          <p:nvPr/>
        </p:nvSpPr>
        <p:spPr>
          <a:xfrm>
            <a:off x="6108192" y="1115568"/>
            <a:ext cx="2578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Bloco 3 · ML &amp; Bots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6233922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6233922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6924294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5"/>
          <p:cNvSpPr/>
          <p:nvPr/>
        </p:nvSpPr>
        <p:spPr>
          <a:xfrm>
            <a:off x="6924294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7614666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"/>
          <p:cNvSpPr/>
          <p:nvPr/>
        </p:nvSpPr>
        <p:spPr>
          <a:xfrm>
            <a:off x="7614666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8305038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5"/>
          <p:cNvSpPr/>
          <p:nvPr/>
        </p:nvSpPr>
        <p:spPr>
          <a:xfrm>
            <a:off x="8305038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365760" y="1664208"/>
            <a:ext cx="8412480" cy="74980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5"/>
          <p:cNvSpPr/>
          <p:nvPr/>
        </p:nvSpPr>
        <p:spPr>
          <a:xfrm>
            <a:off x="365760" y="1664208"/>
            <a:ext cx="50292" cy="74980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5"/>
          <p:cNvSpPr/>
          <p:nvPr/>
        </p:nvSpPr>
        <p:spPr>
          <a:xfrm>
            <a:off x="512064" y="1810512"/>
            <a:ext cx="457200" cy="4572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"/>
          <p:cNvSpPr/>
          <p:nvPr/>
        </p:nvSpPr>
        <p:spPr>
          <a:xfrm>
            <a:off x="512064" y="1810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1078992" y="173736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Gestão de Risco 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1078992" y="2048256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VaR: paramétrico, histórico e Monte Carlo · CVaR / Expected Shortfall · Drawdown máximo · Métricas de cauda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365760" y="2487168"/>
            <a:ext cx="8412480" cy="74980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5"/>
          <p:cNvSpPr/>
          <p:nvPr/>
        </p:nvSpPr>
        <p:spPr>
          <a:xfrm>
            <a:off x="365760" y="2487168"/>
            <a:ext cx="50292" cy="74980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5"/>
          <p:cNvSpPr/>
          <p:nvPr/>
        </p:nvSpPr>
        <p:spPr>
          <a:xfrm>
            <a:off x="512064" y="2633472"/>
            <a:ext cx="457200" cy="4572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5"/>
          <p:cNvSpPr/>
          <p:nvPr/>
        </p:nvSpPr>
        <p:spPr>
          <a:xfrm>
            <a:off x="512064" y="26334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1078992" y="25603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Gestão de Risco II  ★★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1078992" y="2871216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Teoria de Markowitz · Fronteira eficiente · Diversificação · Stress testing &amp; análise de cenários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365760" y="3310128"/>
            <a:ext cx="8412480" cy="74980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5"/>
          <p:cNvSpPr/>
          <p:nvPr/>
        </p:nvSpPr>
        <p:spPr>
          <a:xfrm>
            <a:off x="365760" y="3310128"/>
            <a:ext cx="50292" cy="74980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5"/>
          <p:cNvSpPr/>
          <p:nvPr/>
        </p:nvSpPr>
        <p:spPr>
          <a:xfrm>
            <a:off x="512064" y="3456432"/>
            <a:ext cx="457200" cy="4572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"/>
          <p:cNvSpPr/>
          <p:nvPr/>
        </p:nvSpPr>
        <p:spPr>
          <a:xfrm>
            <a:off x="512064" y="34564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1078992" y="338328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Backtesting 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1078992" y="3694176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Fundamentos · Sharpe, Sortino, Calmar, Treynor · Vieses: look-ahead, survivorship, overfitting · backtrader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365760" y="4133088"/>
            <a:ext cx="8412480" cy="74980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"/>
          <p:cNvSpPr/>
          <p:nvPr/>
        </p:nvSpPr>
        <p:spPr>
          <a:xfrm>
            <a:off x="365760" y="4133088"/>
            <a:ext cx="50292" cy="74980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5"/>
          <p:cNvSpPr/>
          <p:nvPr/>
        </p:nvSpPr>
        <p:spPr>
          <a:xfrm>
            <a:off x="512064" y="4279392"/>
            <a:ext cx="457200" cy="4572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5"/>
          <p:cNvSpPr/>
          <p:nvPr/>
        </p:nvSpPr>
        <p:spPr>
          <a:xfrm>
            <a:off x="512064" y="4279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/>
          <p:nvPr/>
        </p:nvSpPr>
        <p:spPr>
          <a:xfrm>
            <a:off x="1078992" y="420624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Backtesting II  ★★★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1078992" y="4517136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Momentum, mean reversion, breakout · Walk-forward analysis · Validação out-of-sample</a:t>
            </a: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· Relatório de Backtest padronizado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5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365760" y="118872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CRONOGRAMA DE AULAS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7269480" y="73152"/>
            <a:ext cx="1554480" cy="34747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6"/>
          <p:cNvSpPr/>
          <p:nvPr/>
        </p:nvSpPr>
        <p:spPr>
          <a:xfrm>
            <a:off x="7269480" y="731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BLOCO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365760" y="420624"/>
            <a:ext cx="8412480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365760" y="457200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◉  ML, Bots &amp; Projeto Final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365760" y="1078992"/>
            <a:ext cx="2761488" cy="47548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6"/>
          <p:cNvSpPr/>
          <p:nvPr/>
        </p:nvSpPr>
        <p:spPr>
          <a:xfrm>
            <a:off x="457200" y="1115568"/>
            <a:ext cx="2578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Bloco 1 · Fundamentos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582930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6"/>
          <p:cNvSpPr/>
          <p:nvPr/>
        </p:nvSpPr>
        <p:spPr>
          <a:xfrm>
            <a:off x="582930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1273302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"/>
          <p:cNvSpPr/>
          <p:nvPr/>
        </p:nvSpPr>
        <p:spPr>
          <a:xfrm>
            <a:off x="1273302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1963674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1963674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2654046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6"/>
          <p:cNvSpPr/>
          <p:nvPr/>
        </p:nvSpPr>
        <p:spPr>
          <a:xfrm>
            <a:off x="2654046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3191256" y="1078992"/>
            <a:ext cx="2761488" cy="47548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6"/>
          <p:cNvSpPr/>
          <p:nvPr/>
        </p:nvSpPr>
        <p:spPr>
          <a:xfrm>
            <a:off x="3282696" y="1115568"/>
            <a:ext cx="2578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Bloco 2 · Risco &amp; Backtest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3408426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6"/>
          <p:cNvSpPr/>
          <p:nvPr/>
        </p:nvSpPr>
        <p:spPr>
          <a:xfrm>
            <a:off x="3408426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4098798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6"/>
          <p:cNvSpPr/>
          <p:nvPr/>
        </p:nvSpPr>
        <p:spPr>
          <a:xfrm>
            <a:off x="4098798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4789170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4789170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5479542" y="1325880"/>
            <a:ext cx="256032" cy="256032"/>
          </a:xfrm>
          <a:prstGeom prst="ellipse">
            <a:avLst/>
          </a:prstGeom>
          <a:solidFill>
            <a:srgbClr val="F4F4F4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6"/>
          <p:cNvSpPr/>
          <p:nvPr/>
        </p:nvSpPr>
        <p:spPr>
          <a:xfrm>
            <a:off x="5479542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6016752" y="1078992"/>
            <a:ext cx="2761488" cy="47548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6"/>
          <p:cNvSpPr/>
          <p:nvPr/>
        </p:nvSpPr>
        <p:spPr>
          <a:xfrm>
            <a:off x="6108192" y="1115568"/>
            <a:ext cx="2578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Bloco 3 · ML &amp; Bots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6233922" y="1325880"/>
            <a:ext cx="256032" cy="25603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6"/>
          <p:cNvSpPr/>
          <p:nvPr/>
        </p:nvSpPr>
        <p:spPr>
          <a:xfrm>
            <a:off x="6233922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6924294" y="1325880"/>
            <a:ext cx="256032" cy="25603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6"/>
          <p:cNvSpPr/>
          <p:nvPr/>
        </p:nvSpPr>
        <p:spPr>
          <a:xfrm>
            <a:off x="6924294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7614666" y="1325880"/>
            <a:ext cx="256032" cy="25603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6"/>
          <p:cNvSpPr/>
          <p:nvPr/>
        </p:nvSpPr>
        <p:spPr>
          <a:xfrm>
            <a:off x="7614666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8305038" y="1325880"/>
            <a:ext cx="256032" cy="25603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6"/>
          <p:cNvSpPr/>
          <p:nvPr/>
        </p:nvSpPr>
        <p:spPr>
          <a:xfrm>
            <a:off x="8305038" y="1325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365760" y="1664208"/>
            <a:ext cx="8412480" cy="74980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6"/>
          <p:cNvSpPr/>
          <p:nvPr/>
        </p:nvSpPr>
        <p:spPr>
          <a:xfrm>
            <a:off x="365760" y="1664208"/>
            <a:ext cx="50292" cy="74980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6"/>
          <p:cNvSpPr/>
          <p:nvPr/>
        </p:nvSpPr>
        <p:spPr>
          <a:xfrm>
            <a:off x="512064" y="1810512"/>
            <a:ext cx="457200" cy="4572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6"/>
          <p:cNvSpPr/>
          <p:nvPr/>
        </p:nvSpPr>
        <p:spPr>
          <a:xfrm>
            <a:off x="512064" y="1810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1078992" y="173736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Machine Learning 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6"/>
          <p:cNvSpPr/>
          <p:nvPr/>
        </p:nvSpPr>
        <p:spPr>
          <a:xfrm>
            <a:off x="1078992" y="2048256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Regressão linear &amp; logística · Feature engineering (retornos defasados, volatilidade, indicadores) · Time-series 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6"/>
          <p:cNvSpPr/>
          <p:nvPr/>
        </p:nvSpPr>
        <p:spPr>
          <a:xfrm>
            <a:off x="365760" y="2487168"/>
            <a:ext cx="8412480" cy="74980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6"/>
          <p:cNvSpPr/>
          <p:nvPr/>
        </p:nvSpPr>
        <p:spPr>
          <a:xfrm>
            <a:off x="365760" y="2487168"/>
            <a:ext cx="50292" cy="74980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6"/>
          <p:cNvSpPr/>
          <p:nvPr/>
        </p:nvSpPr>
        <p:spPr>
          <a:xfrm>
            <a:off x="512064" y="2633472"/>
            <a:ext cx="457200" cy="4572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6"/>
          <p:cNvSpPr/>
          <p:nvPr/>
        </p:nvSpPr>
        <p:spPr>
          <a:xfrm>
            <a:off x="512064" y="26334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6"/>
          <p:cNvSpPr/>
          <p:nvPr/>
        </p:nvSpPr>
        <p:spPr>
          <a:xfrm>
            <a:off x="1078992" y="25603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Machine Learning II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6"/>
          <p:cNvSpPr/>
          <p:nvPr/>
        </p:nvSpPr>
        <p:spPr>
          <a:xfrm>
            <a:off x="1078992" y="2871216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Random Forest, XGBoost, LightGBM · Seleção de features · Regularização · Por que modelos complexos falham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6"/>
          <p:cNvSpPr/>
          <p:nvPr/>
        </p:nvSpPr>
        <p:spPr>
          <a:xfrm>
            <a:off x="365760" y="3310128"/>
            <a:ext cx="8412480" cy="74980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6"/>
          <p:cNvSpPr/>
          <p:nvPr/>
        </p:nvSpPr>
        <p:spPr>
          <a:xfrm>
            <a:off x="365760" y="3310128"/>
            <a:ext cx="50292" cy="74980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6"/>
          <p:cNvSpPr/>
          <p:nvPr/>
        </p:nvSpPr>
        <p:spPr>
          <a:xfrm>
            <a:off x="512064" y="3456432"/>
            <a:ext cx="457200" cy="4572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6"/>
          <p:cNvSpPr/>
          <p:nvPr/>
        </p:nvSpPr>
        <p:spPr>
          <a:xfrm>
            <a:off x="512064" y="34564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6"/>
          <p:cNvSpPr/>
          <p:nvPr/>
        </p:nvSpPr>
        <p:spPr>
          <a:xfrm>
            <a:off x="1078992" y="338328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Algoritmos de Trading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1078992" y="3694176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Lógica de bots · Ordens (limit, market, stop) · Paper trading · APIs de corretoras · Custos &amp; slippage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6"/>
          <p:cNvSpPr/>
          <p:nvPr/>
        </p:nvSpPr>
        <p:spPr>
          <a:xfrm>
            <a:off x="365760" y="4133088"/>
            <a:ext cx="8412480" cy="74980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6"/>
          <p:cNvSpPr/>
          <p:nvPr/>
        </p:nvSpPr>
        <p:spPr>
          <a:xfrm>
            <a:off x="365760" y="4133088"/>
            <a:ext cx="50292" cy="74980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6"/>
          <p:cNvSpPr/>
          <p:nvPr/>
        </p:nvSpPr>
        <p:spPr>
          <a:xfrm>
            <a:off x="512064" y="4279392"/>
            <a:ext cx="457200" cy="4572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6"/>
          <p:cNvSpPr/>
          <p:nvPr/>
        </p:nvSpPr>
        <p:spPr>
          <a:xfrm>
            <a:off x="512064" y="4279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6"/>
          <p:cNvSpPr/>
          <p:nvPr/>
        </p:nvSpPr>
        <p:spPr>
          <a:xfrm>
            <a:off x="1078992" y="420624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Projeto Final  ★★★★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1078992" y="4517136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Apresentação: tese → modelo → backtest → resultado · Defesa individual/grupo · Documentação no repo da Liga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6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7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7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0" name="Google Shape;380;p7"/>
          <p:cNvCxnSpPr/>
          <p:nvPr/>
        </p:nvCxnSpPr>
        <p:spPr>
          <a:xfrm>
            <a:off x="7132320" y="9144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7"/>
          <p:cNvCxnSpPr/>
          <p:nvPr/>
        </p:nvCxnSpPr>
        <p:spPr>
          <a:xfrm>
            <a:off x="7132320" y="91440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7"/>
          <p:cNvCxnSpPr/>
          <p:nvPr/>
        </p:nvCxnSpPr>
        <p:spPr>
          <a:xfrm>
            <a:off x="7424928" y="9144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7"/>
          <p:cNvCxnSpPr/>
          <p:nvPr/>
        </p:nvCxnSpPr>
        <p:spPr>
          <a:xfrm>
            <a:off x="7132320" y="384048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p7"/>
          <p:cNvCxnSpPr/>
          <p:nvPr/>
        </p:nvCxnSpPr>
        <p:spPr>
          <a:xfrm>
            <a:off x="7717536" y="9144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" name="Google Shape;385;p7"/>
          <p:cNvCxnSpPr/>
          <p:nvPr/>
        </p:nvCxnSpPr>
        <p:spPr>
          <a:xfrm>
            <a:off x="7132320" y="676656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7"/>
          <p:cNvCxnSpPr/>
          <p:nvPr/>
        </p:nvCxnSpPr>
        <p:spPr>
          <a:xfrm>
            <a:off x="8010144" y="9144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7"/>
          <p:cNvCxnSpPr/>
          <p:nvPr/>
        </p:nvCxnSpPr>
        <p:spPr>
          <a:xfrm>
            <a:off x="7132320" y="969264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7"/>
          <p:cNvCxnSpPr/>
          <p:nvPr/>
        </p:nvCxnSpPr>
        <p:spPr>
          <a:xfrm>
            <a:off x="8302752" y="9144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7"/>
          <p:cNvCxnSpPr/>
          <p:nvPr/>
        </p:nvCxnSpPr>
        <p:spPr>
          <a:xfrm>
            <a:off x="7132320" y="1261872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0" name="Google Shape;390;p7"/>
          <p:cNvCxnSpPr/>
          <p:nvPr/>
        </p:nvCxnSpPr>
        <p:spPr>
          <a:xfrm>
            <a:off x="8595360" y="9144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1" name="Google Shape;391;p7"/>
          <p:cNvCxnSpPr/>
          <p:nvPr/>
        </p:nvCxnSpPr>
        <p:spPr>
          <a:xfrm>
            <a:off x="7132320" y="1554480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" name="Google Shape;392;p7"/>
          <p:cNvCxnSpPr/>
          <p:nvPr/>
        </p:nvCxnSpPr>
        <p:spPr>
          <a:xfrm>
            <a:off x="8887968" y="9144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p7"/>
          <p:cNvCxnSpPr/>
          <p:nvPr/>
        </p:nvCxnSpPr>
        <p:spPr>
          <a:xfrm>
            <a:off x="7132320" y="1847088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7"/>
          <p:cNvSpPr/>
          <p:nvPr/>
        </p:nvSpPr>
        <p:spPr>
          <a:xfrm>
            <a:off x="365760" y="1188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365760" y="429768"/>
            <a:ext cx="8412480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7"/>
          <p:cNvSpPr/>
          <p:nvPr/>
        </p:nvSpPr>
        <p:spPr>
          <a:xfrm>
            <a:off x="365760" y="475488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Metodologia do Núcleo Quant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365760" y="1115568"/>
            <a:ext cx="8412480" cy="65836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7"/>
          <p:cNvSpPr/>
          <p:nvPr/>
        </p:nvSpPr>
        <p:spPr>
          <a:xfrm>
            <a:off x="365760" y="1115568"/>
            <a:ext cx="50292" cy="65836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7"/>
          <p:cNvSpPr/>
          <p:nvPr/>
        </p:nvSpPr>
        <p:spPr>
          <a:xfrm>
            <a:off x="548640" y="11887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Cada encontro: 1h30 – 2h  |  Aulas quinzenais  |  Formato teórico-prático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548640" y="1536192"/>
            <a:ext cx="2655418" cy="20116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7"/>
          <p:cNvSpPr/>
          <p:nvPr/>
        </p:nvSpPr>
        <p:spPr>
          <a:xfrm>
            <a:off x="3204058" y="1536192"/>
            <a:ext cx="5391302" cy="20116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7"/>
          <p:cNvSpPr/>
          <p:nvPr/>
        </p:nvSpPr>
        <p:spPr>
          <a:xfrm>
            <a:off x="548640" y="1755648"/>
            <a:ext cx="265541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~30 min · Teoria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3204058" y="1755648"/>
            <a:ext cx="539130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~60 min · Prática Hands-on no VS Code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7"/>
          <p:cNvSpPr/>
          <p:nvPr/>
        </p:nvSpPr>
        <p:spPr>
          <a:xfrm>
            <a:off x="365760" y="2029968"/>
            <a:ext cx="4160520" cy="118872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7"/>
          <p:cNvSpPr/>
          <p:nvPr/>
        </p:nvSpPr>
        <p:spPr>
          <a:xfrm>
            <a:off x="365760" y="2029968"/>
            <a:ext cx="50292" cy="118872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7"/>
          <p:cNvSpPr/>
          <p:nvPr/>
        </p:nvSpPr>
        <p:spPr>
          <a:xfrm>
            <a:off x="548640" y="2121408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⬢  Entregas por Bloco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548640" y="2468880"/>
            <a:ext cx="3749040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7"/>
          <p:cNvSpPr/>
          <p:nvPr/>
        </p:nvSpPr>
        <p:spPr>
          <a:xfrm>
            <a:off x="548640" y="2542032"/>
            <a:ext cx="3886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Ao final de cada bloco, os membros submetem um repositório documentado com a aplicação prática. Garante cadência e evita acúmulo.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4663440" y="2029968"/>
            <a:ext cx="4160520" cy="118872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7"/>
          <p:cNvSpPr/>
          <p:nvPr/>
        </p:nvSpPr>
        <p:spPr>
          <a:xfrm>
            <a:off x="4663440" y="2029968"/>
            <a:ext cx="50292" cy="118872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7"/>
          <p:cNvSpPr/>
          <p:nvPr/>
        </p:nvSpPr>
        <p:spPr>
          <a:xfrm>
            <a:off x="4846320" y="2121408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◈  Foco em Aprender Fazendo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4846320" y="2468880"/>
            <a:ext cx="3749040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7"/>
          <p:cNvSpPr/>
          <p:nvPr/>
        </p:nvSpPr>
        <p:spPr>
          <a:xfrm>
            <a:off x="4846320" y="2542032"/>
            <a:ext cx="3886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 formato prioriza exercícios reais em notebooks e código. Cada aula resolve um problema financeiro concreto.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7"/>
          <p:cNvSpPr/>
          <p:nvPr/>
        </p:nvSpPr>
        <p:spPr>
          <a:xfrm>
            <a:off x="365760" y="3383280"/>
            <a:ext cx="4160520" cy="118872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7"/>
          <p:cNvSpPr/>
          <p:nvPr/>
        </p:nvSpPr>
        <p:spPr>
          <a:xfrm>
            <a:off x="365760" y="3383280"/>
            <a:ext cx="50292" cy="118872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7"/>
          <p:cNvSpPr/>
          <p:nvPr/>
        </p:nvSpPr>
        <p:spPr>
          <a:xfrm>
            <a:off x="548640" y="347472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⬡  Repositório Compartilhado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7"/>
          <p:cNvSpPr/>
          <p:nvPr/>
        </p:nvSpPr>
        <p:spPr>
          <a:xfrm>
            <a:off x="548640" y="3822192"/>
            <a:ext cx="3749040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7"/>
          <p:cNvSpPr/>
          <p:nvPr/>
        </p:nvSpPr>
        <p:spPr>
          <a:xfrm>
            <a:off x="548640" y="3895344"/>
            <a:ext cx="3886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Todo o material (slides, notebooks, datasets, templates) versionado no GitHub da Liga — acervo para os próximos semestres.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4663440" y="3383280"/>
            <a:ext cx="4160520" cy="118872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7"/>
          <p:cNvSpPr/>
          <p:nvPr/>
        </p:nvSpPr>
        <p:spPr>
          <a:xfrm>
            <a:off x="4663440" y="3383280"/>
            <a:ext cx="50292" cy="118872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7"/>
          <p:cNvSpPr/>
          <p:nvPr/>
        </p:nvSpPr>
        <p:spPr>
          <a:xfrm>
            <a:off x="4846320" y="347472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◉  Suporte Assíncrono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7"/>
          <p:cNvSpPr/>
          <p:nvPr/>
        </p:nvSpPr>
        <p:spPr>
          <a:xfrm>
            <a:off x="4846320" y="3822192"/>
            <a:ext cx="3749040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7"/>
          <p:cNvSpPr/>
          <p:nvPr/>
        </p:nvSpPr>
        <p:spPr>
          <a:xfrm>
            <a:off x="4846320" y="3895344"/>
            <a:ext cx="3886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Grupo dedicado para dúvidas, compartilhamento de materiais e discussões entre encontros.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4" name="Google Shape;424;p7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8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8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8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3" name="Google Shape;433;p8"/>
          <p:cNvCxnSpPr/>
          <p:nvPr/>
        </p:nvCxnSpPr>
        <p:spPr>
          <a:xfrm>
            <a:off x="7132320" y="320040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p8"/>
          <p:cNvCxnSpPr/>
          <p:nvPr/>
        </p:nvCxnSpPr>
        <p:spPr>
          <a:xfrm>
            <a:off x="7132320" y="3200400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p8"/>
          <p:cNvCxnSpPr/>
          <p:nvPr/>
        </p:nvCxnSpPr>
        <p:spPr>
          <a:xfrm>
            <a:off x="7424928" y="320040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p8"/>
          <p:cNvCxnSpPr/>
          <p:nvPr/>
        </p:nvCxnSpPr>
        <p:spPr>
          <a:xfrm>
            <a:off x="7132320" y="3493008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7" name="Google Shape;437;p8"/>
          <p:cNvCxnSpPr/>
          <p:nvPr/>
        </p:nvCxnSpPr>
        <p:spPr>
          <a:xfrm>
            <a:off x="7717536" y="320040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8"/>
          <p:cNvCxnSpPr/>
          <p:nvPr/>
        </p:nvCxnSpPr>
        <p:spPr>
          <a:xfrm>
            <a:off x="7132320" y="3785616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8"/>
          <p:cNvCxnSpPr/>
          <p:nvPr/>
        </p:nvCxnSpPr>
        <p:spPr>
          <a:xfrm>
            <a:off x="8010144" y="320040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8"/>
          <p:cNvCxnSpPr/>
          <p:nvPr/>
        </p:nvCxnSpPr>
        <p:spPr>
          <a:xfrm>
            <a:off x="7132320" y="4078224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8"/>
          <p:cNvCxnSpPr/>
          <p:nvPr/>
        </p:nvCxnSpPr>
        <p:spPr>
          <a:xfrm>
            <a:off x="8302752" y="320040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8"/>
          <p:cNvCxnSpPr/>
          <p:nvPr/>
        </p:nvCxnSpPr>
        <p:spPr>
          <a:xfrm>
            <a:off x="7132320" y="4370832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8"/>
          <p:cNvCxnSpPr/>
          <p:nvPr/>
        </p:nvCxnSpPr>
        <p:spPr>
          <a:xfrm>
            <a:off x="8595360" y="320040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8"/>
          <p:cNvCxnSpPr/>
          <p:nvPr/>
        </p:nvCxnSpPr>
        <p:spPr>
          <a:xfrm>
            <a:off x="7132320" y="4663440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8"/>
          <p:cNvCxnSpPr/>
          <p:nvPr/>
        </p:nvCxnSpPr>
        <p:spPr>
          <a:xfrm>
            <a:off x="8887968" y="3200400"/>
            <a:ext cx="0" cy="2048256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8"/>
          <p:cNvCxnSpPr/>
          <p:nvPr/>
        </p:nvCxnSpPr>
        <p:spPr>
          <a:xfrm>
            <a:off x="7132320" y="4956048"/>
            <a:ext cx="2048256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" name="Google Shape;447;p8"/>
          <p:cNvSpPr/>
          <p:nvPr/>
        </p:nvSpPr>
        <p:spPr>
          <a:xfrm>
            <a:off x="365760" y="1188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O QUE VOCÊ VAI ENTREGAR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8"/>
          <p:cNvSpPr/>
          <p:nvPr/>
        </p:nvSpPr>
        <p:spPr>
          <a:xfrm>
            <a:off x="365760" y="429768"/>
            <a:ext cx="8412480" cy="18288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8"/>
          <p:cNvSpPr/>
          <p:nvPr/>
        </p:nvSpPr>
        <p:spPr>
          <a:xfrm>
            <a:off x="365760" y="47548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Entregas &amp; Avaliação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365760" y="1115568"/>
            <a:ext cx="8412480" cy="65836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8"/>
          <p:cNvSpPr/>
          <p:nvPr/>
        </p:nvSpPr>
        <p:spPr>
          <a:xfrm>
            <a:off x="365760" y="1115568"/>
            <a:ext cx="50292" cy="65836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8"/>
          <p:cNvSpPr/>
          <p:nvPr/>
        </p:nvSpPr>
        <p:spPr>
          <a:xfrm>
            <a:off x="521208" y="1225296"/>
            <a:ext cx="457200" cy="4572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8"/>
          <p:cNvSpPr/>
          <p:nvPr/>
        </p:nvSpPr>
        <p:spPr>
          <a:xfrm>
            <a:off x="521208" y="12252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1097280" y="118872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Análise Exploratória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7406640" y="1197864"/>
            <a:ext cx="1234440" cy="237744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8"/>
          <p:cNvSpPr/>
          <p:nvPr/>
        </p:nvSpPr>
        <p:spPr>
          <a:xfrm>
            <a:off x="7406640" y="1197864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Semana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1097280" y="1463040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Notebook: coleta, tratamento e visualização de ≥5 ativos. Estatísticas descritivas e correlação.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365760" y="1865376"/>
            <a:ext cx="8412480" cy="65836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8"/>
          <p:cNvSpPr/>
          <p:nvPr/>
        </p:nvSpPr>
        <p:spPr>
          <a:xfrm>
            <a:off x="365760" y="1865376"/>
            <a:ext cx="50292" cy="65836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8"/>
          <p:cNvSpPr/>
          <p:nvPr/>
        </p:nvSpPr>
        <p:spPr>
          <a:xfrm>
            <a:off x="521208" y="1975104"/>
            <a:ext cx="457200" cy="4572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8"/>
          <p:cNvSpPr/>
          <p:nvPr/>
        </p:nvSpPr>
        <p:spPr>
          <a:xfrm>
            <a:off x="521208" y="19751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1097280" y="193852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Relatório de Risco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7406640" y="1947672"/>
            <a:ext cx="1234440" cy="237744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8"/>
          <p:cNvSpPr/>
          <p:nvPr/>
        </p:nvSpPr>
        <p:spPr>
          <a:xfrm>
            <a:off x="7406640" y="194767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Semana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1097280" y="2212848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Cálculo de VaR, CVaR e drawdown para um portfólio. Otimização de Markowitz com fronteira eficiente.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8"/>
          <p:cNvSpPr/>
          <p:nvPr/>
        </p:nvSpPr>
        <p:spPr>
          <a:xfrm>
            <a:off x="365760" y="2615184"/>
            <a:ext cx="8412480" cy="65836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8"/>
          <p:cNvSpPr/>
          <p:nvPr/>
        </p:nvSpPr>
        <p:spPr>
          <a:xfrm>
            <a:off x="365760" y="2615184"/>
            <a:ext cx="50292" cy="65836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8"/>
          <p:cNvSpPr/>
          <p:nvPr/>
        </p:nvSpPr>
        <p:spPr>
          <a:xfrm>
            <a:off x="521208" y="2724912"/>
            <a:ext cx="457200" cy="4572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8"/>
          <p:cNvSpPr/>
          <p:nvPr/>
        </p:nvSpPr>
        <p:spPr>
          <a:xfrm>
            <a:off x="521208" y="27249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8"/>
          <p:cNvSpPr/>
          <p:nvPr/>
        </p:nvSpPr>
        <p:spPr>
          <a:xfrm>
            <a:off x="1097280" y="2688336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Backtest Completo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8"/>
          <p:cNvSpPr/>
          <p:nvPr/>
        </p:nvSpPr>
        <p:spPr>
          <a:xfrm>
            <a:off x="7406640" y="2697480"/>
            <a:ext cx="1234440" cy="237744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8"/>
          <p:cNvSpPr/>
          <p:nvPr/>
        </p:nvSpPr>
        <p:spPr>
          <a:xfrm>
            <a:off x="7406640" y="269748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Semana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8"/>
          <p:cNvSpPr/>
          <p:nvPr/>
        </p:nvSpPr>
        <p:spPr>
          <a:xfrm>
            <a:off x="1097280" y="296265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Estratégia quantitativa com backtest rigoroso, métricas de performance e análise de robustez.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8"/>
          <p:cNvSpPr/>
          <p:nvPr/>
        </p:nvSpPr>
        <p:spPr>
          <a:xfrm>
            <a:off x="365760" y="3364992"/>
            <a:ext cx="8412480" cy="65836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8"/>
          <p:cNvSpPr/>
          <p:nvPr/>
        </p:nvSpPr>
        <p:spPr>
          <a:xfrm>
            <a:off x="365760" y="3364992"/>
            <a:ext cx="50292" cy="65836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8"/>
          <p:cNvSpPr/>
          <p:nvPr/>
        </p:nvSpPr>
        <p:spPr>
          <a:xfrm>
            <a:off x="521208" y="3474720"/>
            <a:ext cx="457200" cy="4572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8"/>
          <p:cNvSpPr/>
          <p:nvPr/>
        </p:nvSpPr>
        <p:spPr>
          <a:xfrm>
            <a:off x="521208" y="3474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8"/>
          <p:cNvSpPr/>
          <p:nvPr/>
        </p:nvSpPr>
        <p:spPr>
          <a:xfrm>
            <a:off x="1097280" y="343814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Projeto Final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8"/>
          <p:cNvSpPr/>
          <p:nvPr/>
        </p:nvSpPr>
        <p:spPr>
          <a:xfrm>
            <a:off x="7406640" y="3447288"/>
            <a:ext cx="1234440" cy="237744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8"/>
          <p:cNvSpPr/>
          <p:nvPr/>
        </p:nvSpPr>
        <p:spPr>
          <a:xfrm>
            <a:off x="7406640" y="3447288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Semana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8"/>
          <p:cNvSpPr/>
          <p:nvPr/>
        </p:nvSpPr>
        <p:spPr>
          <a:xfrm>
            <a:off x="1097280" y="3712464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Estratégia completa: tese → modelo → backtest → resultado. Apresentação e documentação no repositório.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8"/>
          <p:cNvSpPr/>
          <p:nvPr/>
        </p:nvSpPr>
        <p:spPr>
          <a:xfrm>
            <a:off x="502920" y="4224528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Entrega via GitHub: </a:t>
            </a: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repositório com README explicando o que foi feito e instruções para rodar  ·  individual ou em grupo (só um envia)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8"/>
          <p:cNvSpPr/>
          <p:nvPr/>
        </p:nvSpPr>
        <p:spPr>
          <a:xfrm>
            <a:off x="365760" y="4553712"/>
            <a:ext cx="8412480" cy="27432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8"/>
          <p:cNvSpPr/>
          <p:nvPr/>
        </p:nvSpPr>
        <p:spPr>
          <a:xfrm>
            <a:off x="365760" y="4553712"/>
            <a:ext cx="50292" cy="27432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8"/>
          <p:cNvSpPr/>
          <p:nvPr/>
        </p:nvSpPr>
        <p:spPr>
          <a:xfrm>
            <a:off x="502920" y="457200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Avaliação em 4 dimensões com peso igual:  Rigor Técnico  ·  Clareza  ·  Reprodutibilidade  ·  Interpretação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7" name="Google Shape;487;p8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2026-03-08T14:11:01Z</dcterms:created>
  <dc:creator>PptxGenJS</dc:creator>
</cp:coreProperties>
</file>