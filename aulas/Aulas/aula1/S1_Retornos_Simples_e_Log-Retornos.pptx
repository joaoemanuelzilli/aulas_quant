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 txBox="1"/>
          <p:nvPr>
            <p:ph idx="3"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" name="Google Shape;6;n"/>
          <p:cNvSpPr txBox="1"/>
          <p:nvPr>
            <p:ph idx="10"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" name="Google Shape;15;p1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b="0" sz="120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7" name="Google Shape;47;p2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b="0" sz="120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0" name="Google Shape;100;p3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b="0" sz="120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3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4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3" name="Google Shape;153;p4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b="0" sz="120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4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5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5" name="Google Shape;205;p5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b="0" sz="120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5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6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8" name="Google Shape;258;p6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b="0" sz="120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6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7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1" name="Google Shape;311;p7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b="0" sz="120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7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8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4" name="Google Shape;364;p8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b="0" sz="120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8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9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3" name="Google Shape;413;p9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b="0" sz="120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9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 type="blank">
  <p:cSld name="BLANK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13.png"/><Relationship Id="rId5" Type="http://schemas.openxmlformats.org/officeDocument/2006/relationships/image" Target="../media/image16.png"/><Relationship Id="rId6" Type="http://schemas.openxmlformats.org/officeDocument/2006/relationships/image" Target="../media/image14.png"/><Relationship Id="rId7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13.png"/><Relationship Id="rId5" Type="http://schemas.openxmlformats.org/officeDocument/2006/relationships/image" Target="../media/image16.png"/><Relationship Id="rId6" Type="http://schemas.openxmlformats.org/officeDocument/2006/relationships/image" Target="../media/image14.png"/><Relationship Id="rId7" Type="http://schemas.openxmlformats.org/officeDocument/2006/relationships/image" Target="../media/image2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13.png"/><Relationship Id="rId5" Type="http://schemas.openxmlformats.org/officeDocument/2006/relationships/image" Target="../media/image16.png"/><Relationship Id="rId6" Type="http://schemas.openxmlformats.org/officeDocument/2006/relationships/image" Target="../media/image14.png"/><Relationship Id="rId7" Type="http://schemas.openxmlformats.org/officeDocument/2006/relationships/image" Target="../media/image2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15.png"/><Relationship Id="rId5" Type="http://schemas.openxmlformats.org/officeDocument/2006/relationships/image" Target="../media/image9.png"/><Relationship Id="rId6" Type="http://schemas.openxmlformats.org/officeDocument/2006/relationships/image" Target="../media/image18.png"/><Relationship Id="rId7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15.png"/><Relationship Id="rId5" Type="http://schemas.openxmlformats.org/officeDocument/2006/relationships/image" Target="../media/image9.png"/><Relationship Id="rId6" Type="http://schemas.openxmlformats.org/officeDocument/2006/relationships/image" Target="../media/image18.png"/><Relationship Id="rId7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15.png"/><Relationship Id="rId5" Type="http://schemas.openxmlformats.org/officeDocument/2006/relationships/image" Target="../media/image9.png"/><Relationship Id="rId6" Type="http://schemas.openxmlformats.org/officeDocument/2006/relationships/image" Target="../media/image18.png"/><Relationship Id="rId7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21.png"/><Relationship Id="rId5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/>
          <p:nvPr/>
        </p:nvSpPr>
        <p:spPr>
          <a:xfrm>
            <a:off x="0" y="0"/>
            <a:ext cx="9143640" cy="27000"/>
          </a:xfrm>
          <a:prstGeom prst="rect">
            <a:avLst/>
          </a:prstGeom>
          <a:solidFill>
            <a:srgbClr val="7B2FBE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3675" lIns="91425" spcFirstLastPara="1" rIns="91425" wrap="square" tIns="13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0" y="27360"/>
            <a:ext cx="5028840" cy="5115600"/>
          </a:xfrm>
          <a:prstGeom prst="rect">
            <a:avLst/>
          </a:prstGeom>
          <a:solidFill>
            <a:srgbClr val="FAFAFA"/>
          </a:solidFill>
          <a:ln cap="flat" cmpd="sng" w="12700">
            <a:solidFill>
              <a:srgbClr val="FAFA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502920" y="502920"/>
            <a:ext cx="22680" cy="2377080"/>
          </a:xfrm>
          <a:prstGeom prst="rect">
            <a:avLst/>
          </a:prstGeom>
          <a:solidFill>
            <a:srgbClr val="7B2FBE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640080" y="823320"/>
            <a:ext cx="4205880" cy="1005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Retornos </a:t>
            </a:r>
            <a:r>
              <a:rPr b="1" i="0" lang="en-US" sz="3600" u="none" cap="none" strike="noStrike">
                <a:solidFill>
                  <a:srgbClr val="7B2FBE"/>
                </a:solidFill>
                <a:latin typeface="Calibri"/>
                <a:ea typeface="Calibri"/>
                <a:cs typeface="Calibri"/>
                <a:sym typeface="Calibri"/>
              </a:rPr>
              <a:t>Simples</a:t>
            </a:r>
            <a:r>
              <a:rPr b="1" i="0" lang="en-US" sz="36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 e </a:t>
            </a:r>
            <a:r>
              <a:rPr b="1" i="0" lang="en-US" sz="3600" u="none" cap="none" strike="noStrike">
                <a:solidFill>
                  <a:srgbClr val="7B2FBE"/>
                </a:solidFill>
                <a:latin typeface="Calibri"/>
                <a:ea typeface="Calibri"/>
                <a:cs typeface="Calibri"/>
                <a:sym typeface="Calibri"/>
              </a:rPr>
              <a:t>Log-Retornos</a:t>
            </a:r>
            <a:endParaRPr b="0" i="0" sz="3600" u="none" cap="none" strike="noStrike">
              <a:solidFill>
                <a:srgbClr val="7B2FB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640080" y="2304360"/>
            <a:ext cx="3200040" cy="16200"/>
          </a:xfrm>
          <a:prstGeom prst="rect">
            <a:avLst/>
          </a:prstGeom>
          <a:solidFill>
            <a:srgbClr val="D0D0D0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275" lIns="91425" spcFirstLastPara="1" rIns="91425" wrap="square" tIns="8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640080" y="2395800"/>
            <a:ext cx="4114440" cy="319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Núcleo de Análise Quantitativa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640080" y="2653560"/>
            <a:ext cx="4114440" cy="2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Liga de Mercado Financeiro · UFU · 2026.1</a:t>
            </a:r>
            <a:endParaRPr b="0" i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640080" y="3264480"/>
            <a:ext cx="4114440" cy="14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DIRETOR DE PESQUISA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640080" y="3410640"/>
            <a:ext cx="2559960" cy="200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Arthur Pires Lopes</a:t>
            </a:r>
            <a:endParaRPr b="0" i="0" sz="12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3246120" y="3429000"/>
            <a:ext cx="1645560" cy="164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Eng. Elétrica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640080" y="3694320"/>
            <a:ext cx="4160160" cy="10440"/>
          </a:xfrm>
          <a:prstGeom prst="rect">
            <a:avLst/>
          </a:prstGeom>
          <a:solidFill>
            <a:srgbClr val="D0D0D0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00" lIns="91425" spcFirstLastPara="1" rIns="91425" wrap="square" tIns="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640080" y="3730680"/>
            <a:ext cx="4114440" cy="14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GERENTE QUANT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640080" y="3877200"/>
            <a:ext cx="2559960" cy="200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João Emanuel Zilli</a:t>
            </a:r>
            <a:endParaRPr b="0" i="0" sz="12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3246120" y="3895200"/>
            <a:ext cx="1645560" cy="164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Eng. da Computação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640080" y="4142160"/>
            <a:ext cx="4160160" cy="10440"/>
          </a:xfrm>
          <a:prstGeom prst="rect">
            <a:avLst/>
          </a:prstGeom>
          <a:solidFill>
            <a:srgbClr val="D0D0D0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00" lIns="91425" spcFirstLastPara="1" rIns="91425" wrap="square" tIns="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3"/>
          <p:cNvSpPr/>
          <p:nvPr/>
        </p:nvSpPr>
        <p:spPr>
          <a:xfrm>
            <a:off x="640080" y="4178880"/>
            <a:ext cx="4114440" cy="14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ASSESSOR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3"/>
          <p:cNvSpPr/>
          <p:nvPr/>
        </p:nvSpPr>
        <p:spPr>
          <a:xfrm>
            <a:off x="640080" y="4325040"/>
            <a:ext cx="2559960" cy="200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Gustavo Kono</a:t>
            </a:r>
            <a:endParaRPr b="0" i="0" sz="12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3"/>
          <p:cNvSpPr/>
          <p:nvPr/>
        </p:nvSpPr>
        <p:spPr>
          <a:xfrm>
            <a:off x="3246120" y="4343400"/>
            <a:ext cx="1645560" cy="164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Eng. da Computação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3"/>
          <p:cNvSpPr/>
          <p:nvPr/>
        </p:nvSpPr>
        <p:spPr>
          <a:xfrm>
            <a:off x="640080" y="4590360"/>
            <a:ext cx="4160160" cy="10440"/>
          </a:xfrm>
          <a:prstGeom prst="rect">
            <a:avLst/>
          </a:prstGeom>
          <a:solidFill>
            <a:srgbClr val="D0D0D0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00" lIns="91425" spcFirstLastPara="1" rIns="91425" wrap="square" tIns="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3"/>
          <p:cNvSpPr/>
          <p:nvPr/>
        </p:nvSpPr>
        <p:spPr>
          <a:xfrm>
            <a:off x="640080" y="4626720"/>
            <a:ext cx="4114440" cy="14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ASSESSOR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3"/>
          <p:cNvSpPr/>
          <p:nvPr/>
        </p:nvSpPr>
        <p:spPr>
          <a:xfrm>
            <a:off x="640080" y="4773240"/>
            <a:ext cx="2559960" cy="200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Wilson Ribeiro</a:t>
            </a:r>
            <a:endParaRPr b="0" i="0" sz="12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3"/>
          <p:cNvSpPr/>
          <p:nvPr/>
        </p:nvSpPr>
        <p:spPr>
          <a:xfrm>
            <a:off x="3235680" y="4791600"/>
            <a:ext cx="1645560" cy="164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Eng. da Computação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3"/>
          <p:cNvSpPr/>
          <p:nvPr/>
        </p:nvSpPr>
        <p:spPr>
          <a:xfrm>
            <a:off x="5029200" y="27360"/>
            <a:ext cx="4114440" cy="5115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3"/>
          <p:cNvSpPr/>
          <p:nvPr/>
        </p:nvSpPr>
        <p:spPr>
          <a:xfrm>
            <a:off x="5120640" y="457200"/>
            <a:ext cx="3931560" cy="4388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0" u="none" cap="none" strike="noStrike">
                <a:solidFill>
                  <a:srgbClr val="EEEEEE"/>
                </a:solidFill>
                <a:latin typeface="Calibri"/>
                <a:ea typeface="Calibri"/>
                <a:cs typeface="Calibri"/>
                <a:sym typeface="Calibri"/>
              </a:rPr>
              <a:t>Q</a:t>
            </a:r>
            <a:endParaRPr b="0" i="0" sz="38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3"/>
          <p:cNvSpPr/>
          <p:nvPr/>
        </p:nvSpPr>
        <p:spPr>
          <a:xfrm>
            <a:off x="5029200" y="4709160"/>
            <a:ext cx="3931560" cy="228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Diretoria de Pesquisa · 2026.1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3"/>
          <p:cNvSpPr/>
          <p:nvPr/>
        </p:nvSpPr>
        <p:spPr>
          <a:xfrm>
            <a:off x="0" y="5115960"/>
            <a:ext cx="9143640" cy="27000"/>
          </a:xfrm>
          <a:prstGeom prst="rect">
            <a:avLst/>
          </a:prstGeom>
          <a:solidFill>
            <a:srgbClr val="7B2FBE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3675" lIns="91425" spcFirstLastPara="1" rIns="91425" wrap="square" tIns="13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4" name="Google Shape;4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57400" y="-604080"/>
            <a:ext cx="3674520" cy="20667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>
            <a:off x="0" y="0"/>
            <a:ext cx="9143640" cy="50040"/>
          </a:xfrm>
          <a:prstGeom prst="rect">
            <a:avLst/>
          </a:prstGeom>
          <a:solidFill>
            <a:srgbClr val="7B2FBE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5200" lIns="91425" spcFirstLastPara="1" rIns="91425" wrap="square" tIns="252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0" y="50400"/>
            <a:ext cx="50040" cy="5092920"/>
          </a:xfrm>
          <a:prstGeom prst="rect">
            <a:avLst/>
          </a:prstGeom>
          <a:solidFill>
            <a:srgbClr val="F4F4F4"/>
          </a:solidFill>
          <a:ln cap="flat" cmpd="sng" w="12700">
            <a:solidFill>
              <a:srgbClr val="F4F4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0" y="5093280"/>
            <a:ext cx="9143640" cy="50040"/>
          </a:xfrm>
          <a:prstGeom prst="rect">
            <a:avLst/>
          </a:prstGeom>
          <a:solidFill>
            <a:srgbClr val="7B2FBE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5200" lIns="91425" spcFirstLastPara="1" rIns="91425" wrap="square" tIns="252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3" name="Google Shape;53;p4"/>
          <p:cNvCxnSpPr/>
          <p:nvPr/>
        </p:nvCxnSpPr>
        <p:spPr>
          <a:xfrm>
            <a:off x="7132320" y="91440"/>
            <a:ext cx="360" cy="2048400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4" name="Google Shape;54;p4"/>
          <p:cNvCxnSpPr/>
          <p:nvPr/>
        </p:nvCxnSpPr>
        <p:spPr>
          <a:xfrm>
            <a:off x="7132320" y="91440"/>
            <a:ext cx="2048400" cy="360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5" name="Google Shape;55;p4"/>
          <p:cNvCxnSpPr/>
          <p:nvPr/>
        </p:nvCxnSpPr>
        <p:spPr>
          <a:xfrm>
            <a:off x="7424640" y="91440"/>
            <a:ext cx="360" cy="2048400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6" name="Google Shape;56;p4"/>
          <p:cNvCxnSpPr/>
          <p:nvPr/>
        </p:nvCxnSpPr>
        <p:spPr>
          <a:xfrm>
            <a:off x="7132320" y="383760"/>
            <a:ext cx="2048400" cy="360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" name="Google Shape;57;p4"/>
          <p:cNvCxnSpPr/>
          <p:nvPr/>
        </p:nvCxnSpPr>
        <p:spPr>
          <a:xfrm>
            <a:off x="7717320" y="91440"/>
            <a:ext cx="360" cy="2048400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8" name="Google Shape;58;p4"/>
          <p:cNvCxnSpPr/>
          <p:nvPr/>
        </p:nvCxnSpPr>
        <p:spPr>
          <a:xfrm>
            <a:off x="7132320" y="676440"/>
            <a:ext cx="2048400" cy="360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4"/>
          <p:cNvCxnSpPr/>
          <p:nvPr/>
        </p:nvCxnSpPr>
        <p:spPr>
          <a:xfrm>
            <a:off x="8010000" y="91440"/>
            <a:ext cx="360" cy="2048400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4"/>
          <p:cNvCxnSpPr/>
          <p:nvPr/>
        </p:nvCxnSpPr>
        <p:spPr>
          <a:xfrm>
            <a:off x="7132320" y="969120"/>
            <a:ext cx="2048400" cy="360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4"/>
          <p:cNvCxnSpPr/>
          <p:nvPr/>
        </p:nvCxnSpPr>
        <p:spPr>
          <a:xfrm>
            <a:off x="8302680" y="91440"/>
            <a:ext cx="360" cy="2048400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" name="Google Shape;62;p4"/>
          <p:cNvCxnSpPr/>
          <p:nvPr/>
        </p:nvCxnSpPr>
        <p:spPr>
          <a:xfrm>
            <a:off x="7132320" y="1261800"/>
            <a:ext cx="2048400" cy="360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3" name="Google Shape;63;p4"/>
          <p:cNvCxnSpPr/>
          <p:nvPr/>
        </p:nvCxnSpPr>
        <p:spPr>
          <a:xfrm>
            <a:off x="8595360" y="91440"/>
            <a:ext cx="360" cy="2048400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" name="Google Shape;64;p4"/>
          <p:cNvCxnSpPr/>
          <p:nvPr/>
        </p:nvCxnSpPr>
        <p:spPr>
          <a:xfrm>
            <a:off x="7132320" y="1554480"/>
            <a:ext cx="2048400" cy="360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" name="Google Shape;65;p4"/>
          <p:cNvCxnSpPr/>
          <p:nvPr/>
        </p:nvCxnSpPr>
        <p:spPr>
          <a:xfrm>
            <a:off x="8887680" y="91440"/>
            <a:ext cx="360" cy="2048400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6" name="Google Shape;66;p4"/>
          <p:cNvCxnSpPr/>
          <p:nvPr/>
        </p:nvCxnSpPr>
        <p:spPr>
          <a:xfrm>
            <a:off x="7132320" y="1846800"/>
            <a:ext cx="2048400" cy="360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7" name="Google Shape;67;p4"/>
          <p:cNvSpPr/>
          <p:nvPr/>
        </p:nvSpPr>
        <p:spPr>
          <a:xfrm>
            <a:off x="365760" y="164520"/>
            <a:ext cx="8229240" cy="2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7B2FBE"/>
                </a:solidFill>
                <a:latin typeface="Calibri"/>
                <a:ea typeface="Calibri"/>
                <a:cs typeface="Calibri"/>
                <a:sym typeface="Calibri"/>
              </a:rPr>
              <a:t>FÓRMULAS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365760" y="475560"/>
            <a:ext cx="8412120" cy="18000"/>
          </a:xfrm>
          <a:prstGeom prst="rect">
            <a:avLst/>
          </a:prstGeom>
          <a:solidFill>
            <a:srgbClr val="D0D0D0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00" lIns="91425" spcFirstLastPara="1" rIns="91425" wrap="square" tIns="9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4"/>
          <p:cNvSpPr/>
          <p:nvPr/>
        </p:nvSpPr>
        <p:spPr>
          <a:xfrm>
            <a:off x="365760" y="521280"/>
            <a:ext cx="7314840" cy="566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Cálculo Retorno Simples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365760" y="1207080"/>
            <a:ext cx="8412120" cy="959760"/>
          </a:xfrm>
          <a:prstGeom prst="rect">
            <a:avLst/>
          </a:prstGeom>
          <a:solidFill>
            <a:srgbClr val="EBEBEB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  <a:effectLst>
            <a:outerShdw blurRad="127080" rotWithShape="0" algn="bl" dir="8100000" dist="25455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4"/>
          <p:cNvSpPr/>
          <p:nvPr/>
        </p:nvSpPr>
        <p:spPr>
          <a:xfrm>
            <a:off x="365760" y="1207080"/>
            <a:ext cx="50040" cy="959760"/>
          </a:xfrm>
          <a:prstGeom prst="rect">
            <a:avLst/>
          </a:prstGeom>
          <a:solidFill>
            <a:srgbClr val="7B2FBE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530280" y="1261800"/>
            <a:ext cx="8137800" cy="840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 cálculo de retorno simples é uma forma de medir quanto um investimento ganhou ou perdeu em relação ao inicial em um determinado período.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Ele mostra a variação percentual de um indicador do ativo entre dois momentos.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4"/>
          <p:cNvSpPr/>
          <p:nvPr/>
        </p:nvSpPr>
        <p:spPr>
          <a:xfrm>
            <a:off x="365760" y="2304360"/>
            <a:ext cx="2697120" cy="2395440"/>
          </a:xfrm>
          <a:prstGeom prst="rect">
            <a:avLst/>
          </a:prstGeom>
          <a:solidFill>
            <a:srgbClr val="EBEBEB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  <a:effectLst>
            <a:outerShdw blurRad="127080" rotWithShape="0" algn="bl" dir="8100000" dist="25455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365760" y="2304360"/>
            <a:ext cx="2697120" cy="50040"/>
          </a:xfrm>
          <a:prstGeom prst="rect">
            <a:avLst/>
          </a:prstGeom>
          <a:solidFill>
            <a:srgbClr val="7B2FBE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5200" lIns="91425" spcFirstLastPara="1" rIns="91425" wrap="square" tIns="252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2651760" y="2359080"/>
            <a:ext cx="365400" cy="27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530280" y="2468880"/>
            <a:ext cx="2377080" cy="59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7B2FBE"/>
                </a:solidFill>
                <a:latin typeface="Calibri"/>
                <a:ea typeface="Calibri"/>
                <a:cs typeface="Calibri"/>
                <a:sym typeface="Calibri"/>
              </a:rPr>
              <a:t>Fórmula Básica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4"/>
          <p:cNvSpPr/>
          <p:nvPr/>
        </p:nvSpPr>
        <p:spPr>
          <a:xfrm>
            <a:off x="530280" y="3090600"/>
            <a:ext cx="2377080" cy="18000"/>
          </a:xfrm>
          <a:prstGeom prst="rect">
            <a:avLst/>
          </a:prstGeom>
          <a:solidFill>
            <a:srgbClr val="D0D0D0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00" lIns="91425" spcFirstLastPara="1" rIns="91425" wrap="square" tIns="9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530280" y="3163680"/>
            <a:ext cx="2377080" cy="1416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4"/>
          <p:cNvSpPr/>
          <p:nvPr/>
        </p:nvSpPr>
        <p:spPr>
          <a:xfrm>
            <a:off x="3200400" y="2304360"/>
            <a:ext cx="2697120" cy="2395440"/>
          </a:xfrm>
          <a:prstGeom prst="rect">
            <a:avLst/>
          </a:prstGeom>
          <a:solidFill>
            <a:srgbClr val="EBEBEB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  <a:effectLst>
            <a:outerShdw blurRad="127080" rotWithShape="0" algn="bl" dir="8100000" dist="25455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3200400" y="2304360"/>
            <a:ext cx="2697120" cy="50040"/>
          </a:xfrm>
          <a:prstGeom prst="rect">
            <a:avLst/>
          </a:prstGeom>
          <a:solidFill>
            <a:srgbClr val="D0D0D0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5200" lIns="91425" spcFirstLastPara="1" rIns="91425" wrap="square" tIns="252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5486400" y="2359080"/>
            <a:ext cx="365400" cy="27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3364920" y="2468880"/>
            <a:ext cx="2377080" cy="59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Exemplo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3364920" y="3090600"/>
            <a:ext cx="2377080" cy="18000"/>
          </a:xfrm>
          <a:prstGeom prst="rect">
            <a:avLst/>
          </a:prstGeom>
          <a:solidFill>
            <a:srgbClr val="D0D0D0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00" lIns="91425" spcFirstLastPara="1" rIns="91425" wrap="square" tIns="9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3364920" y="3090600"/>
            <a:ext cx="2377080" cy="420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Suponha que uma ação custava R$100 ontem e R$110 hoje.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6035040" y="2304360"/>
            <a:ext cx="2697120" cy="2395440"/>
          </a:xfrm>
          <a:prstGeom prst="rect">
            <a:avLst/>
          </a:prstGeom>
          <a:solidFill>
            <a:srgbClr val="EBEBEB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  <a:effectLst>
            <a:outerShdw blurRad="127080" rotWithShape="0" algn="bl" dir="8100000" dist="25455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6035040" y="2304360"/>
            <a:ext cx="2697120" cy="50040"/>
          </a:xfrm>
          <a:prstGeom prst="rect">
            <a:avLst/>
          </a:prstGeom>
          <a:solidFill>
            <a:srgbClr val="D0D0D0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5200" lIns="91425" spcFirstLastPara="1" rIns="91425" wrap="square" tIns="252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8321040" y="2359080"/>
            <a:ext cx="365400" cy="27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6199560" y="2468880"/>
            <a:ext cx="2377080" cy="59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6199560" y="3090600"/>
            <a:ext cx="2377080" cy="18000"/>
          </a:xfrm>
          <a:prstGeom prst="rect">
            <a:avLst/>
          </a:prstGeom>
          <a:solidFill>
            <a:srgbClr val="D0D0D0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00" lIns="91425" spcFirstLastPara="1" rIns="91425" wrap="square" tIns="9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6199560" y="3163680"/>
            <a:ext cx="2377080" cy="1416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1" name="Google Shape;91;p4"/>
          <p:cNvPicPr preferRelativeResize="0"/>
          <p:nvPr/>
        </p:nvPicPr>
        <p:blipFill rotWithShape="1">
          <a:blip r:embed="rId3">
            <a:alphaModFix/>
          </a:blip>
          <a:srcRect b="8749" l="16830" r="-16830" t="-8749"/>
          <a:stretch/>
        </p:blipFill>
        <p:spPr>
          <a:xfrm>
            <a:off x="-137520" y="4581000"/>
            <a:ext cx="1056240" cy="594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4"/>
          <p:cNvSpPr/>
          <p:nvPr/>
        </p:nvSpPr>
        <p:spPr>
          <a:xfrm>
            <a:off x="824040" y="3241080"/>
            <a:ext cx="1780560" cy="4392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530280" y="3913560"/>
            <a:ext cx="2377080" cy="76896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3360600" y="3811680"/>
            <a:ext cx="2377080" cy="40428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6199560" y="2468880"/>
            <a:ext cx="2377080" cy="59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Desvantagem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6199560" y="3138120"/>
            <a:ext cx="2395440" cy="59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Para acumular os retornos simples, é necessário usar juros compostos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6232320" y="3693600"/>
            <a:ext cx="2338200" cy="521280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5"/>
          <p:cNvSpPr/>
          <p:nvPr/>
        </p:nvSpPr>
        <p:spPr>
          <a:xfrm>
            <a:off x="0" y="0"/>
            <a:ext cx="9143640" cy="50040"/>
          </a:xfrm>
          <a:prstGeom prst="rect">
            <a:avLst/>
          </a:prstGeom>
          <a:solidFill>
            <a:srgbClr val="7B2FBE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5200" lIns="91425" spcFirstLastPara="1" rIns="91425" wrap="square" tIns="252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0" y="50400"/>
            <a:ext cx="50040" cy="5092920"/>
          </a:xfrm>
          <a:prstGeom prst="rect">
            <a:avLst/>
          </a:prstGeom>
          <a:solidFill>
            <a:srgbClr val="F4F4F4"/>
          </a:solidFill>
          <a:ln cap="flat" cmpd="sng" w="12700">
            <a:solidFill>
              <a:srgbClr val="F4F4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0" y="5093280"/>
            <a:ext cx="9143640" cy="50040"/>
          </a:xfrm>
          <a:prstGeom prst="rect">
            <a:avLst/>
          </a:prstGeom>
          <a:solidFill>
            <a:srgbClr val="7B2FBE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5200" lIns="91425" spcFirstLastPara="1" rIns="91425" wrap="square" tIns="252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6" name="Google Shape;106;p5"/>
          <p:cNvCxnSpPr/>
          <p:nvPr/>
        </p:nvCxnSpPr>
        <p:spPr>
          <a:xfrm>
            <a:off x="7132320" y="91440"/>
            <a:ext cx="360" cy="2048400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7" name="Google Shape;107;p5"/>
          <p:cNvCxnSpPr/>
          <p:nvPr/>
        </p:nvCxnSpPr>
        <p:spPr>
          <a:xfrm>
            <a:off x="7132320" y="91440"/>
            <a:ext cx="2048400" cy="360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8" name="Google Shape;108;p5"/>
          <p:cNvCxnSpPr/>
          <p:nvPr/>
        </p:nvCxnSpPr>
        <p:spPr>
          <a:xfrm>
            <a:off x="7424640" y="91440"/>
            <a:ext cx="360" cy="2048400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9" name="Google Shape;109;p5"/>
          <p:cNvCxnSpPr/>
          <p:nvPr/>
        </p:nvCxnSpPr>
        <p:spPr>
          <a:xfrm>
            <a:off x="7132320" y="383760"/>
            <a:ext cx="2048400" cy="360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0" name="Google Shape;110;p5"/>
          <p:cNvCxnSpPr/>
          <p:nvPr/>
        </p:nvCxnSpPr>
        <p:spPr>
          <a:xfrm>
            <a:off x="7717320" y="91440"/>
            <a:ext cx="360" cy="2048400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1" name="Google Shape;111;p5"/>
          <p:cNvCxnSpPr/>
          <p:nvPr/>
        </p:nvCxnSpPr>
        <p:spPr>
          <a:xfrm>
            <a:off x="7132320" y="676440"/>
            <a:ext cx="2048400" cy="360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2" name="Google Shape;112;p5"/>
          <p:cNvCxnSpPr/>
          <p:nvPr/>
        </p:nvCxnSpPr>
        <p:spPr>
          <a:xfrm>
            <a:off x="8010000" y="91440"/>
            <a:ext cx="360" cy="2048400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3" name="Google Shape;113;p5"/>
          <p:cNvCxnSpPr/>
          <p:nvPr/>
        </p:nvCxnSpPr>
        <p:spPr>
          <a:xfrm>
            <a:off x="7132320" y="969120"/>
            <a:ext cx="2048400" cy="360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4" name="Google Shape;114;p5"/>
          <p:cNvCxnSpPr/>
          <p:nvPr/>
        </p:nvCxnSpPr>
        <p:spPr>
          <a:xfrm>
            <a:off x="8302680" y="91440"/>
            <a:ext cx="360" cy="2048400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5" name="Google Shape;115;p5"/>
          <p:cNvCxnSpPr/>
          <p:nvPr/>
        </p:nvCxnSpPr>
        <p:spPr>
          <a:xfrm>
            <a:off x="7132320" y="1261800"/>
            <a:ext cx="2048400" cy="360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6" name="Google Shape;116;p5"/>
          <p:cNvCxnSpPr/>
          <p:nvPr/>
        </p:nvCxnSpPr>
        <p:spPr>
          <a:xfrm>
            <a:off x="8595360" y="91440"/>
            <a:ext cx="360" cy="2048400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7" name="Google Shape;117;p5"/>
          <p:cNvCxnSpPr/>
          <p:nvPr/>
        </p:nvCxnSpPr>
        <p:spPr>
          <a:xfrm>
            <a:off x="7132320" y="1554480"/>
            <a:ext cx="2048400" cy="360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8" name="Google Shape;118;p5"/>
          <p:cNvCxnSpPr/>
          <p:nvPr/>
        </p:nvCxnSpPr>
        <p:spPr>
          <a:xfrm>
            <a:off x="8887680" y="91440"/>
            <a:ext cx="360" cy="2048400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9" name="Google Shape;119;p5"/>
          <p:cNvCxnSpPr/>
          <p:nvPr/>
        </p:nvCxnSpPr>
        <p:spPr>
          <a:xfrm>
            <a:off x="7132320" y="1846800"/>
            <a:ext cx="2048400" cy="360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0" name="Google Shape;120;p5"/>
          <p:cNvSpPr/>
          <p:nvPr/>
        </p:nvSpPr>
        <p:spPr>
          <a:xfrm>
            <a:off x="365760" y="164520"/>
            <a:ext cx="8229240" cy="2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7B2FBE"/>
                </a:solidFill>
                <a:latin typeface="Calibri"/>
                <a:ea typeface="Calibri"/>
                <a:cs typeface="Calibri"/>
                <a:sym typeface="Calibri"/>
              </a:rPr>
              <a:t>FÓRMULAS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365760" y="475560"/>
            <a:ext cx="8412120" cy="18000"/>
          </a:xfrm>
          <a:prstGeom prst="rect">
            <a:avLst/>
          </a:prstGeom>
          <a:solidFill>
            <a:srgbClr val="D0D0D0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00" lIns="91425" spcFirstLastPara="1" rIns="91425" wrap="square" tIns="9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5"/>
          <p:cNvSpPr/>
          <p:nvPr/>
        </p:nvSpPr>
        <p:spPr>
          <a:xfrm>
            <a:off x="365760" y="521280"/>
            <a:ext cx="7314840" cy="566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Cálculo Retorno Simples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5"/>
          <p:cNvSpPr/>
          <p:nvPr/>
        </p:nvSpPr>
        <p:spPr>
          <a:xfrm>
            <a:off x="365760" y="1207080"/>
            <a:ext cx="8412120" cy="959760"/>
          </a:xfrm>
          <a:prstGeom prst="rect">
            <a:avLst/>
          </a:prstGeom>
          <a:solidFill>
            <a:srgbClr val="EBEBEB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  <a:effectLst>
            <a:outerShdw blurRad="127080" rotWithShape="0" algn="bl" dir="8100000" dist="25455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365760" y="1207080"/>
            <a:ext cx="50040" cy="959760"/>
          </a:xfrm>
          <a:prstGeom prst="rect">
            <a:avLst/>
          </a:prstGeom>
          <a:solidFill>
            <a:srgbClr val="7B2FBE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530280" y="1261800"/>
            <a:ext cx="8137800" cy="840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 cálculo de retorno simples é uma forma de medir quanto um investimento ganhou ou perdeu em relação ao inicial em um determinado período.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Ele mostra a variação percentual de um indicador do ativo entre dois momentos.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365760" y="2304360"/>
            <a:ext cx="2697120" cy="2395440"/>
          </a:xfrm>
          <a:prstGeom prst="rect">
            <a:avLst/>
          </a:prstGeom>
          <a:solidFill>
            <a:srgbClr val="EBEBEB"/>
          </a:solidFill>
          <a:ln cap="flat" cmpd="sng" w="12700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  <a:effectLst>
            <a:outerShdw blurRad="127080" rotWithShape="0" algn="bl" dir="8100000" dist="25455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365760" y="2304360"/>
            <a:ext cx="2697120" cy="50040"/>
          </a:xfrm>
          <a:prstGeom prst="rect">
            <a:avLst/>
          </a:prstGeom>
          <a:solidFill>
            <a:srgbClr val="BFBFBF"/>
          </a:solidFill>
          <a:ln cap="flat" cmpd="sng" w="12700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5200" lIns="91425" spcFirstLastPara="1" rIns="91425" wrap="square" tIns="252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2651760" y="2359080"/>
            <a:ext cx="365400" cy="27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5"/>
          <p:cNvSpPr/>
          <p:nvPr/>
        </p:nvSpPr>
        <p:spPr>
          <a:xfrm>
            <a:off x="530280" y="2468880"/>
            <a:ext cx="2377080" cy="59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Fórmula Básica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530280" y="3090600"/>
            <a:ext cx="2377080" cy="18000"/>
          </a:xfrm>
          <a:prstGeom prst="rect">
            <a:avLst/>
          </a:prstGeom>
          <a:solidFill>
            <a:srgbClr val="D0D0D0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00" lIns="91425" spcFirstLastPara="1" rIns="91425" wrap="square" tIns="9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530280" y="3163680"/>
            <a:ext cx="2377080" cy="1416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3200400" y="2304360"/>
            <a:ext cx="2697120" cy="2395440"/>
          </a:xfrm>
          <a:prstGeom prst="rect">
            <a:avLst/>
          </a:prstGeom>
          <a:solidFill>
            <a:srgbClr val="EBEBEB"/>
          </a:solidFill>
          <a:ln cap="flat" cmpd="sng" w="12700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  <a:effectLst>
            <a:outerShdw blurRad="127080" rotWithShape="0" algn="bl" dir="8100000" dist="25455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5"/>
          <p:cNvSpPr/>
          <p:nvPr/>
        </p:nvSpPr>
        <p:spPr>
          <a:xfrm>
            <a:off x="3200400" y="2304360"/>
            <a:ext cx="2697120" cy="50040"/>
          </a:xfrm>
          <a:prstGeom prst="rect">
            <a:avLst/>
          </a:prstGeom>
          <a:solidFill>
            <a:srgbClr val="7030A0"/>
          </a:solidFill>
          <a:ln cap="flat" cmpd="sng" w="12700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5200" lIns="91425" spcFirstLastPara="1" rIns="91425" wrap="square" tIns="252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5"/>
          <p:cNvSpPr/>
          <p:nvPr/>
        </p:nvSpPr>
        <p:spPr>
          <a:xfrm>
            <a:off x="5486400" y="2359080"/>
            <a:ext cx="365400" cy="27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5"/>
          <p:cNvSpPr/>
          <p:nvPr/>
        </p:nvSpPr>
        <p:spPr>
          <a:xfrm>
            <a:off x="3364920" y="2468880"/>
            <a:ext cx="2377080" cy="59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Exemplo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5"/>
          <p:cNvSpPr/>
          <p:nvPr/>
        </p:nvSpPr>
        <p:spPr>
          <a:xfrm>
            <a:off x="3364920" y="3090600"/>
            <a:ext cx="2377080" cy="18000"/>
          </a:xfrm>
          <a:prstGeom prst="rect">
            <a:avLst/>
          </a:prstGeom>
          <a:solidFill>
            <a:srgbClr val="D0D0D0"/>
          </a:solidFill>
          <a:ln cap="flat" cmpd="sng" w="12700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00" lIns="91425" spcFirstLastPara="1" rIns="91425" wrap="square" tIns="9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5"/>
          <p:cNvSpPr/>
          <p:nvPr/>
        </p:nvSpPr>
        <p:spPr>
          <a:xfrm>
            <a:off x="3364920" y="3090600"/>
            <a:ext cx="2377080" cy="420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Suponha que uma ação custava R$100 ontem e R$110 hoje.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5"/>
          <p:cNvSpPr/>
          <p:nvPr/>
        </p:nvSpPr>
        <p:spPr>
          <a:xfrm>
            <a:off x="6035040" y="2304360"/>
            <a:ext cx="2697120" cy="2395440"/>
          </a:xfrm>
          <a:prstGeom prst="rect">
            <a:avLst/>
          </a:prstGeom>
          <a:solidFill>
            <a:srgbClr val="EBEBEB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  <a:effectLst>
            <a:outerShdw blurRad="127080" rotWithShape="0" algn="bl" dir="8100000" dist="25455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6035040" y="2304360"/>
            <a:ext cx="2697120" cy="50040"/>
          </a:xfrm>
          <a:prstGeom prst="rect">
            <a:avLst/>
          </a:prstGeom>
          <a:solidFill>
            <a:srgbClr val="D0D0D0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5200" lIns="91425" spcFirstLastPara="1" rIns="91425" wrap="square" tIns="252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5"/>
          <p:cNvSpPr/>
          <p:nvPr/>
        </p:nvSpPr>
        <p:spPr>
          <a:xfrm>
            <a:off x="8321040" y="2359080"/>
            <a:ext cx="365400" cy="27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5"/>
          <p:cNvSpPr/>
          <p:nvPr/>
        </p:nvSpPr>
        <p:spPr>
          <a:xfrm>
            <a:off x="6199560" y="2468880"/>
            <a:ext cx="2377080" cy="59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5"/>
          <p:cNvSpPr/>
          <p:nvPr/>
        </p:nvSpPr>
        <p:spPr>
          <a:xfrm>
            <a:off x="6199560" y="3090600"/>
            <a:ext cx="2377080" cy="18000"/>
          </a:xfrm>
          <a:prstGeom prst="rect">
            <a:avLst/>
          </a:prstGeom>
          <a:solidFill>
            <a:srgbClr val="D0D0D0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00" lIns="91425" spcFirstLastPara="1" rIns="91425" wrap="square" tIns="9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5"/>
          <p:cNvSpPr/>
          <p:nvPr/>
        </p:nvSpPr>
        <p:spPr>
          <a:xfrm>
            <a:off x="6199560" y="3163680"/>
            <a:ext cx="2377080" cy="1416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4" name="Google Shape;144;p5"/>
          <p:cNvPicPr preferRelativeResize="0"/>
          <p:nvPr/>
        </p:nvPicPr>
        <p:blipFill rotWithShape="1">
          <a:blip r:embed="rId3">
            <a:alphaModFix/>
          </a:blip>
          <a:srcRect b="8749" l="16830" r="-16830" t="-8749"/>
          <a:stretch/>
        </p:blipFill>
        <p:spPr>
          <a:xfrm>
            <a:off x="-137520" y="4581000"/>
            <a:ext cx="1056240" cy="59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5"/>
          <p:cNvSpPr/>
          <p:nvPr/>
        </p:nvSpPr>
        <p:spPr>
          <a:xfrm>
            <a:off x="824040" y="3241080"/>
            <a:ext cx="1780560" cy="4392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530280" y="3913560"/>
            <a:ext cx="2377080" cy="76896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5"/>
          <p:cNvSpPr/>
          <p:nvPr/>
        </p:nvSpPr>
        <p:spPr>
          <a:xfrm>
            <a:off x="3360600" y="3811680"/>
            <a:ext cx="2377080" cy="40428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5"/>
          <p:cNvSpPr/>
          <p:nvPr/>
        </p:nvSpPr>
        <p:spPr>
          <a:xfrm>
            <a:off x="6199560" y="2468880"/>
            <a:ext cx="2377080" cy="59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Desvantagem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5"/>
          <p:cNvSpPr/>
          <p:nvPr/>
        </p:nvSpPr>
        <p:spPr>
          <a:xfrm>
            <a:off x="6199560" y="3138120"/>
            <a:ext cx="2395440" cy="59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Para acumular os retornos simples, é necessário usar juros compostos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5"/>
          <p:cNvSpPr/>
          <p:nvPr/>
        </p:nvSpPr>
        <p:spPr>
          <a:xfrm>
            <a:off x="6228000" y="3683520"/>
            <a:ext cx="2338200" cy="521280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6"/>
          <p:cNvSpPr/>
          <p:nvPr/>
        </p:nvSpPr>
        <p:spPr>
          <a:xfrm>
            <a:off x="6035040" y="2304360"/>
            <a:ext cx="2697120" cy="2395440"/>
          </a:xfrm>
          <a:prstGeom prst="rect">
            <a:avLst/>
          </a:prstGeom>
          <a:solidFill>
            <a:srgbClr val="EBEBEB"/>
          </a:solidFill>
          <a:ln cap="flat" cmpd="sng" w="12700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  <a:effectLst>
            <a:outerShdw blurRad="127080" rotWithShape="0" algn="bl" dir="8100000" dist="25455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6"/>
          <p:cNvSpPr/>
          <p:nvPr/>
        </p:nvSpPr>
        <p:spPr>
          <a:xfrm>
            <a:off x="6035040" y="2304360"/>
            <a:ext cx="2697120" cy="50040"/>
          </a:xfrm>
          <a:prstGeom prst="rect">
            <a:avLst/>
          </a:prstGeom>
          <a:solidFill>
            <a:srgbClr val="7030A0"/>
          </a:solidFill>
          <a:ln cap="flat" cmpd="sng" w="12700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5200" lIns="91425" spcFirstLastPara="1" rIns="91425" wrap="square" tIns="252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6"/>
          <p:cNvSpPr/>
          <p:nvPr/>
        </p:nvSpPr>
        <p:spPr>
          <a:xfrm>
            <a:off x="393120" y="2304360"/>
            <a:ext cx="2697120" cy="2395440"/>
          </a:xfrm>
          <a:prstGeom prst="rect">
            <a:avLst/>
          </a:prstGeom>
          <a:solidFill>
            <a:srgbClr val="EBEBEB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  <a:effectLst>
            <a:outerShdw blurRad="127080" rotWithShape="0" algn="bl" dir="8100000" dist="25455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6"/>
          <p:cNvSpPr/>
          <p:nvPr/>
        </p:nvSpPr>
        <p:spPr>
          <a:xfrm>
            <a:off x="393120" y="2304360"/>
            <a:ext cx="2697120" cy="50040"/>
          </a:xfrm>
          <a:prstGeom prst="rect">
            <a:avLst/>
          </a:prstGeom>
          <a:solidFill>
            <a:srgbClr val="D0D0D0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5200" lIns="91425" spcFirstLastPara="1" rIns="91425" wrap="square" tIns="252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6"/>
          <p:cNvSpPr/>
          <p:nvPr/>
        </p:nvSpPr>
        <p:spPr>
          <a:xfrm>
            <a:off x="0" y="0"/>
            <a:ext cx="9143640" cy="50040"/>
          </a:xfrm>
          <a:prstGeom prst="rect">
            <a:avLst/>
          </a:prstGeom>
          <a:solidFill>
            <a:srgbClr val="7B2FBE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5200" lIns="91425" spcFirstLastPara="1" rIns="91425" wrap="square" tIns="252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6"/>
          <p:cNvSpPr/>
          <p:nvPr/>
        </p:nvSpPr>
        <p:spPr>
          <a:xfrm>
            <a:off x="0" y="50400"/>
            <a:ext cx="50040" cy="5092920"/>
          </a:xfrm>
          <a:prstGeom prst="rect">
            <a:avLst/>
          </a:prstGeom>
          <a:solidFill>
            <a:srgbClr val="F4F4F4"/>
          </a:solidFill>
          <a:ln cap="flat" cmpd="sng" w="12700">
            <a:solidFill>
              <a:srgbClr val="F4F4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6"/>
          <p:cNvSpPr/>
          <p:nvPr/>
        </p:nvSpPr>
        <p:spPr>
          <a:xfrm>
            <a:off x="0" y="5093280"/>
            <a:ext cx="9143640" cy="50040"/>
          </a:xfrm>
          <a:prstGeom prst="rect">
            <a:avLst/>
          </a:prstGeom>
          <a:solidFill>
            <a:srgbClr val="7B2FBE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5200" lIns="91425" spcFirstLastPara="1" rIns="91425" wrap="square" tIns="252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3" name="Google Shape;163;p6"/>
          <p:cNvCxnSpPr/>
          <p:nvPr/>
        </p:nvCxnSpPr>
        <p:spPr>
          <a:xfrm>
            <a:off x="7132320" y="91440"/>
            <a:ext cx="360" cy="2048400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4" name="Google Shape;164;p6"/>
          <p:cNvCxnSpPr/>
          <p:nvPr/>
        </p:nvCxnSpPr>
        <p:spPr>
          <a:xfrm>
            <a:off x="7132320" y="91440"/>
            <a:ext cx="2048400" cy="360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5" name="Google Shape;165;p6"/>
          <p:cNvCxnSpPr/>
          <p:nvPr/>
        </p:nvCxnSpPr>
        <p:spPr>
          <a:xfrm>
            <a:off x="7424640" y="91440"/>
            <a:ext cx="360" cy="2048400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6" name="Google Shape;166;p6"/>
          <p:cNvCxnSpPr/>
          <p:nvPr/>
        </p:nvCxnSpPr>
        <p:spPr>
          <a:xfrm>
            <a:off x="7132320" y="383760"/>
            <a:ext cx="2048400" cy="360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7" name="Google Shape;167;p6"/>
          <p:cNvCxnSpPr/>
          <p:nvPr/>
        </p:nvCxnSpPr>
        <p:spPr>
          <a:xfrm>
            <a:off x="7717320" y="91440"/>
            <a:ext cx="360" cy="2048400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8" name="Google Shape;168;p6"/>
          <p:cNvCxnSpPr/>
          <p:nvPr/>
        </p:nvCxnSpPr>
        <p:spPr>
          <a:xfrm>
            <a:off x="7132320" y="676440"/>
            <a:ext cx="2048400" cy="360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9" name="Google Shape;169;p6"/>
          <p:cNvCxnSpPr/>
          <p:nvPr/>
        </p:nvCxnSpPr>
        <p:spPr>
          <a:xfrm>
            <a:off x="8010000" y="91440"/>
            <a:ext cx="360" cy="2048400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0" name="Google Shape;170;p6"/>
          <p:cNvCxnSpPr/>
          <p:nvPr/>
        </p:nvCxnSpPr>
        <p:spPr>
          <a:xfrm>
            <a:off x="7132320" y="969120"/>
            <a:ext cx="2048400" cy="360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1" name="Google Shape;171;p6"/>
          <p:cNvCxnSpPr/>
          <p:nvPr/>
        </p:nvCxnSpPr>
        <p:spPr>
          <a:xfrm>
            <a:off x="8302680" y="91440"/>
            <a:ext cx="360" cy="2048400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2" name="Google Shape;172;p6"/>
          <p:cNvCxnSpPr/>
          <p:nvPr/>
        </p:nvCxnSpPr>
        <p:spPr>
          <a:xfrm>
            <a:off x="7132320" y="1261800"/>
            <a:ext cx="2048400" cy="360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3" name="Google Shape;173;p6"/>
          <p:cNvCxnSpPr/>
          <p:nvPr/>
        </p:nvCxnSpPr>
        <p:spPr>
          <a:xfrm>
            <a:off x="8595360" y="91440"/>
            <a:ext cx="360" cy="2048400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4" name="Google Shape;174;p6"/>
          <p:cNvCxnSpPr/>
          <p:nvPr/>
        </p:nvCxnSpPr>
        <p:spPr>
          <a:xfrm>
            <a:off x="7132320" y="1554480"/>
            <a:ext cx="2048400" cy="360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5" name="Google Shape;175;p6"/>
          <p:cNvCxnSpPr/>
          <p:nvPr/>
        </p:nvCxnSpPr>
        <p:spPr>
          <a:xfrm>
            <a:off x="8887680" y="91440"/>
            <a:ext cx="360" cy="2048400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6" name="Google Shape;176;p6"/>
          <p:cNvCxnSpPr/>
          <p:nvPr/>
        </p:nvCxnSpPr>
        <p:spPr>
          <a:xfrm>
            <a:off x="7132320" y="1846800"/>
            <a:ext cx="2048400" cy="360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7" name="Google Shape;177;p6"/>
          <p:cNvSpPr/>
          <p:nvPr/>
        </p:nvSpPr>
        <p:spPr>
          <a:xfrm>
            <a:off x="365760" y="164520"/>
            <a:ext cx="8229240" cy="2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7B2FBE"/>
                </a:solidFill>
                <a:latin typeface="Calibri"/>
                <a:ea typeface="Calibri"/>
                <a:cs typeface="Calibri"/>
                <a:sym typeface="Calibri"/>
              </a:rPr>
              <a:t>FÓRMULAS</a:t>
            </a:r>
            <a:endParaRPr sz="900">
              <a:solidFill>
                <a:schemeClr val="dk1"/>
              </a:solidFill>
            </a:endParaRPr>
          </a:p>
        </p:txBody>
      </p:sp>
      <p:sp>
        <p:nvSpPr>
          <p:cNvPr id="178" name="Google Shape;178;p6"/>
          <p:cNvSpPr/>
          <p:nvPr/>
        </p:nvSpPr>
        <p:spPr>
          <a:xfrm>
            <a:off x="365760" y="475560"/>
            <a:ext cx="8412120" cy="18000"/>
          </a:xfrm>
          <a:prstGeom prst="rect">
            <a:avLst/>
          </a:prstGeom>
          <a:solidFill>
            <a:srgbClr val="D0D0D0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00" lIns="91425" spcFirstLastPara="1" rIns="91425" wrap="square" tIns="9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6"/>
          <p:cNvSpPr/>
          <p:nvPr/>
        </p:nvSpPr>
        <p:spPr>
          <a:xfrm>
            <a:off x="365760" y="521280"/>
            <a:ext cx="7314840" cy="566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Cálculo Retorno Simples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6"/>
          <p:cNvSpPr/>
          <p:nvPr/>
        </p:nvSpPr>
        <p:spPr>
          <a:xfrm>
            <a:off x="365760" y="1207080"/>
            <a:ext cx="8412120" cy="959760"/>
          </a:xfrm>
          <a:prstGeom prst="rect">
            <a:avLst/>
          </a:prstGeom>
          <a:solidFill>
            <a:srgbClr val="EBEBEB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  <a:effectLst>
            <a:outerShdw blurRad="127080" rotWithShape="0" algn="bl" dir="8100000" dist="25455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6"/>
          <p:cNvSpPr/>
          <p:nvPr/>
        </p:nvSpPr>
        <p:spPr>
          <a:xfrm>
            <a:off x="365760" y="1207080"/>
            <a:ext cx="50040" cy="959760"/>
          </a:xfrm>
          <a:prstGeom prst="rect">
            <a:avLst/>
          </a:prstGeom>
          <a:solidFill>
            <a:srgbClr val="7B2FBE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6"/>
          <p:cNvSpPr/>
          <p:nvPr/>
        </p:nvSpPr>
        <p:spPr>
          <a:xfrm>
            <a:off x="530280" y="1261800"/>
            <a:ext cx="8137800" cy="840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 cálculo de retorno simples é uma forma de medir quanto um investimento ganhou ou perdeu em relação ao inicial em um determinado período.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Ele mostra a variação percentual de um indicador do ativo entre dois momentos.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6"/>
          <p:cNvSpPr/>
          <p:nvPr/>
        </p:nvSpPr>
        <p:spPr>
          <a:xfrm>
            <a:off x="2651760" y="2359080"/>
            <a:ext cx="365400" cy="27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6"/>
          <p:cNvSpPr/>
          <p:nvPr/>
        </p:nvSpPr>
        <p:spPr>
          <a:xfrm>
            <a:off x="530280" y="2468880"/>
            <a:ext cx="2377080" cy="59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Fórmula Básica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6"/>
          <p:cNvSpPr/>
          <p:nvPr/>
        </p:nvSpPr>
        <p:spPr>
          <a:xfrm>
            <a:off x="530280" y="3090600"/>
            <a:ext cx="2377080" cy="18000"/>
          </a:xfrm>
          <a:prstGeom prst="rect">
            <a:avLst/>
          </a:prstGeom>
          <a:solidFill>
            <a:srgbClr val="D0D0D0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00" lIns="91425" spcFirstLastPara="1" rIns="91425" wrap="square" tIns="9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6"/>
          <p:cNvSpPr/>
          <p:nvPr/>
        </p:nvSpPr>
        <p:spPr>
          <a:xfrm>
            <a:off x="530280" y="3163680"/>
            <a:ext cx="2377080" cy="1416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6"/>
          <p:cNvSpPr/>
          <p:nvPr/>
        </p:nvSpPr>
        <p:spPr>
          <a:xfrm>
            <a:off x="3200400" y="2304360"/>
            <a:ext cx="2697120" cy="2395440"/>
          </a:xfrm>
          <a:prstGeom prst="rect">
            <a:avLst/>
          </a:prstGeom>
          <a:solidFill>
            <a:srgbClr val="EBEBEB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  <a:effectLst>
            <a:outerShdw blurRad="127080" rotWithShape="0" algn="bl" dir="8100000" dist="25455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6"/>
          <p:cNvSpPr/>
          <p:nvPr/>
        </p:nvSpPr>
        <p:spPr>
          <a:xfrm>
            <a:off x="3200400" y="2304360"/>
            <a:ext cx="2697120" cy="50040"/>
          </a:xfrm>
          <a:prstGeom prst="rect">
            <a:avLst/>
          </a:prstGeom>
          <a:solidFill>
            <a:srgbClr val="D0D0D0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5200" lIns="91425" spcFirstLastPara="1" rIns="91425" wrap="square" tIns="252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6"/>
          <p:cNvSpPr/>
          <p:nvPr/>
        </p:nvSpPr>
        <p:spPr>
          <a:xfrm>
            <a:off x="5486400" y="2359080"/>
            <a:ext cx="365400" cy="27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6"/>
          <p:cNvSpPr/>
          <p:nvPr/>
        </p:nvSpPr>
        <p:spPr>
          <a:xfrm>
            <a:off x="3364920" y="2468880"/>
            <a:ext cx="2377080" cy="59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Exemplo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6"/>
          <p:cNvSpPr/>
          <p:nvPr/>
        </p:nvSpPr>
        <p:spPr>
          <a:xfrm>
            <a:off x="3364920" y="3090600"/>
            <a:ext cx="2377080" cy="18000"/>
          </a:xfrm>
          <a:prstGeom prst="rect">
            <a:avLst/>
          </a:prstGeom>
          <a:solidFill>
            <a:srgbClr val="D0D0D0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00" lIns="91425" spcFirstLastPara="1" rIns="91425" wrap="square" tIns="9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6"/>
          <p:cNvSpPr/>
          <p:nvPr/>
        </p:nvSpPr>
        <p:spPr>
          <a:xfrm>
            <a:off x="3364920" y="3090600"/>
            <a:ext cx="2377080" cy="420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Suponha que uma ação custava R$100 ontem e R$110 hoje.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6"/>
          <p:cNvSpPr/>
          <p:nvPr/>
        </p:nvSpPr>
        <p:spPr>
          <a:xfrm>
            <a:off x="8321040" y="2359080"/>
            <a:ext cx="365400" cy="27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6"/>
          <p:cNvSpPr/>
          <p:nvPr/>
        </p:nvSpPr>
        <p:spPr>
          <a:xfrm>
            <a:off x="6199560" y="2468880"/>
            <a:ext cx="2377080" cy="59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7B2FBE"/>
                </a:solidFill>
                <a:latin typeface="Calibri"/>
                <a:ea typeface="Calibri"/>
                <a:cs typeface="Calibri"/>
                <a:sym typeface="Calibri"/>
              </a:rPr>
              <a:t>Desvantagem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6"/>
          <p:cNvSpPr/>
          <p:nvPr/>
        </p:nvSpPr>
        <p:spPr>
          <a:xfrm>
            <a:off x="6199560" y="3090600"/>
            <a:ext cx="2377080" cy="18000"/>
          </a:xfrm>
          <a:prstGeom prst="rect">
            <a:avLst/>
          </a:prstGeom>
          <a:solidFill>
            <a:srgbClr val="7030A0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00" lIns="91425" spcFirstLastPara="1" rIns="91425" wrap="square" tIns="9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6"/>
          <p:cNvSpPr/>
          <p:nvPr/>
        </p:nvSpPr>
        <p:spPr>
          <a:xfrm>
            <a:off x="6199560" y="3163680"/>
            <a:ext cx="2377080" cy="1416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7" name="Google Shape;197;p6"/>
          <p:cNvPicPr preferRelativeResize="0"/>
          <p:nvPr/>
        </p:nvPicPr>
        <p:blipFill rotWithShape="1">
          <a:blip r:embed="rId3">
            <a:alphaModFix/>
          </a:blip>
          <a:srcRect b="8749" l="16830" r="-16830" t="-8749"/>
          <a:stretch/>
        </p:blipFill>
        <p:spPr>
          <a:xfrm>
            <a:off x="-137520" y="4581000"/>
            <a:ext cx="1056240" cy="59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6"/>
          <p:cNvSpPr/>
          <p:nvPr/>
        </p:nvSpPr>
        <p:spPr>
          <a:xfrm>
            <a:off x="824040" y="3241080"/>
            <a:ext cx="1780560" cy="4392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6"/>
          <p:cNvSpPr/>
          <p:nvPr/>
        </p:nvSpPr>
        <p:spPr>
          <a:xfrm>
            <a:off x="530280" y="3913560"/>
            <a:ext cx="2377080" cy="76896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6"/>
          <p:cNvSpPr/>
          <p:nvPr/>
        </p:nvSpPr>
        <p:spPr>
          <a:xfrm>
            <a:off x="3360600" y="3811680"/>
            <a:ext cx="2377080" cy="40428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6"/>
          <p:cNvSpPr/>
          <p:nvPr/>
        </p:nvSpPr>
        <p:spPr>
          <a:xfrm>
            <a:off x="6199560" y="3138120"/>
            <a:ext cx="2395440" cy="59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Para acumular os retornos simples, é necessário usar juros compostos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6"/>
          <p:cNvSpPr/>
          <p:nvPr/>
        </p:nvSpPr>
        <p:spPr>
          <a:xfrm>
            <a:off x="6228000" y="3683520"/>
            <a:ext cx="2338200" cy="521280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7"/>
          <p:cNvSpPr/>
          <p:nvPr/>
        </p:nvSpPr>
        <p:spPr>
          <a:xfrm>
            <a:off x="0" y="0"/>
            <a:ext cx="9143640" cy="50040"/>
          </a:xfrm>
          <a:prstGeom prst="rect">
            <a:avLst/>
          </a:prstGeom>
          <a:solidFill>
            <a:srgbClr val="7B2FBE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5200" lIns="91425" spcFirstLastPara="1" rIns="91425" wrap="square" tIns="252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7"/>
          <p:cNvSpPr/>
          <p:nvPr/>
        </p:nvSpPr>
        <p:spPr>
          <a:xfrm>
            <a:off x="0" y="50400"/>
            <a:ext cx="50040" cy="5092920"/>
          </a:xfrm>
          <a:prstGeom prst="rect">
            <a:avLst/>
          </a:prstGeom>
          <a:solidFill>
            <a:srgbClr val="F4F4F4"/>
          </a:solidFill>
          <a:ln cap="flat" cmpd="sng" w="12700">
            <a:solidFill>
              <a:srgbClr val="F4F4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7"/>
          <p:cNvSpPr/>
          <p:nvPr/>
        </p:nvSpPr>
        <p:spPr>
          <a:xfrm>
            <a:off x="0" y="5093280"/>
            <a:ext cx="9143640" cy="50040"/>
          </a:xfrm>
          <a:prstGeom prst="rect">
            <a:avLst/>
          </a:prstGeom>
          <a:solidFill>
            <a:srgbClr val="7B2FBE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5200" lIns="91425" spcFirstLastPara="1" rIns="91425" wrap="square" tIns="252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1" name="Google Shape;211;p7"/>
          <p:cNvCxnSpPr/>
          <p:nvPr/>
        </p:nvCxnSpPr>
        <p:spPr>
          <a:xfrm>
            <a:off x="7132320" y="91440"/>
            <a:ext cx="360" cy="2048400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2" name="Google Shape;212;p7"/>
          <p:cNvCxnSpPr/>
          <p:nvPr/>
        </p:nvCxnSpPr>
        <p:spPr>
          <a:xfrm>
            <a:off x="7132320" y="91440"/>
            <a:ext cx="2048400" cy="360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3" name="Google Shape;213;p7"/>
          <p:cNvCxnSpPr/>
          <p:nvPr/>
        </p:nvCxnSpPr>
        <p:spPr>
          <a:xfrm>
            <a:off x="7424640" y="91440"/>
            <a:ext cx="360" cy="2048400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4" name="Google Shape;214;p7"/>
          <p:cNvCxnSpPr/>
          <p:nvPr/>
        </p:nvCxnSpPr>
        <p:spPr>
          <a:xfrm>
            <a:off x="7132320" y="383760"/>
            <a:ext cx="2048400" cy="360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5" name="Google Shape;215;p7"/>
          <p:cNvCxnSpPr/>
          <p:nvPr/>
        </p:nvCxnSpPr>
        <p:spPr>
          <a:xfrm>
            <a:off x="7717320" y="91440"/>
            <a:ext cx="360" cy="2048400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6" name="Google Shape;216;p7"/>
          <p:cNvCxnSpPr/>
          <p:nvPr/>
        </p:nvCxnSpPr>
        <p:spPr>
          <a:xfrm>
            <a:off x="7132320" y="676440"/>
            <a:ext cx="2048400" cy="360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7" name="Google Shape;217;p7"/>
          <p:cNvCxnSpPr/>
          <p:nvPr/>
        </p:nvCxnSpPr>
        <p:spPr>
          <a:xfrm>
            <a:off x="8010000" y="91440"/>
            <a:ext cx="360" cy="2048400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8" name="Google Shape;218;p7"/>
          <p:cNvCxnSpPr/>
          <p:nvPr/>
        </p:nvCxnSpPr>
        <p:spPr>
          <a:xfrm>
            <a:off x="7132320" y="969120"/>
            <a:ext cx="2048400" cy="360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9" name="Google Shape;219;p7"/>
          <p:cNvCxnSpPr/>
          <p:nvPr/>
        </p:nvCxnSpPr>
        <p:spPr>
          <a:xfrm>
            <a:off x="8302680" y="91440"/>
            <a:ext cx="360" cy="2048400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0" name="Google Shape;220;p7"/>
          <p:cNvCxnSpPr/>
          <p:nvPr/>
        </p:nvCxnSpPr>
        <p:spPr>
          <a:xfrm>
            <a:off x="7132320" y="1261800"/>
            <a:ext cx="2048400" cy="360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1" name="Google Shape;221;p7"/>
          <p:cNvCxnSpPr/>
          <p:nvPr/>
        </p:nvCxnSpPr>
        <p:spPr>
          <a:xfrm>
            <a:off x="8595360" y="91440"/>
            <a:ext cx="360" cy="2048400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2" name="Google Shape;222;p7"/>
          <p:cNvCxnSpPr/>
          <p:nvPr/>
        </p:nvCxnSpPr>
        <p:spPr>
          <a:xfrm>
            <a:off x="7132320" y="1554480"/>
            <a:ext cx="2048400" cy="360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3" name="Google Shape;223;p7"/>
          <p:cNvCxnSpPr/>
          <p:nvPr/>
        </p:nvCxnSpPr>
        <p:spPr>
          <a:xfrm>
            <a:off x="8887680" y="91440"/>
            <a:ext cx="360" cy="2048400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4" name="Google Shape;224;p7"/>
          <p:cNvCxnSpPr/>
          <p:nvPr/>
        </p:nvCxnSpPr>
        <p:spPr>
          <a:xfrm>
            <a:off x="7132320" y="1846800"/>
            <a:ext cx="2048400" cy="360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5" name="Google Shape;225;p7"/>
          <p:cNvSpPr/>
          <p:nvPr/>
        </p:nvSpPr>
        <p:spPr>
          <a:xfrm>
            <a:off x="365760" y="164520"/>
            <a:ext cx="8229240" cy="2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7B2FBE"/>
                </a:solidFill>
                <a:latin typeface="Calibri"/>
                <a:ea typeface="Calibri"/>
                <a:cs typeface="Calibri"/>
                <a:sym typeface="Calibri"/>
              </a:rPr>
              <a:t>FÓRMULAS</a:t>
            </a:r>
            <a:endParaRPr b="1" sz="900">
              <a:solidFill>
                <a:srgbClr val="7B2FB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7"/>
          <p:cNvSpPr/>
          <p:nvPr/>
        </p:nvSpPr>
        <p:spPr>
          <a:xfrm>
            <a:off x="365760" y="475560"/>
            <a:ext cx="8412120" cy="18000"/>
          </a:xfrm>
          <a:prstGeom prst="rect">
            <a:avLst/>
          </a:prstGeom>
          <a:solidFill>
            <a:srgbClr val="D0D0D0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00" lIns="91425" spcFirstLastPara="1" rIns="91425" wrap="square" tIns="9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7"/>
          <p:cNvSpPr/>
          <p:nvPr/>
        </p:nvSpPr>
        <p:spPr>
          <a:xfrm>
            <a:off x="365760" y="521280"/>
            <a:ext cx="7314840" cy="566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Cálculo Log-Retorno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7"/>
          <p:cNvSpPr/>
          <p:nvPr/>
        </p:nvSpPr>
        <p:spPr>
          <a:xfrm>
            <a:off x="365760" y="1207080"/>
            <a:ext cx="8412120" cy="959760"/>
          </a:xfrm>
          <a:prstGeom prst="rect">
            <a:avLst/>
          </a:prstGeom>
          <a:solidFill>
            <a:srgbClr val="EBEBEB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  <a:effectLst>
            <a:outerShdw blurRad="127080" rotWithShape="0" algn="bl" dir="8100000" dist="25455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7"/>
          <p:cNvSpPr/>
          <p:nvPr/>
        </p:nvSpPr>
        <p:spPr>
          <a:xfrm>
            <a:off x="365760" y="1207080"/>
            <a:ext cx="50040" cy="959760"/>
          </a:xfrm>
          <a:prstGeom prst="rect">
            <a:avLst/>
          </a:prstGeom>
          <a:solidFill>
            <a:srgbClr val="7B2FBE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7"/>
          <p:cNvSpPr/>
          <p:nvPr/>
        </p:nvSpPr>
        <p:spPr>
          <a:xfrm>
            <a:off x="530280" y="1261800"/>
            <a:ext cx="8137800" cy="840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 cálculo de retorno logarítmico consiste na razão entre os valores, seguido do logaritmo natural.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É uma maneira bastante semelhante ao retorno simples para pequenas variações diárias, porém mais precisa em medidas maiores.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Permite um acúmulo de retornos de maneira eficiente.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7"/>
          <p:cNvSpPr/>
          <p:nvPr/>
        </p:nvSpPr>
        <p:spPr>
          <a:xfrm>
            <a:off x="365760" y="2304360"/>
            <a:ext cx="2697120" cy="2395440"/>
          </a:xfrm>
          <a:prstGeom prst="rect">
            <a:avLst/>
          </a:prstGeom>
          <a:solidFill>
            <a:srgbClr val="EBEBEB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  <a:effectLst>
            <a:outerShdw blurRad="127080" rotWithShape="0" algn="bl" dir="8100000" dist="25455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7"/>
          <p:cNvSpPr/>
          <p:nvPr/>
        </p:nvSpPr>
        <p:spPr>
          <a:xfrm>
            <a:off x="365760" y="2304360"/>
            <a:ext cx="2697120" cy="50040"/>
          </a:xfrm>
          <a:prstGeom prst="rect">
            <a:avLst/>
          </a:prstGeom>
          <a:solidFill>
            <a:srgbClr val="7B2FBE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5200" lIns="91425" spcFirstLastPara="1" rIns="91425" wrap="square" tIns="252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7"/>
          <p:cNvSpPr/>
          <p:nvPr/>
        </p:nvSpPr>
        <p:spPr>
          <a:xfrm>
            <a:off x="2651760" y="2359080"/>
            <a:ext cx="365400" cy="27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7"/>
          <p:cNvSpPr/>
          <p:nvPr/>
        </p:nvSpPr>
        <p:spPr>
          <a:xfrm>
            <a:off x="530280" y="2468880"/>
            <a:ext cx="2377080" cy="59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7B2FBE"/>
                </a:solidFill>
                <a:latin typeface="Calibri"/>
                <a:ea typeface="Calibri"/>
                <a:cs typeface="Calibri"/>
                <a:sym typeface="Calibri"/>
              </a:rPr>
              <a:t>Fórmula Básica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7"/>
          <p:cNvSpPr/>
          <p:nvPr/>
        </p:nvSpPr>
        <p:spPr>
          <a:xfrm>
            <a:off x="530280" y="3090600"/>
            <a:ext cx="2377080" cy="18000"/>
          </a:xfrm>
          <a:prstGeom prst="rect">
            <a:avLst/>
          </a:prstGeom>
          <a:solidFill>
            <a:srgbClr val="D0D0D0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00" lIns="91425" spcFirstLastPara="1" rIns="91425" wrap="square" tIns="9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7"/>
          <p:cNvSpPr/>
          <p:nvPr/>
        </p:nvSpPr>
        <p:spPr>
          <a:xfrm>
            <a:off x="530280" y="3163680"/>
            <a:ext cx="2377080" cy="1416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7"/>
          <p:cNvSpPr/>
          <p:nvPr/>
        </p:nvSpPr>
        <p:spPr>
          <a:xfrm>
            <a:off x="3200400" y="2304360"/>
            <a:ext cx="2697120" cy="2395440"/>
          </a:xfrm>
          <a:prstGeom prst="rect">
            <a:avLst/>
          </a:prstGeom>
          <a:solidFill>
            <a:srgbClr val="EBEBEB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  <a:effectLst>
            <a:outerShdw blurRad="127080" rotWithShape="0" algn="bl" dir="8100000" dist="25455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7"/>
          <p:cNvSpPr/>
          <p:nvPr/>
        </p:nvSpPr>
        <p:spPr>
          <a:xfrm>
            <a:off x="3200400" y="2304360"/>
            <a:ext cx="2697120" cy="50040"/>
          </a:xfrm>
          <a:prstGeom prst="rect">
            <a:avLst/>
          </a:prstGeom>
          <a:solidFill>
            <a:srgbClr val="D0D0D0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5200" lIns="91425" spcFirstLastPara="1" rIns="91425" wrap="square" tIns="252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7"/>
          <p:cNvSpPr/>
          <p:nvPr/>
        </p:nvSpPr>
        <p:spPr>
          <a:xfrm>
            <a:off x="5486400" y="2359080"/>
            <a:ext cx="365400" cy="27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7"/>
          <p:cNvSpPr/>
          <p:nvPr/>
        </p:nvSpPr>
        <p:spPr>
          <a:xfrm>
            <a:off x="3355920" y="2468880"/>
            <a:ext cx="2377080" cy="59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Retorno Acumulado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7"/>
          <p:cNvSpPr/>
          <p:nvPr/>
        </p:nvSpPr>
        <p:spPr>
          <a:xfrm>
            <a:off x="3364920" y="3090600"/>
            <a:ext cx="2377080" cy="18000"/>
          </a:xfrm>
          <a:prstGeom prst="rect">
            <a:avLst/>
          </a:prstGeom>
          <a:solidFill>
            <a:srgbClr val="D0D0D0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00" lIns="91425" spcFirstLastPara="1" rIns="91425" wrap="square" tIns="9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7"/>
          <p:cNvSpPr/>
          <p:nvPr/>
        </p:nvSpPr>
        <p:spPr>
          <a:xfrm>
            <a:off x="3364920" y="3090600"/>
            <a:ext cx="2377080" cy="420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somatório dos log-retornos é o próprio acumulo.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7"/>
          <p:cNvSpPr/>
          <p:nvPr/>
        </p:nvSpPr>
        <p:spPr>
          <a:xfrm>
            <a:off x="6035040" y="2304360"/>
            <a:ext cx="2697120" cy="2395440"/>
          </a:xfrm>
          <a:prstGeom prst="rect">
            <a:avLst/>
          </a:prstGeom>
          <a:solidFill>
            <a:srgbClr val="EBEBEB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  <a:effectLst>
            <a:outerShdw blurRad="127080" rotWithShape="0" algn="bl" dir="8100000" dist="25455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7"/>
          <p:cNvSpPr/>
          <p:nvPr/>
        </p:nvSpPr>
        <p:spPr>
          <a:xfrm>
            <a:off x="6035040" y="2304360"/>
            <a:ext cx="2697120" cy="50040"/>
          </a:xfrm>
          <a:prstGeom prst="rect">
            <a:avLst/>
          </a:prstGeom>
          <a:solidFill>
            <a:srgbClr val="D0D0D0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5200" lIns="91425" spcFirstLastPara="1" rIns="91425" wrap="square" tIns="252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7"/>
          <p:cNvSpPr/>
          <p:nvPr/>
        </p:nvSpPr>
        <p:spPr>
          <a:xfrm>
            <a:off x="8321040" y="2359080"/>
            <a:ext cx="365400" cy="27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7"/>
          <p:cNvSpPr/>
          <p:nvPr/>
        </p:nvSpPr>
        <p:spPr>
          <a:xfrm>
            <a:off x="6249600" y="2468880"/>
            <a:ext cx="2377080" cy="59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Conversão entre retornos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7"/>
          <p:cNvSpPr/>
          <p:nvPr/>
        </p:nvSpPr>
        <p:spPr>
          <a:xfrm>
            <a:off x="6199560" y="3090600"/>
            <a:ext cx="2377080" cy="18000"/>
          </a:xfrm>
          <a:prstGeom prst="rect">
            <a:avLst/>
          </a:prstGeom>
          <a:solidFill>
            <a:srgbClr val="D0D0D0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00" lIns="91425" spcFirstLastPara="1" rIns="91425" wrap="square" tIns="9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7"/>
          <p:cNvSpPr/>
          <p:nvPr/>
        </p:nvSpPr>
        <p:spPr>
          <a:xfrm>
            <a:off x="6199560" y="3163680"/>
            <a:ext cx="2377080" cy="1416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9" name="Google Shape;249;p7"/>
          <p:cNvPicPr preferRelativeResize="0"/>
          <p:nvPr/>
        </p:nvPicPr>
        <p:blipFill rotWithShape="1">
          <a:blip r:embed="rId3">
            <a:alphaModFix/>
          </a:blip>
          <a:srcRect b="8749" l="16830" r="-16830" t="-8749"/>
          <a:stretch/>
        </p:blipFill>
        <p:spPr>
          <a:xfrm>
            <a:off x="-137520" y="4581000"/>
            <a:ext cx="1056240" cy="594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7"/>
          <p:cNvSpPr/>
          <p:nvPr/>
        </p:nvSpPr>
        <p:spPr>
          <a:xfrm>
            <a:off x="824040" y="3241080"/>
            <a:ext cx="1780560" cy="4392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7"/>
          <p:cNvSpPr/>
          <p:nvPr/>
        </p:nvSpPr>
        <p:spPr>
          <a:xfrm>
            <a:off x="530280" y="3913560"/>
            <a:ext cx="2377080" cy="76896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7"/>
          <p:cNvSpPr/>
          <p:nvPr/>
        </p:nvSpPr>
        <p:spPr>
          <a:xfrm>
            <a:off x="3355920" y="3510360"/>
            <a:ext cx="2377080" cy="62316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7"/>
          <p:cNvSpPr/>
          <p:nvPr/>
        </p:nvSpPr>
        <p:spPr>
          <a:xfrm>
            <a:off x="6199560" y="3170520"/>
            <a:ext cx="2395440" cy="425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Método de análise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Log-Retorno e Retorno Simples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7"/>
          <p:cNvSpPr/>
          <p:nvPr/>
        </p:nvSpPr>
        <p:spPr>
          <a:xfrm>
            <a:off x="6058080" y="3714120"/>
            <a:ext cx="2760840" cy="214920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7"/>
          <p:cNvSpPr/>
          <p:nvPr/>
        </p:nvSpPr>
        <p:spPr>
          <a:xfrm>
            <a:off x="6195240" y="3093120"/>
            <a:ext cx="2377080" cy="420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8"/>
          <p:cNvSpPr/>
          <p:nvPr/>
        </p:nvSpPr>
        <p:spPr>
          <a:xfrm>
            <a:off x="0" y="0"/>
            <a:ext cx="9143640" cy="50040"/>
          </a:xfrm>
          <a:prstGeom prst="rect">
            <a:avLst/>
          </a:prstGeom>
          <a:solidFill>
            <a:srgbClr val="7B2FBE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5200" lIns="91425" spcFirstLastPara="1" rIns="91425" wrap="square" tIns="252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8"/>
          <p:cNvSpPr/>
          <p:nvPr/>
        </p:nvSpPr>
        <p:spPr>
          <a:xfrm>
            <a:off x="0" y="50400"/>
            <a:ext cx="50040" cy="5092920"/>
          </a:xfrm>
          <a:prstGeom prst="rect">
            <a:avLst/>
          </a:prstGeom>
          <a:solidFill>
            <a:srgbClr val="F4F4F4"/>
          </a:solidFill>
          <a:ln cap="flat" cmpd="sng" w="12700">
            <a:solidFill>
              <a:srgbClr val="F4F4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8"/>
          <p:cNvSpPr/>
          <p:nvPr/>
        </p:nvSpPr>
        <p:spPr>
          <a:xfrm>
            <a:off x="0" y="5093280"/>
            <a:ext cx="9143640" cy="50040"/>
          </a:xfrm>
          <a:prstGeom prst="rect">
            <a:avLst/>
          </a:prstGeom>
          <a:solidFill>
            <a:srgbClr val="7B2FBE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5200" lIns="91425" spcFirstLastPara="1" rIns="91425" wrap="square" tIns="252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4" name="Google Shape;264;p8"/>
          <p:cNvCxnSpPr/>
          <p:nvPr/>
        </p:nvCxnSpPr>
        <p:spPr>
          <a:xfrm>
            <a:off x="7132320" y="91440"/>
            <a:ext cx="360" cy="2048400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5" name="Google Shape;265;p8"/>
          <p:cNvCxnSpPr/>
          <p:nvPr/>
        </p:nvCxnSpPr>
        <p:spPr>
          <a:xfrm>
            <a:off x="7132320" y="91440"/>
            <a:ext cx="2048400" cy="360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6" name="Google Shape;266;p8"/>
          <p:cNvCxnSpPr/>
          <p:nvPr/>
        </p:nvCxnSpPr>
        <p:spPr>
          <a:xfrm>
            <a:off x="7424640" y="91440"/>
            <a:ext cx="360" cy="2048400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7" name="Google Shape;267;p8"/>
          <p:cNvCxnSpPr/>
          <p:nvPr/>
        </p:nvCxnSpPr>
        <p:spPr>
          <a:xfrm>
            <a:off x="7132320" y="383760"/>
            <a:ext cx="2048400" cy="360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8" name="Google Shape;268;p8"/>
          <p:cNvCxnSpPr/>
          <p:nvPr/>
        </p:nvCxnSpPr>
        <p:spPr>
          <a:xfrm>
            <a:off x="7717320" y="91440"/>
            <a:ext cx="360" cy="2048400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9" name="Google Shape;269;p8"/>
          <p:cNvCxnSpPr/>
          <p:nvPr/>
        </p:nvCxnSpPr>
        <p:spPr>
          <a:xfrm>
            <a:off x="7132320" y="676440"/>
            <a:ext cx="2048400" cy="360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0" name="Google Shape;270;p8"/>
          <p:cNvCxnSpPr/>
          <p:nvPr/>
        </p:nvCxnSpPr>
        <p:spPr>
          <a:xfrm>
            <a:off x="8010000" y="91440"/>
            <a:ext cx="360" cy="2048400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1" name="Google Shape;271;p8"/>
          <p:cNvCxnSpPr/>
          <p:nvPr/>
        </p:nvCxnSpPr>
        <p:spPr>
          <a:xfrm>
            <a:off x="7132320" y="969120"/>
            <a:ext cx="2048400" cy="360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2" name="Google Shape;272;p8"/>
          <p:cNvCxnSpPr/>
          <p:nvPr/>
        </p:nvCxnSpPr>
        <p:spPr>
          <a:xfrm>
            <a:off x="8302680" y="91440"/>
            <a:ext cx="360" cy="2048400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3" name="Google Shape;273;p8"/>
          <p:cNvCxnSpPr/>
          <p:nvPr/>
        </p:nvCxnSpPr>
        <p:spPr>
          <a:xfrm>
            <a:off x="7132320" y="1261800"/>
            <a:ext cx="2048400" cy="360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4" name="Google Shape;274;p8"/>
          <p:cNvCxnSpPr/>
          <p:nvPr/>
        </p:nvCxnSpPr>
        <p:spPr>
          <a:xfrm>
            <a:off x="8595360" y="91440"/>
            <a:ext cx="360" cy="2048400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5" name="Google Shape;275;p8"/>
          <p:cNvCxnSpPr/>
          <p:nvPr/>
        </p:nvCxnSpPr>
        <p:spPr>
          <a:xfrm>
            <a:off x="7132320" y="1554480"/>
            <a:ext cx="2048400" cy="360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6" name="Google Shape;276;p8"/>
          <p:cNvCxnSpPr/>
          <p:nvPr/>
        </p:nvCxnSpPr>
        <p:spPr>
          <a:xfrm>
            <a:off x="8887680" y="91440"/>
            <a:ext cx="360" cy="2048400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7" name="Google Shape;277;p8"/>
          <p:cNvCxnSpPr/>
          <p:nvPr/>
        </p:nvCxnSpPr>
        <p:spPr>
          <a:xfrm>
            <a:off x="7132320" y="1846800"/>
            <a:ext cx="2048400" cy="360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8" name="Google Shape;278;p8"/>
          <p:cNvSpPr/>
          <p:nvPr/>
        </p:nvSpPr>
        <p:spPr>
          <a:xfrm>
            <a:off x="365760" y="164520"/>
            <a:ext cx="8229240" cy="2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7B2FBE"/>
                </a:solidFill>
                <a:latin typeface="Calibri"/>
                <a:ea typeface="Calibri"/>
                <a:cs typeface="Calibri"/>
                <a:sym typeface="Calibri"/>
              </a:rPr>
              <a:t>FÓRMULAS</a:t>
            </a:r>
            <a:endParaRPr b="1" sz="900">
              <a:solidFill>
                <a:srgbClr val="7B2FB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8"/>
          <p:cNvSpPr/>
          <p:nvPr/>
        </p:nvSpPr>
        <p:spPr>
          <a:xfrm>
            <a:off x="365760" y="475560"/>
            <a:ext cx="8412120" cy="18000"/>
          </a:xfrm>
          <a:prstGeom prst="rect">
            <a:avLst/>
          </a:prstGeom>
          <a:solidFill>
            <a:srgbClr val="D0D0D0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00" lIns="91425" spcFirstLastPara="1" rIns="91425" wrap="square" tIns="9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8"/>
          <p:cNvSpPr/>
          <p:nvPr/>
        </p:nvSpPr>
        <p:spPr>
          <a:xfrm>
            <a:off x="365760" y="521280"/>
            <a:ext cx="7314840" cy="566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Cálculo Log-Retorno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8"/>
          <p:cNvSpPr/>
          <p:nvPr/>
        </p:nvSpPr>
        <p:spPr>
          <a:xfrm>
            <a:off x="365760" y="1207080"/>
            <a:ext cx="8412120" cy="959760"/>
          </a:xfrm>
          <a:prstGeom prst="rect">
            <a:avLst/>
          </a:prstGeom>
          <a:solidFill>
            <a:srgbClr val="EBEBEB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  <a:effectLst>
            <a:outerShdw blurRad="127080" rotWithShape="0" algn="bl" dir="8100000" dist="25455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8"/>
          <p:cNvSpPr/>
          <p:nvPr/>
        </p:nvSpPr>
        <p:spPr>
          <a:xfrm>
            <a:off x="365760" y="1207080"/>
            <a:ext cx="50040" cy="959760"/>
          </a:xfrm>
          <a:prstGeom prst="rect">
            <a:avLst/>
          </a:prstGeom>
          <a:solidFill>
            <a:srgbClr val="7B2FBE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8"/>
          <p:cNvSpPr/>
          <p:nvPr/>
        </p:nvSpPr>
        <p:spPr>
          <a:xfrm>
            <a:off x="530280" y="1261800"/>
            <a:ext cx="8137800" cy="840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 cálculo de retorno logarítmico consiste na razão entre os valores, seguido do logaritmo natural.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É uma maneira bastante semelhante ao retorno simples para pequenas variações diárias, porém mais precisa em medidas maiores.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Permite um acúmulo de retornos de maneira eficiente.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8"/>
          <p:cNvSpPr/>
          <p:nvPr/>
        </p:nvSpPr>
        <p:spPr>
          <a:xfrm>
            <a:off x="365760" y="2304360"/>
            <a:ext cx="2697120" cy="2395440"/>
          </a:xfrm>
          <a:prstGeom prst="rect">
            <a:avLst/>
          </a:prstGeom>
          <a:solidFill>
            <a:srgbClr val="EBEBEB"/>
          </a:solidFill>
          <a:ln cap="flat" cmpd="sng" w="12700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  <a:effectLst>
            <a:outerShdw blurRad="127080" rotWithShape="0" algn="bl" dir="8100000" dist="25455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8"/>
          <p:cNvSpPr/>
          <p:nvPr/>
        </p:nvSpPr>
        <p:spPr>
          <a:xfrm>
            <a:off x="365760" y="2304360"/>
            <a:ext cx="2697120" cy="50040"/>
          </a:xfrm>
          <a:prstGeom prst="rect">
            <a:avLst/>
          </a:prstGeom>
          <a:solidFill>
            <a:srgbClr val="D8D8D8"/>
          </a:solidFill>
          <a:ln cap="flat" cmpd="sng" w="12700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5200" lIns="91425" spcFirstLastPara="1" rIns="91425" wrap="square" tIns="252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8"/>
          <p:cNvSpPr/>
          <p:nvPr/>
        </p:nvSpPr>
        <p:spPr>
          <a:xfrm>
            <a:off x="2651760" y="2359080"/>
            <a:ext cx="365400" cy="27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8"/>
          <p:cNvSpPr/>
          <p:nvPr/>
        </p:nvSpPr>
        <p:spPr>
          <a:xfrm>
            <a:off x="530280" y="2468880"/>
            <a:ext cx="2377080" cy="59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Fórmula Básica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8"/>
          <p:cNvSpPr/>
          <p:nvPr/>
        </p:nvSpPr>
        <p:spPr>
          <a:xfrm>
            <a:off x="530280" y="3090600"/>
            <a:ext cx="2377080" cy="18000"/>
          </a:xfrm>
          <a:prstGeom prst="rect">
            <a:avLst/>
          </a:prstGeom>
          <a:solidFill>
            <a:srgbClr val="D0D0D0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00" lIns="91425" spcFirstLastPara="1" rIns="91425" wrap="square" tIns="9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8"/>
          <p:cNvSpPr/>
          <p:nvPr/>
        </p:nvSpPr>
        <p:spPr>
          <a:xfrm>
            <a:off x="530280" y="3163680"/>
            <a:ext cx="2377080" cy="1416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8"/>
          <p:cNvSpPr/>
          <p:nvPr/>
        </p:nvSpPr>
        <p:spPr>
          <a:xfrm>
            <a:off x="3200400" y="2304360"/>
            <a:ext cx="2697120" cy="2395440"/>
          </a:xfrm>
          <a:prstGeom prst="rect">
            <a:avLst/>
          </a:prstGeom>
          <a:solidFill>
            <a:srgbClr val="EBEBEB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  <a:effectLst>
            <a:outerShdw blurRad="127080" rotWithShape="0" algn="bl" dir="8100000" dist="25455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8"/>
          <p:cNvSpPr/>
          <p:nvPr/>
        </p:nvSpPr>
        <p:spPr>
          <a:xfrm>
            <a:off x="3200400" y="2304360"/>
            <a:ext cx="2697120" cy="50040"/>
          </a:xfrm>
          <a:prstGeom prst="rect">
            <a:avLst/>
          </a:prstGeom>
          <a:solidFill>
            <a:srgbClr val="7B2FBE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5200" lIns="91425" spcFirstLastPara="1" rIns="91425" wrap="square" tIns="252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8"/>
          <p:cNvSpPr/>
          <p:nvPr/>
        </p:nvSpPr>
        <p:spPr>
          <a:xfrm>
            <a:off x="5486400" y="2359080"/>
            <a:ext cx="365400" cy="27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8"/>
          <p:cNvSpPr/>
          <p:nvPr/>
        </p:nvSpPr>
        <p:spPr>
          <a:xfrm>
            <a:off x="3355920" y="2468880"/>
            <a:ext cx="2377080" cy="59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7B2FBE"/>
                </a:solidFill>
                <a:latin typeface="Calibri"/>
                <a:ea typeface="Calibri"/>
                <a:cs typeface="Calibri"/>
                <a:sym typeface="Calibri"/>
              </a:rPr>
              <a:t>Retorno Acumulado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8"/>
          <p:cNvSpPr/>
          <p:nvPr/>
        </p:nvSpPr>
        <p:spPr>
          <a:xfrm>
            <a:off x="3364920" y="3090600"/>
            <a:ext cx="2377080" cy="18000"/>
          </a:xfrm>
          <a:prstGeom prst="rect">
            <a:avLst/>
          </a:prstGeom>
          <a:solidFill>
            <a:srgbClr val="7B2FBE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00" lIns="91425" spcFirstLastPara="1" rIns="91425" wrap="square" tIns="9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8"/>
          <p:cNvSpPr/>
          <p:nvPr/>
        </p:nvSpPr>
        <p:spPr>
          <a:xfrm>
            <a:off x="3364920" y="3090600"/>
            <a:ext cx="2377080" cy="420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somatório dos log-retornos é o próprio acumulo.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8"/>
          <p:cNvSpPr/>
          <p:nvPr/>
        </p:nvSpPr>
        <p:spPr>
          <a:xfrm>
            <a:off x="6035040" y="2304360"/>
            <a:ext cx="2697120" cy="2395440"/>
          </a:xfrm>
          <a:prstGeom prst="rect">
            <a:avLst/>
          </a:prstGeom>
          <a:solidFill>
            <a:srgbClr val="EBEBEB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  <a:effectLst>
            <a:outerShdw blurRad="127080" rotWithShape="0" algn="bl" dir="8100000" dist="25455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8"/>
          <p:cNvSpPr/>
          <p:nvPr/>
        </p:nvSpPr>
        <p:spPr>
          <a:xfrm>
            <a:off x="6035040" y="2304360"/>
            <a:ext cx="2697120" cy="50040"/>
          </a:xfrm>
          <a:prstGeom prst="rect">
            <a:avLst/>
          </a:prstGeom>
          <a:solidFill>
            <a:srgbClr val="D8D8D8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5200" lIns="91425" spcFirstLastPara="1" rIns="91425" wrap="square" tIns="252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8"/>
          <p:cNvSpPr/>
          <p:nvPr/>
        </p:nvSpPr>
        <p:spPr>
          <a:xfrm>
            <a:off x="8321040" y="2359080"/>
            <a:ext cx="365400" cy="27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8"/>
          <p:cNvSpPr/>
          <p:nvPr/>
        </p:nvSpPr>
        <p:spPr>
          <a:xfrm>
            <a:off x="6249600" y="2468880"/>
            <a:ext cx="2377080" cy="59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Conversão entre retornos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8"/>
          <p:cNvSpPr/>
          <p:nvPr/>
        </p:nvSpPr>
        <p:spPr>
          <a:xfrm>
            <a:off x="6199560" y="3090600"/>
            <a:ext cx="2377080" cy="18000"/>
          </a:xfrm>
          <a:prstGeom prst="rect">
            <a:avLst/>
          </a:prstGeom>
          <a:solidFill>
            <a:srgbClr val="D0D0D0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00" lIns="91425" spcFirstLastPara="1" rIns="91425" wrap="square" tIns="9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8"/>
          <p:cNvSpPr/>
          <p:nvPr/>
        </p:nvSpPr>
        <p:spPr>
          <a:xfrm>
            <a:off x="6199560" y="3163680"/>
            <a:ext cx="2377080" cy="1416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2" name="Google Shape;302;p8"/>
          <p:cNvPicPr preferRelativeResize="0"/>
          <p:nvPr/>
        </p:nvPicPr>
        <p:blipFill rotWithShape="1">
          <a:blip r:embed="rId3">
            <a:alphaModFix/>
          </a:blip>
          <a:srcRect b="8749" l="16830" r="-16830" t="-8749"/>
          <a:stretch/>
        </p:blipFill>
        <p:spPr>
          <a:xfrm>
            <a:off x="-137520" y="4581000"/>
            <a:ext cx="1056240" cy="594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8"/>
          <p:cNvSpPr/>
          <p:nvPr/>
        </p:nvSpPr>
        <p:spPr>
          <a:xfrm>
            <a:off x="824040" y="3241080"/>
            <a:ext cx="1780560" cy="4392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8"/>
          <p:cNvSpPr/>
          <p:nvPr/>
        </p:nvSpPr>
        <p:spPr>
          <a:xfrm>
            <a:off x="530280" y="3913560"/>
            <a:ext cx="2377080" cy="76896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8"/>
          <p:cNvSpPr/>
          <p:nvPr/>
        </p:nvSpPr>
        <p:spPr>
          <a:xfrm>
            <a:off x="3355920" y="3510360"/>
            <a:ext cx="2377080" cy="62316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8"/>
          <p:cNvSpPr/>
          <p:nvPr/>
        </p:nvSpPr>
        <p:spPr>
          <a:xfrm>
            <a:off x="6199560" y="3170520"/>
            <a:ext cx="2395440" cy="425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Método de análise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Log-Retorno e Retorno Simples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8"/>
          <p:cNvSpPr/>
          <p:nvPr/>
        </p:nvSpPr>
        <p:spPr>
          <a:xfrm>
            <a:off x="6058080" y="3714120"/>
            <a:ext cx="2760840" cy="214920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8"/>
          <p:cNvSpPr/>
          <p:nvPr/>
        </p:nvSpPr>
        <p:spPr>
          <a:xfrm>
            <a:off x="6195240" y="3093120"/>
            <a:ext cx="2377080" cy="420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9"/>
          <p:cNvSpPr/>
          <p:nvPr/>
        </p:nvSpPr>
        <p:spPr>
          <a:xfrm>
            <a:off x="0" y="0"/>
            <a:ext cx="9143640" cy="50040"/>
          </a:xfrm>
          <a:prstGeom prst="rect">
            <a:avLst/>
          </a:prstGeom>
          <a:solidFill>
            <a:srgbClr val="7B2FBE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5200" lIns="91425" spcFirstLastPara="1" rIns="91425" wrap="square" tIns="252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9"/>
          <p:cNvSpPr/>
          <p:nvPr/>
        </p:nvSpPr>
        <p:spPr>
          <a:xfrm>
            <a:off x="0" y="50400"/>
            <a:ext cx="50040" cy="5092920"/>
          </a:xfrm>
          <a:prstGeom prst="rect">
            <a:avLst/>
          </a:prstGeom>
          <a:solidFill>
            <a:srgbClr val="F4F4F4"/>
          </a:solidFill>
          <a:ln cap="flat" cmpd="sng" w="12700">
            <a:solidFill>
              <a:srgbClr val="F4F4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9"/>
          <p:cNvSpPr/>
          <p:nvPr/>
        </p:nvSpPr>
        <p:spPr>
          <a:xfrm>
            <a:off x="0" y="5093280"/>
            <a:ext cx="9143640" cy="50040"/>
          </a:xfrm>
          <a:prstGeom prst="rect">
            <a:avLst/>
          </a:prstGeom>
          <a:solidFill>
            <a:srgbClr val="7B2FBE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5200" lIns="91425" spcFirstLastPara="1" rIns="91425" wrap="square" tIns="252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7" name="Google Shape;317;p9"/>
          <p:cNvCxnSpPr/>
          <p:nvPr/>
        </p:nvCxnSpPr>
        <p:spPr>
          <a:xfrm>
            <a:off x="7132320" y="91440"/>
            <a:ext cx="360" cy="2048400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8" name="Google Shape;318;p9"/>
          <p:cNvCxnSpPr/>
          <p:nvPr/>
        </p:nvCxnSpPr>
        <p:spPr>
          <a:xfrm>
            <a:off x="7132320" y="91440"/>
            <a:ext cx="2048400" cy="360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9" name="Google Shape;319;p9"/>
          <p:cNvCxnSpPr/>
          <p:nvPr/>
        </p:nvCxnSpPr>
        <p:spPr>
          <a:xfrm>
            <a:off x="7424640" y="91440"/>
            <a:ext cx="360" cy="2048400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0" name="Google Shape;320;p9"/>
          <p:cNvCxnSpPr/>
          <p:nvPr/>
        </p:nvCxnSpPr>
        <p:spPr>
          <a:xfrm>
            <a:off x="7132320" y="383760"/>
            <a:ext cx="2048400" cy="360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1" name="Google Shape;321;p9"/>
          <p:cNvCxnSpPr/>
          <p:nvPr/>
        </p:nvCxnSpPr>
        <p:spPr>
          <a:xfrm>
            <a:off x="7717320" y="91440"/>
            <a:ext cx="360" cy="2048400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2" name="Google Shape;322;p9"/>
          <p:cNvCxnSpPr/>
          <p:nvPr/>
        </p:nvCxnSpPr>
        <p:spPr>
          <a:xfrm>
            <a:off x="7132320" y="676440"/>
            <a:ext cx="2048400" cy="360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3" name="Google Shape;323;p9"/>
          <p:cNvCxnSpPr/>
          <p:nvPr/>
        </p:nvCxnSpPr>
        <p:spPr>
          <a:xfrm>
            <a:off x="8010000" y="91440"/>
            <a:ext cx="360" cy="2048400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4" name="Google Shape;324;p9"/>
          <p:cNvCxnSpPr/>
          <p:nvPr/>
        </p:nvCxnSpPr>
        <p:spPr>
          <a:xfrm>
            <a:off x="7132320" y="969120"/>
            <a:ext cx="2048400" cy="360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5" name="Google Shape;325;p9"/>
          <p:cNvCxnSpPr/>
          <p:nvPr/>
        </p:nvCxnSpPr>
        <p:spPr>
          <a:xfrm>
            <a:off x="8302680" y="91440"/>
            <a:ext cx="360" cy="2048400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6" name="Google Shape;326;p9"/>
          <p:cNvCxnSpPr/>
          <p:nvPr/>
        </p:nvCxnSpPr>
        <p:spPr>
          <a:xfrm>
            <a:off x="7132320" y="1261800"/>
            <a:ext cx="2048400" cy="360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7" name="Google Shape;327;p9"/>
          <p:cNvCxnSpPr/>
          <p:nvPr/>
        </p:nvCxnSpPr>
        <p:spPr>
          <a:xfrm>
            <a:off x="8595360" y="91440"/>
            <a:ext cx="360" cy="2048400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8" name="Google Shape;328;p9"/>
          <p:cNvCxnSpPr/>
          <p:nvPr/>
        </p:nvCxnSpPr>
        <p:spPr>
          <a:xfrm>
            <a:off x="7132320" y="1554480"/>
            <a:ext cx="2048400" cy="360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9" name="Google Shape;329;p9"/>
          <p:cNvCxnSpPr/>
          <p:nvPr/>
        </p:nvCxnSpPr>
        <p:spPr>
          <a:xfrm>
            <a:off x="8887680" y="91440"/>
            <a:ext cx="360" cy="2048400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0" name="Google Shape;330;p9"/>
          <p:cNvCxnSpPr/>
          <p:nvPr/>
        </p:nvCxnSpPr>
        <p:spPr>
          <a:xfrm>
            <a:off x="7132320" y="1846800"/>
            <a:ext cx="2048400" cy="360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1" name="Google Shape;331;p9"/>
          <p:cNvSpPr/>
          <p:nvPr/>
        </p:nvSpPr>
        <p:spPr>
          <a:xfrm>
            <a:off x="365760" y="164520"/>
            <a:ext cx="8229240" cy="2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7B2FBE"/>
                </a:solidFill>
                <a:latin typeface="Calibri"/>
                <a:ea typeface="Calibri"/>
                <a:cs typeface="Calibri"/>
                <a:sym typeface="Calibri"/>
              </a:rPr>
              <a:t>FÓRMULAS</a:t>
            </a:r>
            <a:endParaRPr b="1" sz="900">
              <a:solidFill>
                <a:srgbClr val="7B2FB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9"/>
          <p:cNvSpPr/>
          <p:nvPr/>
        </p:nvSpPr>
        <p:spPr>
          <a:xfrm>
            <a:off x="365760" y="475560"/>
            <a:ext cx="8412120" cy="18000"/>
          </a:xfrm>
          <a:prstGeom prst="rect">
            <a:avLst/>
          </a:prstGeom>
          <a:solidFill>
            <a:srgbClr val="D0D0D0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00" lIns="91425" spcFirstLastPara="1" rIns="91425" wrap="square" tIns="9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9"/>
          <p:cNvSpPr/>
          <p:nvPr/>
        </p:nvSpPr>
        <p:spPr>
          <a:xfrm>
            <a:off x="365760" y="521280"/>
            <a:ext cx="7314840" cy="566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Cálculo Log-Retorno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9"/>
          <p:cNvSpPr/>
          <p:nvPr/>
        </p:nvSpPr>
        <p:spPr>
          <a:xfrm>
            <a:off x="365760" y="1207080"/>
            <a:ext cx="8412120" cy="959760"/>
          </a:xfrm>
          <a:prstGeom prst="rect">
            <a:avLst/>
          </a:prstGeom>
          <a:solidFill>
            <a:srgbClr val="EBEBEB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  <a:effectLst>
            <a:outerShdw blurRad="127080" rotWithShape="0" algn="bl" dir="8100000" dist="25455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9"/>
          <p:cNvSpPr/>
          <p:nvPr/>
        </p:nvSpPr>
        <p:spPr>
          <a:xfrm>
            <a:off x="365760" y="1207080"/>
            <a:ext cx="50040" cy="959760"/>
          </a:xfrm>
          <a:prstGeom prst="rect">
            <a:avLst/>
          </a:prstGeom>
          <a:solidFill>
            <a:srgbClr val="7B2FBE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9"/>
          <p:cNvSpPr/>
          <p:nvPr/>
        </p:nvSpPr>
        <p:spPr>
          <a:xfrm>
            <a:off x="530280" y="1261800"/>
            <a:ext cx="8137800" cy="840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 cálculo de retorno logarítmico consiste na razão entre os valores, seguido do logaritmo natural.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É uma maneira bastante semelhante ao retorno simples para pequenas variações diárias, porém mais precisa em medidas maiores.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Permite um acúmulo de retornos de maneira eficiente.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9"/>
          <p:cNvSpPr/>
          <p:nvPr/>
        </p:nvSpPr>
        <p:spPr>
          <a:xfrm>
            <a:off x="365760" y="2304360"/>
            <a:ext cx="2697120" cy="2395440"/>
          </a:xfrm>
          <a:prstGeom prst="rect">
            <a:avLst/>
          </a:prstGeom>
          <a:solidFill>
            <a:srgbClr val="EBEBEB"/>
          </a:solidFill>
          <a:ln cap="flat" cmpd="sng" w="12700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  <a:effectLst>
            <a:outerShdw blurRad="127080" rotWithShape="0" algn="bl" dir="8100000" dist="25455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9"/>
          <p:cNvSpPr/>
          <p:nvPr/>
        </p:nvSpPr>
        <p:spPr>
          <a:xfrm>
            <a:off x="365760" y="2304360"/>
            <a:ext cx="2697120" cy="50040"/>
          </a:xfrm>
          <a:prstGeom prst="rect">
            <a:avLst/>
          </a:prstGeom>
          <a:solidFill>
            <a:srgbClr val="D8D8D8"/>
          </a:solidFill>
          <a:ln cap="flat" cmpd="sng" w="12700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5200" lIns="91425" spcFirstLastPara="1" rIns="91425" wrap="square" tIns="252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9"/>
          <p:cNvSpPr/>
          <p:nvPr/>
        </p:nvSpPr>
        <p:spPr>
          <a:xfrm>
            <a:off x="2651760" y="2359080"/>
            <a:ext cx="365400" cy="27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9"/>
          <p:cNvSpPr/>
          <p:nvPr/>
        </p:nvSpPr>
        <p:spPr>
          <a:xfrm>
            <a:off x="530280" y="2468880"/>
            <a:ext cx="2377080" cy="59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Fórmula Básica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9"/>
          <p:cNvSpPr/>
          <p:nvPr/>
        </p:nvSpPr>
        <p:spPr>
          <a:xfrm>
            <a:off x="530280" y="3090600"/>
            <a:ext cx="2377080" cy="18000"/>
          </a:xfrm>
          <a:prstGeom prst="rect">
            <a:avLst/>
          </a:prstGeom>
          <a:solidFill>
            <a:srgbClr val="D0D0D0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00" lIns="91425" spcFirstLastPara="1" rIns="91425" wrap="square" tIns="9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9"/>
          <p:cNvSpPr/>
          <p:nvPr/>
        </p:nvSpPr>
        <p:spPr>
          <a:xfrm>
            <a:off x="530280" y="3163680"/>
            <a:ext cx="2377080" cy="1416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9"/>
          <p:cNvSpPr/>
          <p:nvPr/>
        </p:nvSpPr>
        <p:spPr>
          <a:xfrm>
            <a:off x="3200400" y="2304360"/>
            <a:ext cx="2697120" cy="2395440"/>
          </a:xfrm>
          <a:prstGeom prst="rect">
            <a:avLst/>
          </a:prstGeom>
          <a:solidFill>
            <a:srgbClr val="EBEBEB"/>
          </a:solidFill>
          <a:ln cap="flat" cmpd="sng" w="12700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  <a:effectLst>
            <a:outerShdw blurRad="127080" rotWithShape="0" algn="bl" dir="8100000" dist="25455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9"/>
          <p:cNvSpPr/>
          <p:nvPr/>
        </p:nvSpPr>
        <p:spPr>
          <a:xfrm>
            <a:off x="3200400" y="2304360"/>
            <a:ext cx="2697120" cy="50040"/>
          </a:xfrm>
          <a:prstGeom prst="rect">
            <a:avLst/>
          </a:prstGeom>
          <a:solidFill>
            <a:srgbClr val="D8D8D8"/>
          </a:solidFill>
          <a:ln cap="flat" cmpd="sng" w="12700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5200" lIns="91425" spcFirstLastPara="1" rIns="91425" wrap="square" tIns="252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9"/>
          <p:cNvSpPr/>
          <p:nvPr/>
        </p:nvSpPr>
        <p:spPr>
          <a:xfrm>
            <a:off x="5486400" y="2359080"/>
            <a:ext cx="365400" cy="27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9"/>
          <p:cNvSpPr/>
          <p:nvPr/>
        </p:nvSpPr>
        <p:spPr>
          <a:xfrm>
            <a:off x="3355920" y="2468880"/>
            <a:ext cx="2377080" cy="59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Retorno</a:t>
            </a:r>
            <a:r>
              <a:rPr b="1" i="0" lang="en-US" sz="1400" u="none" cap="none" strike="noStrike">
                <a:solidFill>
                  <a:srgbClr val="7B2FBE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Acumulado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9"/>
          <p:cNvSpPr/>
          <p:nvPr/>
        </p:nvSpPr>
        <p:spPr>
          <a:xfrm>
            <a:off x="3364920" y="3090600"/>
            <a:ext cx="2377080" cy="18000"/>
          </a:xfrm>
          <a:prstGeom prst="rect">
            <a:avLst/>
          </a:prstGeom>
          <a:solidFill>
            <a:srgbClr val="D8D8D8"/>
          </a:solidFill>
          <a:ln cap="flat" cmpd="sng" w="12700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00" lIns="91425" spcFirstLastPara="1" rIns="91425" wrap="square" tIns="9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9"/>
          <p:cNvSpPr/>
          <p:nvPr/>
        </p:nvSpPr>
        <p:spPr>
          <a:xfrm>
            <a:off x="3364920" y="3090600"/>
            <a:ext cx="2377080" cy="420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somatório dos log-retornos é o próprio acumulo.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9"/>
          <p:cNvSpPr/>
          <p:nvPr/>
        </p:nvSpPr>
        <p:spPr>
          <a:xfrm>
            <a:off x="6035040" y="2304360"/>
            <a:ext cx="2697120" cy="2395440"/>
          </a:xfrm>
          <a:prstGeom prst="rect">
            <a:avLst/>
          </a:prstGeom>
          <a:solidFill>
            <a:srgbClr val="EBEBEB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  <a:effectLst>
            <a:outerShdw blurRad="127080" rotWithShape="0" algn="bl" dir="8100000" dist="25455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9"/>
          <p:cNvSpPr/>
          <p:nvPr/>
        </p:nvSpPr>
        <p:spPr>
          <a:xfrm>
            <a:off x="6035040" y="2304360"/>
            <a:ext cx="2697120" cy="50040"/>
          </a:xfrm>
          <a:prstGeom prst="rect">
            <a:avLst/>
          </a:prstGeom>
          <a:solidFill>
            <a:srgbClr val="7B2FBE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5200" lIns="91425" spcFirstLastPara="1" rIns="91425" wrap="square" tIns="252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9"/>
          <p:cNvSpPr/>
          <p:nvPr/>
        </p:nvSpPr>
        <p:spPr>
          <a:xfrm>
            <a:off x="8321040" y="2359080"/>
            <a:ext cx="365400" cy="27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9"/>
          <p:cNvSpPr/>
          <p:nvPr/>
        </p:nvSpPr>
        <p:spPr>
          <a:xfrm>
            <a:off x="6249600" y="2468880"/>
            <a:ext cx="2377080" cy="59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7B2FBE"/>
                </a:solidFill>
                <a:latin typeface="Calibri"/>
                <a:ea typeface="Calibri"/>
                <a:cs typeface="Calibri"/>
                <a:sym typeface="Calibri"/>
              </a:rPr>
              <a:t>Conversão entre retornos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9"/>
          <p:cNvSpPr/>
          <p:nvPr/>
        </p:nvSpPr>
        <p:spPr>
          <a:xfrm>
            <a:off x="6199560" y="3090600"/>
            <a:ext cx="2377080" cy="18000"/>
          </a:xfrm>
          <a:prstGeom prst="rect">
            <a:avLst/>
          </a:prstGeom>
          <a:solidFill>
            <a:srgbClr val="7B2FBE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00" lIns="91425" spcFirstLastPara="1" rIns="91425" wrap="square" tIns="9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9"/>
          <p:cNvSpPr/>
          <p:nvPr/>
        </p:nvSpPr>
        <p:spPr>
          <a:xfrm>
            <a:off x="6199560" y="3163680"/>
            <a:ext cx="2377080" cy="1416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5" name="Google Shape;355;p9"/>
          <p:cNvPicPr preferRelativeResize="0"/>
          <p:nvPr/>
        </p:nvPicPr>
        <p:blipFill rotWithShape="1">
          <a:blip r:embed="rId3">
            <a:alphaModFix/>
          </a:blip>
          <a:srcRect b="8749" l="16830" r="-16830" t="-8749"/>
          <a:stretch/>
        </p:blipFill>
        <p:spPr>
          <a:xfrm>
            <a:off x="-137520" y="4581000"/>
            <a:ext cx="1056240" cy="594000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9"/>
          <p:cNvSpPr/>
          <p:nvPr/>
        </p:nvSpPr>
        <p:spPr>
          <a:xfrm>
            <a:off x="824040" y="3241080"/>
            <a:ext cx="1780560" cy="4392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9"/>
          <p:cNvSpPr/>
          <p:nvPr/>
        </p:nvSpPr>
        <p:spPr>
          <a:xfrm>
            <a:off x="530280" y="3913560"/>
            <a:ext cx="2377080" cy="76896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9"/>
          <p:cNvSpPr/>
          <p:nvPr/>
        </p:nvSpPr>
        <p:spPr>
          <a:xfrm>
            <a:off x="3355920" y="3510360"/>
            <a:ext cx="2377080" cy="62316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9"/>
          <p:cNvSpPr/>
          <p:nvPr/>
        </p:nvSpPr>
        <p:spPr>
          <a:xfrm>
            <a:off x="6199560" y="3170520"/>
            <a:ext cx="2395440" cy="425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Método de análise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Log-Retorno e Retorno Simples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9"/>
          <p:cNvSpPr/>
          <p:nvPr/>
        </p:nvSpPr>
        <p:spPr>
          <a:xfrm>
            <a:off x="6058080" y="3714120"/>
            <a:ext cx="2760840" cy="214920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9"/>
          <p:cNvSpPr/>
          <p:nvPr/>
        </p:nvSpPr>
        <p:spPr>
          <a:xfrm>
            <a:off x="6195240" y="3093120"/>
            <a:ext cx="2377080" cy="420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10"/>
          <p:cNvSpPr/>
          <p:nvPr/>
        </p:nvSpPr>
        <p:spPr>
          <a:xfrm>
            <a:off x="0" y="0"/>
            <a:ext cx="9143640" cy="50040"/>
          </a:xfrm>
          <a:prstGeom prst="rect">
            <a:avLst/>
          </a:prstGeom>
          <a:solidFill>
            <a:srgbClr val="7B2FBE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5200" lIns="91425" spcFirstLastPara="1" rIns="91425" wrap="square" tIns="252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10"/>
          <p:cNvSpPr/>
          <p:nvPr/>
        </p:nvSpPr>
        <p:spPr>
          <a:xfrm>
            <a:off x="0" y="50400"/>
            <a:ext cx="50040" cy="5092920"/>
          </a:xfrm>
          <a:prstGeom prst="rect">
            <a:avLst/>
          </a:prstGeom>
          <a:solidFill>
            <a:srgbClr val="F4F4F4"/>
          </a:solidFill>
          <a:ln cap="flat" cmpd="sng" w="12700">
            <a:solidFill>
              <a:srgbClr val="F4F4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10"/>
          <p:cNvSpPr/>
          <p:nvPr/>
        </p:nvSpPr>
        <p:spPr>
          <a:xfrm>
            <a:off x="0" y="5093280"/>
            <a:ext cx="9143640" cy="50040"/>
          </a:xfrm>
          <a:prstGeom prst="rect">
            <a:avLst/>
          </a:prstGeom>
          <a:solidFill>
            <a:srgbClr val="7B2FBE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5200" lIns="91425" spcFirstLastPara="1" rIns="91425" wrap="square" tIns="252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0" name="Google Shape;370;p10"/>
          <p:cNvCxnSpPr/>
          <p:nvPr/>
        </p:nvCxnSpPr>
        <p:spPr>
          <a:xfrm>
            <a:off x="7132320" y="91440"/>
            <a:ext cx="360" cy="2048400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1" name="Google Shape;371;p10"/>
          <p:cNvCxnSpPr/>
          <p:nvPr/>
        </p:nvCxnSpPr>
        <p:spPr>
          <a:xfrm>
            <a:off x="7132320" y="91440"/>
            <a:ext cx="2048400" cy="360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2" name="Google Shape;372;p10"/>
          <p:cNvCxnSpPr/>
          <p:nvPr/>
        </p:nvCxnSpPr>
        <p:spPr>
          <a:xfrm>
            <a:off x="7424640" y="91440"/>
            <a:ext cx="360" cy="2048400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3" name="Google Shape;373;p10"/>
          <p:cNvCxnSpPr/>
          <p:nvPr/>
        </p:nvCxnSpPr>
        <p:spPr>
          <a:xfrm>
            <a:off x="7132320" y="383760"/>
            <a:ext cx="2048400" cy="360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4" name="Google Shape;374;p10"/>
          <p:cNvCxnSpPr/>
          <p:nvPr/>
        </p:nvCxnSpPr>
        <p:spPr>
          <a:xfrm>
            <a:off x="7717320" y="91440"/>
            <a:ext cx="360" cy="2048400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5" name="Google Shape;375;p10"/>
          <p:cNvCxnSpPr/>
          <p:nvPr/>
        </p:nvCxnSpPr>
        <p:spPr>
          <a:xfrm>
            <a:off x="7132320" y="676440"/>
            <a:ext cx="2048400" cy="360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6" name="Google Shape;376;p10"/>
          <p:cNvCxnSpPr/>
          <p:nvPr/>
        </p:nvCxnSpPr>
        <p:spPr>
          <a:xfrm>
            <a:off x="8010000" y="91440"/>
            <a:ext cx="360" cy="2048400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7" name="Google Shape;377;p10"/>
          <p:cNvCxnSpPr/>
          <p:nvPr/>
        </p:nvCxnSpPr>
        <p:spPr>
          <a:xfrm>
            <a:off x="7132320" y="969120"/>
            <a:ext cx="2048400" cy="360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8" name="Google Shape;378;p10"/>
          <p:cNvCxnSpPr/>
          <p:nvPr/>
        </p:nvCxnSpPr>
        <p:spPr>
          <a:xfrm>
            <a:off x="8302680" y="91440"/>
            <a:ext cx="360" cy="2048400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9" name="Google Shape;379;p10"/>
          <p:cNvCxnSpPr/>
          <p:nvPr/>
        </p:nvCxnSpPr>
        <p:spPr>
          <a:xfrm>
            <a:off x="7132320" y="1261800"/>
            <a:ext cx="2048400" cy="360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0" name="Google Shape;380;p10"/>
          <p:cNvCxnSpPr/>
          <p:nvPr/>
        </p:nvCxnSpPr>
        <p:spPr>
          <a:xfrm>
            <a:off x="8595360" y="91440"/>
            <a:ext cx="360" cy="2048400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1" name="Google Shape;381;p10"/>
          <p:cNvCxnSpPr/>
          <p:nvPr/>
        </p:nvCxnSpPr>
        <p:spPr>
          <a:xfrm>
            <a:off x="7132320" y="1554480"/>
            <a:ext cx="2048400" cy="360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2" name="Google Shape;382;p10"/>
          <p:cNvCxnSpPr/>
          <p:nvPr/>
        </p:nvCxnSpPr>
        <p:spPr>
          <a:xfrm>
            <a:off x="8887680" y="91440"/>
            <a:ext cx="360" cy="2048400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3" name="Google Shape;383;p10"/>
          <p:cNvCxnSpPr/>
          <p:nvPr/>
        </p:nvCxnSpPr>
        <p:spPr>
          <a:xfrm>
            <a:off x="7132320" y="1846800"/>
            <a:ext cx="2048400" cy="360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4" name="Google Shape;384;p10"/>
          <p:cNvSpPr/>
          <p:nvPr/>
        </p:nvSpPr>
        <p:spPr>
          <a:xfrm>
            <a:off x="365760" y="118800"/>
            <a:ext cx="8229240" cy="2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7B2FBE"/>
                </a:solidFill>
                <a:latin typeface="Calibri"/>
                <a:ea typeface="Calibri"/>
                <a:cs typeface="Calibri"/>
                <a:sym typeface="Calibri"/>
              </a:rPr>
              <a:t>COMO FUNCIONA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10"/>
          <p:cNvSpPr/>
          <p:nvPr/>
        </p:nvSpPr>
        <p:spPr>
          <a:xfrm>
            <a:off x="365760" y="429840"/>
            <a:ext cx="8412120" cy="18000"/>
          </a:xfrm>
          <a:prstGeom prst="rect">
            <a:avLst/>
          </a:prstGeom>
          <a:solidFill>
            <a:srgbClr val="D0D0D0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00" lIns="91425" spcFirstLastPara="1" rIns="91425" wrap="square" tIns="9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10"/>
          <p:cNvSpPr/>
          <p:nvPr/>
        </p:nvSpPr>
        <p:spPr>
          <a:xfrm>
            <a:off x="365760" y="475560"/>
            <a:ext cx="8412120" cy="529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Colocando em Prática</a:t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10"/>
          <p:cNvSpPr/>
          <p:nvPr/>
        </p:nvSpPr>
        <p:spPr>
          <a:xfrm>
            <a:off x="365760" y="1115640"/>
            <a:ext cx="8412120" cy="658080"/>
          </a:xfrm>
          <a:prstGeom prst="rect">
            <a:avLst/>
          </a:prstGeom>
          <a:solidFill>
            <a:srgbClr val="EBEBEB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10"/>
          <p:cNvSpPr/>
          <p:nvPr/>
        </p:nvSpPr>
        <p:spPr>
          <a:xfrm>
            <a:off x="365760" y="1115640"/>
            <a:ext cx="50040" cy="658080"/>
          </a:xfrm>
          <a:prstGeom prst="rect">
            <a:avLst/>
          </a:prstGeom>
          <a:solidFill>
            <a:srgbClr val="7B2FBE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10"/>
          <p:cNvSpPr/>
          <p:nvPr/>
        </p:nvSpPr>
        <p:spPr>
          <a:xfrm>
            <a:off x="416160" y="1115640"/>
            <a:ext cx="8361720" cy="658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Como usar Python para facilitar o cálculo de Retorno simples e Log Retorno.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10"/>
          <p:cNvSpPr/>
          <p:nvPr/>
        </p:nvSpPr>
        <p:spPr>
          <a:xfrm>
            <a:off x="548640" y="1755720"/>
            <a:ext cx="2655000" cy="182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0"/>
          <p:cNvSpPr/>
          <p:nvPr/>
        </p:nvSpPr>
        <p:spPr>
          <a:xfrm>
            <a:off x="3204000" y="1755720"/>
            <a:ext cx="5391000" cy="182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0"/>
          <p:cNvSpPr/>
          <p:nvPr/>
        </p:nvSpPr>
        <p:spPr>
          <a:xfrm>
            <a:off x="365760" y="2030040"/>
            <a:ext cx="4160160" cy="2697120"/>
          </a:xfrm>
          <a:prstGeom prst="rect">
            <a:avLst/>
          </a:prstGeom>
          <a:solidFill>
            <a:srgbClr val="EBEBEB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  <a:effectLst>
            <a:outerShdw blurRad="127080" rotWithShape="0" algn="bl" dir="8100000" dist="25455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10"/>
          <p:cNvSpPr/>
          <p:nvPr/>
        </p:nvSpPr>
        <p:spPr>
          <a:xfrm>
            <a:off x="365760" y="2030040"/>
            <a:ext cx="114120" cy="2683440"/>
          </a:xfrm>
          <a:prstGeom prst="rect">
            <a:avLst/>
          </a:prstGeom>
          <a:solidFill>
            <a:srgbClr val="7B2FBE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10"/>
          <p:cNvSpPr/>
          <p:nvPr/>
        </p:nvSpPr>
        <p:spPr>
          <a:xfrm>
            <a:off x="548640" y="2121480"/>
            <a:ext cx="3885840" cy="430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7B2FBE"/>
                </a:solidFill>
                <a:latin typeface="Calibri"/>
                <a:ea typeface="Calibri"/>
                <a:cs typeface="Calibri"/>
                <a:sym typeface="Calibri"/>
              </a:rPr>
              <a:t>   Exemplo: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10"/>
          <p:cNvSpPr/>
          <p:nvPr/>
        </p:nvSpPr>
        <p:spPr>
          <a:xfrm>
            <a:off x="548640" y="2590920"/>
            <a:ext cx="3748680" cy="18000"/>
          </a:xfrm>
          <a:prstGeom prst="rect">
            <a:avLst/>
          </a:prstGeom>
          <a:solidFill>
            <a:srgbClr val="7030A0"/>
          </a:solidFill>
          <a:ln cap="flat" cmpd="sng" w="12700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00" lIns="91425" spcFirstLastPara="1" rIns="91425" wrap="square" tIns="9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7030A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10"/>
          <p:cNvSpPr/>
          <p:nvPr/>
        </p:nvSpPr>
        <p:spPr>
          <a:xfrm>
            <a:off x="548640" y="2857680"/>
            <a:ext cx="3885840" cy="1750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840" lvl="0" marL="2858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Faça o cálculo do retorno da seguinte série: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[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100, 102, 90, 96, 150, 158, 190, 307, 280, 299]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840" lvl="0" marL="2858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Compare a diferença do retorno simples e log retorno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840" lvl="0" marL="2858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Plot um gráfico com o resultado pra comparar retorno simples e log retorno.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10"/>
          <p:cNvSpPr/>
          <p:nvPr/>
        </p:nvSpPr>
        <p:spPr>
          <a:xfrm>
            <a:off x="4663440" y="2030040"/>
            <a:ext cx="4160160" cy="1316160"/>
          </a:xfrm>
          <a:prstGeom prst="rect">
            <a:avLst/>
          </a:prstGeom>
          <a:solidFill>
            <a:srgbClr val="EBEBEB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  <a:effectLst>
            <a:outerShdw blurRad="127080" rotWithShape="0" algn="bl" dir="8100000" dist="25455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10"/>
          <p:cNvSpPr/>
          <p:nvPr/>
        </p:nvSpPr>
        <p:spPr>
          <a:xfrm>
            <a:off x="4663440" y="2030040"/>
            <a:ext cx="118440" cy="1298160"/>
          </a:xfrm>
          <a:prstGeom prst="rect">
            <a:avLst/>
          </a:prstGeom>
          <a:solidFill>
            <a:srgbClr val="D0D0D0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10"/>
          <p:cNvSpPr/>
          <p:nvPr/>
        </p:nvSpPr>
        <p:spPr>
          <a:xfrm>
            <a:off x="4846320" y="2121480"/>
            <a:ext cx="3885840" cy="319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◈  Importe Bibliotecas Numpy e Pandas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10"/>
          <p:cNvSpPr/>
          <p:nvPr/>
        </p:nvSpPr>
        <p:spPr>
          <a:xfrm>
            <a:off x="4846320" y="2468880"/>
            <a:ext cx="3748680" cy="18000"/>
          </a:xfrm>
          <a:prstGeom prst="rect">
            <a:avLst/>
          </a:prstGeom>
          <a:solidFill>
            <a:srgbClr val="D0D0D0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00" lIns="91425" spcFirstLastPara="1" rIns="91425" wrap="square" tIns="9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10"/>
          <p:cNvSpPr/>
          <p:nvPr/>
        </p:nvSpPr>
        <p:spPr>
          <a:xfrm>
            <a:off x="4846320" y="2496240"/>
            <a:ext cx="3885840" cy="840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 pandas as pd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 numpy as np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10"/>
          <p:cNvSpPr/>
          <p:nvPr/>
        </p:nvSpPr>
        <p:spPr>
          <a:xfrm>
            <a:off x="548640" y="3474720"/>
            <a:ext cx="3885840" cy="319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0"/>
          <p:cNvSpPr/>
          <p:nvPr/>
        </p:nvSpPr>
        <p:spPr>
          <a:xfrm>
            <a:off x="548640" y="3895200"/>
            <a:ext cx="3885840" cy="621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0"/>
          <p:cNvSpPr/>
          <p:nvPr/>
        </p:nvSpPr>
        <p:spPr>
          <a:xfrm>
            <a:off x="4663440" y="3401280"/>
            <a:ext cx="4160160" cy="1252440"/>
          </a:xfrm>
          <a:prstGeom prst="rect">
            <a:avLst/>
          </a:prstGeom>
          <a:solidFill>
            <a:srgbClr val="EBEBEB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  <a:effectLst>
            <a:outerShdw blurRad="127080" rotWithShape="0" algn="bl" dir="8100000" dist="25455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10"/>
          <p:cNvSpPr/>
          <p:nvPr/>
        </p:nvSpPr>
        <p:spPr>
          <a:xfrm flipH="1">
            <a:off x="4662720" y="3401280"/>
            <a:ext cx="118440" cy="1307160"/>
          </a:xfrm>
          <a:prstGeom prst="rect">
            <a:avLst/>
          </a:prstGeom>
          <a:solidFill>
            <a:srgbClr val="D0D0D0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10"/>
          <p:cNvSpPr/>
          <p:nvPr/>
        </p:nvSpPr>
        <p:spPr>
          <a:xfrm>
            <a:off x="4846320" y="3474720"/>
            <a:ext cx="3885840" cy="319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Plote o gráfico pelo </a:t>
            </a:r>
            <a:r>
              <a:rPr b="0" i="0" lang="en-US" sz="1400" u="none" cap="none" strike="noStrike">
                <a:solidFill>
                  <a:srgbClr val="7B2FBE"/>
                </a:solidFill>
                <a:latin typeface="Arial"/>
                <a:ea typeface="Arial"/>
                <a:cs typeface="Arial"/>
                <a:sym typeface="Arial"/>
              </a:rPr>
              <a:t>matplotlib.pyplot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10"/>
          <p:cNvSpPr/>
          <p:nvPr/>
        </p:nvSpPr>
        <p:spPr>
          <a:xfrm>
            <a:off x="4846320" y="3822120"/>
            <a:ext cx="3748680" cy="18000"/>
          </a:xfrm>
          <a:prstGeom prst="rect">
            <a:avLst/>
          </a:prstGeom>
          <a:solidFill>
            <a:srgbClr val="D0D0D0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00" lIns="91425" spcFirstLastPara="1" rIns="91425" wrap="square" tIns="9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10"/>
          <p:cNvSpPr/>
          <p:nvPr/>
        </p:nvSpPr>
        <p:spPr>
          <a:xfrm>
            <a:off x="4846320" y="3895200"/>
            <a:ext cx="3954600" cy="621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import matplotlib.pyplot as plt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9" name="Google Shape;409;p10"/>
          <p:cNvPicPr preferRelativeResize="0"/>
          <p:nvPr/>
        </p:nvPicPr>
        <p:blipFill rotWithShape="1">
          <a:blip r:embed="rId3">
            <a:alphaModFix/>
          </a:blip>
          <a:srcRect b="8749" l="16830" r="-16830" t="-8749"/>
          <a:stretch/>
        </p:blipFill>
        <p:spPr>
          <a:xfrm>
            <a:off x="-137520" y="4581000"/>
            <a:ext cx="1056240" cy="594000"/>
          </a:xfrm>
          <a:prstGeom prst="rect">
            <a:avLst/>
          </a:prstGeom>
          <a:noFill/>
          <a:ln>
            <a:noFill/>
          </a:ln>
        </p:spPr>
      </p:pic>
      <p:sp>
        <p:nvSpPr>
          <p:cNvPr id="410" name="Google Shape;410;p10"/>
          <p:cNvSpPr/>
          <p:nvPr/>
        </p:nvSpPr>
        <p:spPr>
          <a:xfrm>
            <a:off x="548640" y="2304360"/>
            <a:ext cx="167400" cy="9756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7030A0"/>
          </a:solidFill>
          <a:ln cap="flat" cmpd="sng" w="25400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950" lIns="90000" spcFirstLastPara="1" rIns="90000" wrap="square" tIns="39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11"/>
          <p:cNvSpPr/>
          <p:nvPr/>
        </p:nvSpPr>
        <p:spPr>
          <a:xfrm>
            <a:off x="365760" y="1115640"/>
            <a:ext cx="8412120" cy="3597840"/>
          </a:xfrm>
          <a:prstGeom prst="rect">
            <a:avLst/>
          </a:prstGeom>
          <a:solidFill>
            <a:srgbClr val="EBEBEB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11"/>
          <p:cNvSpPr/>
          <p:nvPr/>
        </p:nvSpPr>
        <p:spPr>
          <a:xfrm>
            <a:off x="0" y="0"/>
            <a:ext cx="9143640" cy="50040"/>
          </a:xfrm>
          <a:prstGeom prst="rect">
            <a:avLst/>
          </a:prstGeom>
          <a:solidFill>
            <a:srgbClr val="7B2FBE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5200" lIns="91425" spcFirstLastPara="1" rIns="91425" wrap="square" tIns="252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11"/>
          <p:cNvSpPr/>
          <p:nvPr/>
        </p:nvSpPr>
        <p:spPr>
          <a:xfrm>
            <a:off x="0" y="50400"/>
            <a:ext cx="50040" cy="5092920"/>
          </a:xfrm>
          <a:prstGeom prst="rect">
            <a:avLst/>
          </a:prstGeom>
          <a:solidFill>
            <a:srgbClr val="F4F4F4"/>
          </a:solidFill>
          <a:ln cap="flat" cmpd="sng" w="12700">
            <a:solidFill>
              <a:srgbClr val="F4F4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11"/>
          <p:cNvSpPr/>
          <p:nvPr/>
        </p:nvSpPr>
        <p:spPr>
          <a:xfrm>
            <a:off x="0" y="5093280"/>
            <a:ext cx="9143640" cy="50040"/>
          </a:xfrm>
          <a:prstGeom prst="rect">
            <a:avLst/>
          </a:prstGeom>
          <a:solidFill>
            <a:srgbClr val="7B2FBE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5200" lIns="91425" spcFirstLastPara="1" rIns="91425" wrap="square" tIns="252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20" name="Google Shape;420;p11"/>
          <p:cNvCxnSpPr/>
          <p:nvPr/>
        </p:nvCxnSpPr>
        <p:spPr>
          <a:xfrm>
            <a:off x="7132320" y="91440"/>
            <a:ext cx="360" cy="2048400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1" name="Google Shape;421;p11"/>
          <p:cNvCxnSpPr/>
          <p:nvPr/>
        </p:nvCxnSpPr>
        <p:spPr>
          <a:xfrm>
            <a:off x="7132320" y="91440"/>
            <a:ext cx="2048400" cy="360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2" name="Google Shape;422;p11"/>
          <p:cNvCxnSpPr/>
          <p:nvPr/>
        </p:nvCxnSpPr>
        <p:spPr>
          <a:xfrm>
            <a:off x="7424640" y="91440"/>
            <a:ext cx="360" cy="2048400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3" name="Google Shape;423;p11"/>
          <p:cNvCxnSpPr/>
          <p:nvPr/>
        </p:nvCxnSpPr>
        <p:spPr>
          <a:xfrm>
            <a:off x="7132320" y="383760"/>
            <a:ext cx="2048400" cy="360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4" name="Google Shape;424;p11"/>
          <p:cNvCxnSpPr/>
          <p:nvPr/>
        </p:nvCxnSpPr>
        <p:spPr>
          <a:xfrm>
            <a:off x="7717320" y="91440"/>
            <a:ext cx="360" cy="2048400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5" name="Google Shape;425;p11"/>
          <p:cNvCxnSpPr/>
          <p:nvPr/>
        </p:nvCxnSpPr>
        <p:spPr>
          <a:xfrm>
            <a:off x="7132320" y="676440"/>
            <a:ext cx="2048400" cy="360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6" name="Google Shape;426;p11"/>
          <p:cNvCxnSpPr/>
          <p:nvPr/>
        </p:nvCxnSpPr>
        <p:spPr>
          <a:xfrm>
            <a:off x="8010000" y="91440"/>
            <a:ext cx="360" cy="2048400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7" name="Google Shape;427;p11"/>
          <p:cNvCxnSpPr/>
          <p:nvPr/>
        </p:nvCxnSpPr>
        <p:spPr>
          <a:xfrm>
            <a:off x="7132320" y="969120"/>
            <a:ext cx="2048400" cy="360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8" name="Google Shape;428;p11"/>
          <p:cNvCxnSpPr/>
          <p:nvPr/>
        </p:nvCxnSpPr>
        <p:spPr>
          <a:xfrm>
            <a:off x="8302680" y="91440"/>
            <a:ext cx="360" cy="2048400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9" name="Google Shape;429;p11"/>
          <p:cNvCxnSpPr/>
          <p:nvPr/>
        </p:nvCxnSpPr>
        <p:spPr>
          <a:xfrm>
            <a:off x="7132320" y="1261800"/>
            <a:ext cx="2048400" cy="360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0" name="Google Shape;430;p11"/>
          <p:cNvCxnSpPr/>
          <p:nvPr/>
        </p:nvCxnSpPr>
        <p:spPr>
          <a:xfrm>
            <a:off x="8595360" y="91440"/>
            <a:ext cx="360" cy="2048400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1" name="Google Shape;431;p11"/>
          <p:cNvCxnSpPr/>
          <p:nvPr/>
        </p:nvCxnSpPr>
        <p:spPr>
          <a:xfrm>
            <a:off x="7132320" y="1554480"/>
            <a:ext cx="2048400" cy="360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2" name="Google Shape;432;p11"/>
          <p:cNvCxnSpPr/>
          <p:nvPr/>
        </p:nvCxnSpPr>
        <p:spPr>
          <a:xfrm>
            <a:off x="8887680" y="91440"/>
            <a:ext cx="360" cy="2048400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3" name="Google Shape;433;p11"/>
          <p:cNvCxnSpPr/>
          <p:nvPr/>
        </p:nvCxnSpPr>
        <p:spPr>
          <a:xfrm>
            <a:off x="7132320" y="1846800"/>
            <a:ext cx="2048400" cy="360"/>
          </a:xfrm>
          <a:prstGeom prst="straightConnector1">
            <a:avLst/>
          </a:prstGeom>
          <a:noFill/>
          <a:ln cap="flat" cmpd="sng" w="9525">
            <a:solidFill>
              <a:srgbClr val="7B2FB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4" name="Google Shape;434;p11"/>
          <p:cNvSpPr/>
          <p:nvPr/>
        </p:nvSpPr>
        <p:spPr>
          <a:xfrm>
            <a:off x="365760" y="118800"/>
            <a:ext cx="8229240" cy="2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7B2FBE"/>
                </a:solidFill>
                <a:latin typeface="Calibri"/>
                <a:ea typeface="Calibri"/>
                <a:cs typeface="Calibri"/>
                <a:sym typeface="Calibri"/>
              </a:rPr>
              <a:t>COMO FUNCIONA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11"/>
          <p:cNvSpPr/>
          <p:nvPr/>
        </p:nvSpPr>
        <p:spPr>
          <a:xfrm>
            <a:off x="365760" y="429840"/>
            <a:ext cx="8412120" cy="18000"/>
          </a:xfrm>
          <a:prstGeom prst="rect">
            <a:avLst/>
          </a:prstGeom>
          <a:solidFill>
            <a:srgbClr val="D0D0D0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000" lIns="91425" spcFirstLastPara="1" rIns="91425" wrap="square" tIns="9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11"/>
          <p:cNvSpPr/>
          <p:nvPr/>
        </p:nvSpPr>
        <p:spPr>
          <a:xfrm>
            <a:off x="365760" y="475560"/>
            <a:ext cx="8412120" cy="529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Código .py de Retornos</a:t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11"/>
          <p:cNvSpPr/>
          <p:nvPr/>
        </p:nvSpPr>
        <p:spPr>
          <a:xfrm>
            <a:off x="365760" y="1115640"/>
            <a:ext cx="182520" cy="3597840"/>
          </a:xfrm>
          <a:prstGeom prst="rect">
            <a:avLst/>
          </a:prstGeom>
          <a:solidFill>
            <a:srgbClr val="7B2FBE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11"/>
          <p:cNvSpPr/>
          <p:nvPr/>
        </p:nvSpPr>
        <p:spPr>
          <a:xfrm>
            <a:off x="416160" y="1115640"/>
            <a:ext cx="8361720" cy="3643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1"/>
          <p:cNvSpPr/>
          <p:nvPr/>
        </p:nvSpPr>
        <p:spPr>
          <a:xfrm>
            <a:off x="548640" y="1755720"/>
            <a:ext cx="2655000" cy="182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1"/>
          <p:cNvSpPr/>
          <p:nvPr/>
        </p:nvSpPr>
        <p:spPr>
          <a:xfrm>
            <a:off x="3204000" y="1755720"/>
            <a:ext cx="5391000" cy="182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41" name="Google Shape;441;p11"/>
          <p:cNvPicPr preferRelativeResize="0"/>
          <p:nvPr/>
        </p:nvPicPr>
        <p:blipFill rotWithShape="1">
          <a:blip r:embed="rId3">
            <a:alphaModFix/>
          </a:blip>
          <a:srcRect b="8749" l="16830" r="-16830" t="-8749"/>
          <a:stretch/>
        </p:blipFill>
        <p:spPr>
          <a:xfrm>
            <a:off x="-137520" y="4581000"/>
            <a:ext cx="1056240" cy="594000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11"/>
          <p:cNvSpPr/>
          <p:nvPr/>
        </p:nvSpPr>
        <p:spPr>
          <a:xfrm>
            <a:off x="5234400" y="1124640"/>
            <a:ext cx="155160" cy="3576240"/>
          </a:xfrm>
          <a:prstGeom prst="rect">
            <a:avLst/>
          </a:prstGeom>
          <a:solidFill>
            <a:srgbClr val="7B2FBE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Gráfico, Gráfico de linhas&#10;&#10;O conteúdo gerado por IA pode estar incorreto." id="443" name="Google Shape;443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89920" y="1168200"/>
            <a:ext cx="3387960" cy="34995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ela de computador com texto preto sobre fundo branco&#10;&#10;O conteúdo gerado por IA pode estar incorreto." id="444" name="Google Shape;444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8640" y="1124640"/>
            <a:ext cx="4685400" cy="35762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