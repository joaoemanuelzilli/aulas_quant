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0" y="91440"/>
            <a:ext cx="3749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EFEFEF"/>
                </a:solidFill>
              </a:rPr>
              <a:t>Q</a:t>
            </a:r>
            <a:endParaRPr lang="en-US" sz="34000" dirty="0"/>
          </a:p>
        </p:txBody>
      </p:sp>
      <p:sp>
        <p:nvSpPr>
          <p:cNvPr id="4" name="Text 2"/>
          <p:cNvSpPr/>
          <p:nvPr/>
        </p:nvSpPr>
        <p:spPr>
          <a:xfrm>
            <a:off x="384048" y="347472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</a:rPr>
              <a:t>BACKTESTING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7B2FBE"/>
                </a:solidFill>
              </a:rPr>
              <a:t>VIESES &amp;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84048" y="1810512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</a:rPr>
              <a:t>BACKTRADER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84048" y="2651760"/>
            <a:ext cx="3840480" cy="1188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27432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</a:rPr>
              <a:t>Núcleo de Análise Quantitativa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4048" y="3017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Liga de Mercado Financeiro · UFU · 2026.1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41985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6B7280"/>
                </a:solidFill>
              </a:rPr>
              <a:t>DIRETOR DE PESQUISA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4048" y="35478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Arthur Pires Lopes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Eng. Elétrica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3749040"/>
            <a:ext cx="38404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7947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6B7280"/>
                </a:solidFill>
              </a:rPr>
              <a:t>GERENTE QUANT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4048" y="39227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João Emanuel Zilli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922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Eng. da Computação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4123944"/>
            <a:ext cx="38404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41696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6B7280"/>
                </a:solidFill>
              </a:rPr>
              <a:t>ASSESSOR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4048" y="4297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Gustavo Kono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Eng. da Computação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4498848"/>
            <a:ext cx="38404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5445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6B7280"/>
                </a:solidFill>
              </a:rPr>
              <a:t>ASSESSOR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4048" y="4672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Wilson Ribeiro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4672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Eng. da Computação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873752"/>
            <a:ext cx="38404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Diretoria de Pesquisa · 2026.1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B59D0"/>
                </a:solidFill>
              </a:rPr>
              <a:t>VIESES DE BACKTESTING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566928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70432" y="566928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Seu backtest deu Sharpe de 3.2 e retorno de 80% ao ano. O que pode estar errado?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w="9525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Um resultado bom demais é quase sempre um sinal de que algo está errado no processo. Os três vieses desta aula são os mais comuns — e os mais silenciosos.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" y="3218688"/>
            <a:ext cx="2724912" cy="1691640"/>
          </a:xfrm>
          <a:prstGeom prst="rect">
            <a:avLst/>
          </a:prstGeom>
          <a:solidFill>
            <a:srgbClr val="252545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3218688"/>
            <a:ext cx="2724912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33467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Look-Ahead Bias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" y="3694176"/>
            <a:ext cx="2450592" cy="10058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</a:rPr>
              <a:t>Usou informação do futuro no passado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218688"/>
            <a:ext cx="2724912" cy="1691640"/>
          </a:xfrm>
          <a:prstGeom prst="rect">
            <a:avLst/>
          </a:prstGeom>
          <a:solidFill>
            <a:srgbClr val="252545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3218688"/>
            <a:ext cx="2724912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3467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Survivorship Bias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3694176"/>
            <a:ext cx="2450592" cy="10058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</a:rPr>
              <a:t>Testou só nos ativos que sobreviveram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44768" y="3218688"/>
            <a:ext cx="2724912" cy="1691640"/>
          </a:xfrm>
          <a:prstGeom prst="rect">
            <a:avLst/>
          </a:prstGeom>
          <a:solidFill>
            <a:srgbClr val="252545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3218688"/>
            <a:ext cx="2724912" cy="457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2" name="Text 20"/>
          <p:cNvSpPr/>
          <p:nvPr/>
        </p:nvSpPr>
        <p:spPr>
          <a:xfrm>
            <a:off x="6281928" y="33467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BE"/>
                </a:solidFill>
              </a:rPr>
              <a:t>Overfitting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81928" y="3694176"/>
            <a:ext cx="2450592" cy="10058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24" name="Text 22"/>
          <p:cNvSpPr/>
          <p:nvPr/>
        </p:nvSpPr>
        <p:spPr>
          <a:xfrm>
            <a:off x="6281928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</a:rPr>
              <a:t>Decorou o passado em vez de aprender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2FBE"/>
                </a:solidFill>
              </a:rPr>
              <a:t>VIESES · LOOK-AHEAD BIAS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Look-Ahead Bias: usar o futuro para prever o futuro</a:t>
            </a:r>
            <a:endParaRPr lang="en-US" sz="3400" dirty="0"/>
          </a:p>
        </p:txBody>
      </p:sp>
      <p:sp>
        <p:nvSpPr>
          <p:cNvPr id="41" name="Shape 39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Look-ahead bias ocorre quando o modelo usa, no momento da decisão, uma informação que só estaria disponível depois. O backtest parece funcionar porque 'trapaceou' — mas em produção, essa informação não existe ainda.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47472" y="2029968"/>
            <a:ext cx="4251960" cy="2724912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2148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O que acontece na prática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12064" y="2404872"/>
            <a:ext cx="391363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6" name="Shape 44"/>
          <p:cNvSpPr/>
          <p:nvPr/>
        </p:nvSpPr>
        <p:spPr>
          <a:xfrm>
            <a:off x="512064" y="2542032"/>
            <a:ext cx="391363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2064" y="2542032"/>
            <a:ext cx="45720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25877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Dia 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417320" y="25877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Decisão: comprar ou vender?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2064" y="3090672"/>
            <a:ext cx="391363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" y="3090672"/>
            <a:ext cx="45720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31363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Dia D+1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417320" y="31363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Dado publicado (resultado, dividendo...)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2064" y="3639312"/>
            <a:ext cx="3913632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2064" y="3639312"/>
            <a:ext cx="45720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36850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Bug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417320" y="3685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Modelo usou D+1 na decisão de 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1792" y="29626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↓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21792" y="351129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347472" y="4224528"/>
            <a:ext cx="8458200" cy="621792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7472" y="4224528"/>
            <a:ext cx="54864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2" name="Text 60"/>
          <p:cNvSpPr/>
          <p:nvPr/>
        </p:nvSpPr>
        <p:spPr>
          <a:xfrm>
            <a:off x="512064" y="42976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⚠  Se você usou .shift(-1) em vez de .shift(1) no seu sinal, está olhando para amanhã. Resultado: backtest perfeito, produção zero.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782312" y="2029968"/>
            <a:ext cx="4014216" cy="1207008"/>
          </a:xfrm>
          <a:prstGeom prst="rect">
            <a:avLst/>
          </a:prstGeom>
          <a:solidFill>
            <a:srgbClr val="1E1E2E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46904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❌  Com look-ahead bias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46904" y="2267712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sinal gerado com dado do DIA SEGUINTE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sinal 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(media.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</a:t>
            </a:r>
            <a:pPr indent="0" marL="0">
              <a:buNone/>
            </a:pPr>
            <a:r>
              <a:rPr lang="en-US" sz="1050" dirty="0">
                <a:solidFill>
                  <a:srgbClr val="FF5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(-1) &gt; 0).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782312" y="3346704"/>
            <a:ext cx="4014216" cy="1207008"/>
          </a:xfrm>
          <a:prstGeom prst="rect">
            <a:avLst/>
          </a:prstGeom>
          <a:solidFill>
            <a:srgbClr val="1E1E2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46904" y="3364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✅  Sem look-ahead bias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946904" y="3566160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sinal gerado com dado de ONTEM (já disponível)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sinal 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(media.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&gt; 0).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782312" y="4663440"/>
            <a:ext cx="4014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Casos comuns de look-ahead bias: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782312" y="4864608"/>
            <a:ext cx="4014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→  Usar preço de fechamento para gerar sinal do mesmo dia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782312" y="4956048"/>
            <a:ext cx="4014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→  Normalizar com média/std do período completo antes de treinar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782312" y="5047488"/>
            <a:ext cx="4014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→  Usar .shift(-1) por engano no sinal de entrada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B59D0"/>
                </a:solidFill>
              </a:rPr>
              <a:t>VIESES · SURVIVORSHIP BIAS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566928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70432" y="566928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Você testou sua estratégia em todas as ações do Ibovespa. Mas o Ibovespa de hoje é o mesmo de 2010?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w="9525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O Ibovespa de 2010 tinha empresas que faliram, foram deslistadas ou saíram do índice. Se você usou a composição atual, testou só nos vencedores — o survivorship bias.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CC"/>
                </a:solidFill>
              </a:rPr>
              <a:t>Ibovespa 2010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CC"/>
                </a:solidFill>
              </a:rPr>
              <a:t>Ibovespa hoje (se você usar a composição atual)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419856"/>
            <a:ext cx="1188720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PETR4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0" y="3419856"/>
            <a:ext cx="1188720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VALE3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44368" y="3419856"/>
            <a:ext cx="1188720" cy="365760"/>
          </a:xfrm>
          <a:prstGeom prst="rect">
            <a:avLst/>
          </a:prstGeom>
          <a:solidFill>
            <a:srgbClr val="2E1A1A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44368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OGX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895344"/>
            <a:ext cx="1188720" cy="365760"/>
          </a:xfrm>
          <a:prstGeom prst="rect">
            <a:avLst/>
          </a:prstGeom>
          <a:solidFill>
            <a:srgbClr val="2E1A1A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895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PDVL4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0" y="3895344"/>
            <a:ext cx="1188720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3895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ITUB4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44368" y="3895344"/>
            <a:ext cx="1188720" cy="365760"/>
          </a:xfrm>
          <a:prstGeom prst="rect">
            <a:avLst/>
          </a:prstGeom>
          <a:solidFill>
            <a:srgbClr val="2E1A1A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3895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OGXP3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4370832"/>
            <a:ext cx="1188720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370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WEGE3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0" y="4370832"/>
            <a:ext cx="1188720" cy="365760"/>
          </a:xfrm>
          <a:prstGeom prst="rect">
            <a:avLst/>
          </a:prstGeom>
          <a:solidFill>
            <a:srgbClr val="2E1A1A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4370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BRT3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44368" y="4370832"/>
            <a:ext cx="1188720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4370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BBDC4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419856"/>
            <a:ext cx="1060704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419856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PETR4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9632" y="3419856"/>
            <a:ext cx="1060704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419856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VALE3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70064" y="3419856"/>
            <a:ext cx="1060704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0064" y="3419856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ITUB4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3895344"/>
            <a:ext cx="1060704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89534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WEGE3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9632" y="3895344"/>
            <a:ext cx="1060704" cy="365760"/>
          </a:xfrm>
          <a:prstGeom prst="rect">
            <a:avLst/>
          </a:prstGeom>
          <a:solidFill>
            <a:srgbClr val="1A2E1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389534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BBDC4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69080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7706"/>
                </a:solidFill>
              </a:rPr>
              <a:t>→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347472" y="4754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Você vê isso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0" y="4754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A34A"/>
                </a:solidFill>
              </a:rPr>
              <a:t>Mas testa só isso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2FBE"/>
                </a:solidFill>
              </a:rPr>
              <a:t>VIESES · SURVIVORSHIP BIAS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Survivorship Bias: testando só nos vencedores</a:t>
            </a:r>
            <a:endParaRPr lang="en-US" sz="3400" dirty="0"/>
          </a:p>
        </p:txBody>
      </p:sp>
      <p:sp>
        <p:nvSpPr>
          <p:cNvPr id="41" name="Shape 39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Se sua base de dados contém só ativos que ainda existem hoje, você removeu silenciosamente todas as empresas que faliram ou foram deslistadas. Seu backtest nunca vai comprar uma OGX — mas sua estratégia ao vivo compraria.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47472" y="2029968"/>
            <a:ext cx="4251960" cy="2724912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2148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Impacto no resultado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12064" y="2404872"/>
            <a:ext cx="391363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6" name="Shape 44"/>
          <p:cNvSpPr/>
          <p:nvPr/>
        </p:nvSpPr>
        <p:spPr>
          <a:xfrm>
            <a:off x="512064" y="2542032"/>
            <a:ext cx="39136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2064" y="2542032"/>
            <a:ext cx="45720" cy="5303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25968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Retorno médio (com survivorship)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0080" y="27980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+22% a.a.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2064" y="3163824"/>
            <a:ext cx="39136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" y="3163824"/>
            <a:ext cx="45720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32186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Retorno médio (universo completo)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0080" y="34198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+9% a.a.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12064" y="3785616"/>
            <a:ext cx="39136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2064" y="3785616"/>
            <a:ext cx="45720" cy="5303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Diferença estimada do viés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0080" y="40416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+13 p.p.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47472" y="4224528"/>
            <a:ext cx="8458200" cy="621792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7472" y="4224528"/>
            <a:ext cx="54864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0" name="Text 58"/>
          <p:cNvSpPr/>
          <p:nvPr/>
        </p:nvSpPr>
        <p:spPr>
          <a:xfrm>
            <a:off x="512064" y="42976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⚠  Estudos académicos estimam que o survivorship bias infla retornos de estratégias long-only em 10-15 p.p. ao ano em média.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82312" y="2029968"/>
            <a:ext cx="4014216" cy="777240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01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946904" y="215798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Como acontece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946904" y="2468880"/>
            <a:ext cx="368503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5" name="Text 63"/>
          <p:cNvSpPr/>
          <p:nvPr/>
        </p:nvSpPr>
        <p:spPr>
          <a:xfrm>
            <a:off x="4946904" y="2532888"/>
            <a:ext cx="3685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Você baixa os tickers do Ibovespa atual e testa de 2010 até hoje. As empresas que saíram do índice (ou faliram) simplesmente não existem na sua base.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82312" y="2889504"/>
            <a:ext cx="4014216" cy="777240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2480" y="298094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946904" y="30175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Como detectar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946904" y="3328416"/>
            <a:ext cx="368503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0" name="Text 68"/>
          <p:cNvSpPr/>
          <p:nvPr/>
        </p:nvSpPr>
        <p:spPr>
          <a:xfrm>
            <a:off x="4946904" y="3392424"/>
            <a:ext cx="3685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Verifique se sua base tem ativos que foram deslistados. Se não tiver nenhuma empresa falida no universo, você tem survivorship bias.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782312" y="3749040"/>
            <a:ext cx="4014216" cy="777240"/>
          </a:xfrm>
          <a:prstGeom prst="rect">
            <a:avLst/>
          </a:prstGeom>
          <a:solidFill>
            <a:srgbClr val="EFEFEF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12480" y="384048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946904" y="387705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</a:rPr>
              <a:t>Como corrigir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46904" y="4187952"/>
            <a:ext cx="368503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5" name="Text 73"/>
          <p:cNvSpPr/>
          <p:nvPr/>
        </p:nvSpPr>
        <p:spPr>
          <a:xfrm>
            <a:off x="4946904" y="4251960"/>
            <a:ext cx="3685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Use bases de dados com histórico point-in-time — que preservam a composição do índice em cada data. Ex: Refinitiv, Compustat, B3 histórico.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B59D0"/>
                </a:solidFill>
              </a:rPr>
              <a:t>VIESES · OVERFITTING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566928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70432" y="566928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Você testou 500 combinações de parâmetros e a melhor deu Sharpe 4.1. Esse resultado é confiável?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w="9525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Não. Ao testar 500 combinações, você tem 500 tentativas de encontrar uma que funcione por puro acaso no histórico. Isso chama overfitting — ou p-hacking em pesquisa quantitativa.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134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3466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8797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9459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4790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30122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65453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00784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36115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71446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6778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2109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2771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48102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3434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18765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54096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9427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24758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60090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95421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30752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66083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01414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36746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72077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7408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42739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78070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13402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48733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84064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19395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54726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90058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25389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0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96051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31382" y="3218688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66714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2045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37376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72707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08038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43370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78701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14032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49363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84694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20026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55357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90688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26019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61350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196682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32013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467344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02675" y="321868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7472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2803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3466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8797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4128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59459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294790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430122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565453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00784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36115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971446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06778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242109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377440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512771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648102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83434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918765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54096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9427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4758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60090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595421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30752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66083" y="3419856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01414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36746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272077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407408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542739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678070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813402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48733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084064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19395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354726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490058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625389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60720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896051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31382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166714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302045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37376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572707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708038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843370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978701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114032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249363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84694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520026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655357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790688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926019" y="3419856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61350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196682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332013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467344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02675" y="341985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47472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2803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18134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53466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88797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24128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59459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294790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430122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565453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700784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836115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971446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106778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242109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377440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512771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648102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83434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918765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054096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189427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324758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460090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595421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730752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866083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001414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136746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272077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407408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542739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678070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813402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948733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084064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219395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354726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490058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625389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760720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896051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031382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166714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02045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37376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572707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708038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3370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978701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14032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249363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84694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520026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655357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790688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926019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061350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196682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332013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467344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602675" y="362102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47472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82803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18134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53466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88797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24128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159459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294790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430122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565453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700784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836115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971446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106778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242109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377440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512771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2648102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783434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918765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054096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189427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324758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460090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595421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730752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866083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001414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136746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272077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407408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542739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678070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813402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948733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084064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5219395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5354726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490058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625389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760720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896051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031382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166714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302045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437376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572707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708038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843370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978701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114032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249363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384694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520026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655357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790688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926019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061350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196682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332013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467344" y="3822192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602675" y="3822192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47472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82803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18134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3466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88797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24128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159459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294790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430122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565453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700784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836115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971446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106778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2242109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2377440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2512771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648102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2783434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2918765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054096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189427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324758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460090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595421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730752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866083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001414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4136746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4272077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4407408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542739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4678070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813402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4948733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5084064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219395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354726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490058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625389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760720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896051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6031382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6166714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6302045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6437376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6572707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6708038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6843370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6978701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7114032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7249363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7384694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7520026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7655357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7790688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7926019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8061350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8196682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8332013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8467344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8602675" y="4023360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347472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482803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618134" y="4224528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753466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888797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24128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59459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294790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430122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565453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700784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836115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971446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2106778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242109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2377440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512771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648102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783434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918765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3054096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3189427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3324758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3460090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3595421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3730752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3866083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4001414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4136746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4272077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4407408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4542739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4678070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4813402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4948733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5084064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5219395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5354726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5490058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5625389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5760720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5896051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031382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166714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302045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437376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572707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708038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843370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978701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7114032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7249363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7384694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7520026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7655357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7790688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7926019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8061350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8196682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8332013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8467344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8602675" y="4224528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347472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482803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618134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753466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888797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1024128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1159459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1294790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1430122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1565453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700784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1836115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1971446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2106778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2242109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2377440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2512771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2648102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2783434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2918765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3054096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3189427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3324758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3460090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3595421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730752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3866083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4001414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4136746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4272077" y="4425696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4407408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4542739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4678070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4813402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4948733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5084064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5219395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5354726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5490058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5625389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5760720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5896051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6031382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6166714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6302045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6437376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6572707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6708038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6843370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6978701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7114032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7249363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7384694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7520026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7655357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790688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7926019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8061350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8196682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8332013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8467344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8602675" y="4425696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347472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482803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618134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753466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888797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1024128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1159459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1294790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1430122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1565453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1700784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1836115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1971446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2106778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2242109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2377440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2512771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2648102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2783434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2918765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3054096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3189427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3324758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3460090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3595421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3730752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3866083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4001414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4136746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4272077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4407408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4542739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4678070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4813402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4948733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5084064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5219395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5354726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5490058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5625389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5760720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5896051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6031382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6166714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6302045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6437376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6572707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6708038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6843370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6978701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7114032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7249363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7384694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7520026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7655357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7790688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7926019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8061350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8196682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8332013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8467344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8602675" y="4626864"/>
            <a:ext cx="82296" cy="82296"/>
          </a:xfrm>
          <a:prstGeom prst="ellipse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06" name="Text 504"/>
          <p:cNvSpPr/>
          <p:nvPr/>
        </p:nvSpPr>
        <p:spPr>
          <a:xfrm>
            <a:off x="347472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CC"/>
                </a:solidFill>
              </a:rPr>
              <a:t>Cada ponto = 1 combinação de parâmetros testada</a:t>
            </a:r>
            <a:endParaRPr lang="en-US" sz="950" dirty="0"/>
          </a:p>
        </p:txBody>
      </p:sp>
      <p:sp>
        <p:nvSpPr>
          <p:cNvPr id="507" name="Text 505"/>
          <p:cNvSpPr/>
          <p:nvPr/>
        </p:nvSpPr>
        <p:spPr>
          <a:xfrm>
            <a:off x="512064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</a:rPr>
              <a:t>🥇 Melhor combinação (Sharpe 4.1)</a:t>
            </a:r>
            <a:endParaRPr lang="en-US" sz="950" dirty="0"/>
          </a:p>
        </p:txBody>
      </p:sp>
      <p:sp>
        <p:nvSpPr>
          <p:cNvPr id="508" name="Shape 506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09" name="Text 507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2FBE"/>
                </a:solidFill>
              </a:rPr>
              <a:t>VIESES · OVERFITTING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Overfitting: decorar o passado em vez de aprender</a:t>
            </a:r>
            <a:endParaRPr lang="en-US" sz="3400" dirty="0"/>
          </a:p>
        </p:txBody>
      </p:sp>
      <p:sp>
        <p:nvSpPr>
          <p:cNvPr id="41" name="Shape 39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Overfitting é quando o modelo se ajusta tão bem ao histórico que perde poder preditivo. Ele aprendeu o ruído específico daquele período — não um padrão real. Em produção, o resultado desmorona.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47472" y="2029968"/>
            <a:ext cx="4251960" cy="2724912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2148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Sinal clássico de overfitting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12064" y="2404872"/>
            <a:ext cx="391363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6" name="Shape 44"/>
          <p:cNvSpPr/>
          <p:nvPr/>
        </p:nvSpPr>
        <p:spPr>
          <a:xfrm>
            <a:off x="594360" y="2542032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2542032"/>
            <a:ext cx="45720" cy="5669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25968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In-sample (treino)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1520" y="2816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Sharpe: 4.1  |  Retorno: +82%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94360" y="3255264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3255264"/>
            <a:ext cx="4572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3310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Out-of-sample (teste)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1520" y="35295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Sharpe: 0.3  |  Retorno: +4%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94360" y="3950208"/>
            <a:ext cx="3749040" cy="713232"/>
          </a:xfrm>
          <a:prstGeom prst="rect">
            <a:avLst/>
          </a:prstGeom>
          <a:solidFill>
            <a:srgbClr val="FFF8E1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400507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 colapso de Sharpe 4.1 → 0.3 entre treino e teste é o sintoma clássico. O modelo decorou o passado — não aprendeu um padrão generalizável.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82312" y="2029968"/>
            <a:ext cx="4014216" cy="777240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01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946904" y="215798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Walk-forward analysis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946904" y="2468880"/>
            <a:ext cx="368503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0" name="Text 58"/>
          <p:cNvSpPr/>
          <p:nvPr/>
        </p:nvSpPr>
        <p:spPr>
          <a:xfrm>
            <a:off x="4946904" y="2532888"/>
            <a:ext cx="3685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Divide o histórico em janelas: treina em uma, testa na próxima, avança. Replica como a estratégia rodaria ao vivo.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82312" y="2889504"/>
            <a:ext cx="4014216" cy="777240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0" y="298094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02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946904" y="30175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Out-of-sample obrigatório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946904" y="3328416"/>
            <a:ext cx="368503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5" name="Text 63"/>
          <p:cNvSpPr/>
          <p:nvPr/>
        </p:nvSpPr>
        <p:spPr>
          <a:xfrm>
            <a:off x="4946904" y="3392424"/>
            <a:ext cx="3685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Reserve 20-30% do histórico e só olhe para ele depois de finalizar todos os parâmetros. Nunca use no desenvolvimento.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82312" y="3749040"/>
            <a:ext cx="4014216" cy="777240"/>
          </a:xfrm>
          <a:prstGeom prst="rect">
            <a:avLst/>
          </a:prstGeom>
          <a:solidFill>
            <a:srgbClr val="EFEFEF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2480" y="384048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946904" y="387705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</a:rPr>
              <a:t>Menos parâmetros livres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946904" y="4187952"/>
            <a:ext cx="368503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0" name="Text 68"/>
          <p:cNvSpPr/>
          <p:nvPr/>
        </p:nvSpPr>
        <p:spPr>
          <a:xfrm>
            <a:off x="4946904" y="4251960"/>
            <a:ext cx="3685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Cada parâmetro livre é uma oportunidade de overfitting. Estratégias robustas funcionam com configurações simples e amplas.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2FBE"/>
                </a:solidFill>
              </a:rPr>
              <a:t>VIESES DE BACKTESTING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Os três inimigos de qualquer backtest</a:t>
            </a:r>
            <a:endParaRPr lang="en-US" sz="3400" dirty="0"/>
          </a:p>
        </p:txBody>
      </p:sp>
      <p:sp>
        <p:nvSpPr>
          <p:cNvPr id="41" name="Shape 39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Qualquer um desses três vieses pode transformar uma estratégia medíocre em um backtest impressionante. A diferença entre um quant sênior e um iniciante é saber encontrá-los antes de ir para produção.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47472" y="2029968"/>
            <a:ext cx="2743200" cy="2852928"/>
          </a:xfrm>
          <a:prstGeom prst="rect">
            <a:avLst/>
          </a:prstGeom>
          <a:solidFill>
            <a:srgbClr val="EFEFE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" y="2029968"/>
            <a:ext cx="27432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" y="20665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🔮 Look-Ahead Bias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743200" y="20665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4632" y="246888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C2626"/>
                </a:solidFill>
              </a:rPr>
              <a:t>CAUSA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4632" y="26334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Usar informação futura na decisão presente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4632" y="316382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C2626"/>
                </a:solidFill>
              </a:rPr>
              <a:t>SINTOMA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4632" y="332841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Backtest perfeito, produção zero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4632" y="385876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6A34A"/>
                </a:solidFill>
              </a:rPr>
              <a:t>CORREÇÃO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4632" y="40233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Usar .shift(1) no sinal. Nunca usar dado do mesmo candle para decidir.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2029968"/>
            <a:ext cx="2743200" cy="2852928"/>
          </a:xfrm>
          <a:prstGeom prst="rect">
            <a:avLst/>
          </a:prstGeom>
          <a:solidFill>
            <a:srgbClr val="EFEFE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0" y="2029968"/>
            <a:ext cx="2743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0665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💀 Survivorship Bias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596128" y="20665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337560" y="246888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</a:rPr>
              <a:t>CAUSA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337560" y="26334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Testar só em ativos que ainda existem hoje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37560" y="316382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C2626"/>
                </a:solidFill>
              </a:rPr>
              <a:t>SINTOMA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337560" y="332841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Retorno inflado em 10–15 p.p. ao ano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337560" y="385876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6A34A"/>
                </a:solidFill>
              </a:rPr>
              <a:t>CORREÇÃO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37560" y="40233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Usar base point-in-time com ativos deslistados e falidos incluídos.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053328" y="2029968"/>
            <a:ext cx="2743200" cy="2852928"/>
          </a:xfrm>
          <a:prstGeom prst="rect">
            <a:avLst/>
          </a:prstGeom>
          <a:solidFill>
            <a:srgbClr val="EFEFEF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53328" y="2029968"/>
            <a:ext cx="274320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90488" y="20665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Overfitting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449056" y="20665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190488" y="246888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B2FBE"/>
                </a:solidFill>
              </a:rPr>
              <a:t>CAUSA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190488" y="26334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Otimizar parâmetros excessivamente no histórico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190488" y="316382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C2626"/>
                </a:solidFill>
              </a:rPr>
              <a:t>SINTOMA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190488" y="332841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Sharpe alto in-sample, colapso out-of-sample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190488" y="385876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6A34A"/>
                </a:solidFill>
              </a:rPr>
              <a:t>CORREÇÃO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190488" y="40233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Walk-forward, out-of-sample virgem e poucos parâmetros livres.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47472" y="4919472"/>
            <a:ext cx="845820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4" name="Shape 72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B59D0"/>
                </a:solidFill>
              </a:rPr>
              <a:t>BACKTRADER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566928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566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70432" y="566928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Você entendeu os vieses. Como rodar um backtest real em Python sem cometê-los?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w="9525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Backtrader é um framework Python que estrutura o backtest de forma que os vieses mais comuns se tornam difíceis de cometer — o dado de cada candle só é acessível após o fechamento.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" y="3218688"/>
            <a:ext cx="4114800" cy="804672"/>
          </a:xfrm>
          <a:prstGeom prst="rect">
            <a:avLst/>
          </a:prstGeom>
          <a:solidFill>
            <a:srgbClr val="25254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3218688"/>
            <a:ext cx="4114800" cy="457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BE"/>
                </a:solidFill>
              </a:rPr>
              <a:t>Event-driven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3621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</a:rPr>
              <a:t>Simula tick a tick — cada dado novo dispara a lógica da estratégia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36592" y="3218688"/>
            <a:ext cx="4114800" cy="804672"/>
          </a:xfrm>
          <a:prstGeom prst="rect">
            <a:avLst/>
          </a:prstGeom>
          <a:solidFill>
            <a:srgbClr val="25254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3218688"/>
            <a:ext cx="411480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873752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Sem look-ahead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3752" y="3621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</a:rPr>
              <a:t>Só acessa o candle fechado. bar[0] = hoje (fechado), bar[-1] = ontem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4279392"/>
            <a:ext cx="4114800" cy="804672"/>
          </a:xfrm>
          <a:prstGeom prst="rect">
            <a:avLst/>
          </a:prstGeom>
          <a:solidFill>
            <a:srgbClr val="25254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279392"/>
            <a:ext cx="4114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Indicadores built-in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" y="4681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</a:rPr>
              <a:t>SMA, EMA, RSI, Bollinger Bands já implementados e anti-bias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4279392"/>
            <a:ext cx="4114800" cy="804672"/>
          </a:xfrm>
          <a:prstGeom prst="rect">
            <a:avLst/>
          </a:prstGeom>
          <a:solidFill>
            <a:srgbClr val="25254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4279392"/>
            <a:ext cx="41148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Métricas automáticas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73752" y="4681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</a:rPr>
              <a:t>Sharpe, drawdown, retorno anual calculados automaticamente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2FBE"/>
                </a:solidFill>
              </a:rPr>
              <a:t>BACKTRADER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Anatomia de uma estratégia: os 3 blocos obrigatórios</a:t>
            </a:r>
            <a:endParaRPr lang="en-US" sz="3400" dirty="0"/>
          </a:p>
        </p:txBody>
      </p:sp>
      <p:sp>
        <p:nvSpPr>
          <p:cNvPr id="41" name="Shape 39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Toda estratégia no Backtrader herda de bt.Strategy e implementa três métodos. Entender esses três métodos é tudo que você precisa para rodar o primeiro backtest.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47472" y="1901952"/>
            <a:ext cx="5074920" cy="285292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2039112"/>
            <a:ext cx="48006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MinhaEstrategia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(bt.</a:t>
            </a:r>
            <a:pPr indent="0" marL="0"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
</a:t>
            </a:r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1. Definir indicadores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</a:t>
            </a:r>
            <a:pPr indent="0" marL="0"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sma20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bt.ind.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(period=</a:t>
            </a:r>
            <a:pPr indent="0" marL="0">
              <a:buNone/>
            </a:pPr>
            <a:r>
              <a:rPr lang="en-US" sz="1050" dirty="0">
                <a:solidFill>
                  <a:srgbClr val="FF5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</a:t>
            </a:r>
            <a:pPr indent="0" marL="0"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sma200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bt.ind.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(period=</a:t>
            </a:r>
            <a:pPr indent="0" marL="0">
              <a:buNone/>
            </a:pPr>
            <a:r>
              <a:rPr lang="en-US" sz="1050" dirty="0">
                <a:solidFill>
                  <a:srgbClr val="FF5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
</a:t>
            </a:r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2. Lógica de trading (roda a cada candle)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</a:t>
            </a:r>
            <a:pPr indent="0" marL="0"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sma20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 &gt; self.</a:t>
            </a:r>
            <a:pPr indent="0" marL="0"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sma200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notify_trade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trade):
</a:t>
            </a:r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3. Callback de trade executado (opcional)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trade.</a:t>
            </a:r>
            <a:pPr indent="0" marL="0"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isclosed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"P&amp;L: {trade.pnl:.2f}"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05272" y="2029968"/>
            <a:ext cx="3191256" cy="777240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769864" y="2157984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__init__: indicadores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769864" y="2468880"/>
            <a:ext cx="286207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9" name="Text 47"/>
          <p:cNvSpPr/>
          <p:nvPr/>
        </p:nvSpPr>
        <p:spPr>
          <a:xfrm>
            <a:off x="5769864" y="2532888"/>
            <a:ext cx="2862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Chamado uma vez antes do backtest. Declare aqui todos os indicadores. O Backtrader garante que só usam dados passados — zero look-ahead.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05272" y="2889504"/>
            <a:ext cx="3191256" cy="777240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298094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769864" y="30175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next(): lógica de trading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769864" y="3328416"/>
            <a:ext cx="286207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4" name="Text 52"/>
          <p:cNvSpPr/>
          <p:nvPr/>
        </p:nvSpPr>
        <p:spPr>
          <a:xfrm>
            <a:off x="5769864" y="3392424"/>
            <a:ext cx="2862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Chamado a cada novo candle fechado. self.sma20[0] = valor de hoje, self.sma20[-1] = ontem. Impossível acessar o futuro.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05272" y="3749040"/>
            <a:ext cx="3191256" cy="777240"/>
          </a:xfrm>
          <a:prstGeom prst="rect">
            <a:avLst/>
          </a:prstGeom>
          <a:solidFill>
            <a:srgbClr val="EFEFEF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384048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69864" y="38770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</a:rPr>
              <a:t>bar[0] vs bar[-1]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769864" y="4187952"/>
            <a:ext cx="286207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9" name="Text 57"/>
          <p:cNvSpPr/>
          <p:nvPr/>
        </p:nvSpPr>
        <p:spPr>
          <a:xfrm>
            <a:off x="5769864" y="4251960"/>
            <a:ext cx="2862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Indexação intuitiva e anti-bias: [0] é o candle atual (já fechado), [-1] é o anterior. Nunca há acesso ao [+1] — ele ainda não existe.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2FBE"/>
                </a:solidFill>
              </a:rPr>
              <a:t>BACKTRADER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420624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Rodando o Cerebro: dados, estratégia e métricas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347472" y="1298448"/>
            <a:ext cx="8458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13716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O Cerebro é o orquestrador do Backtrader. Você adiciona dados, a estratégia e os analisadores de métricas — e ele roda a simulação completa.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47472" y="1901952"/>
            <a:ext cx="5074920" cy="285292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2039112"/>
            <a:ext cx="48006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Adicionar dados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bt.feeds.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PandasData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(dataname=df)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cerebro.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adddata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
</a:t>
            </a:r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Adicionar a estratégia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cerebro.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addstrategy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(MinhaEstrategia)
</a:t>
            </a:r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Capital inicial e comissão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cerebro.broker.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setcash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F5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100_000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cerebro.broker.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setcommission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(commission=</a:t>
            </a:r>
            <a:pPr indent="0" marL="0">
              <a:buNone/>
            </a:pPr>
            <a:r>
              <a:rPr lang="en-US" sz="1050" dirty="0">
                <a:solidFill>
                  <a:srgbClr val="FF5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Analisadores de métricas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cerebro.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addanalyzer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(bt.analyzers.</a:t>
            </a:r>
            <a:pPr indent="0" marL="0"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SharpeRatio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_name=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"sharpe"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riskfreerate=</a:t>
            </a:r>
            <a:pPr indent="0" marL="0">
              <a:buNone/>
            </a:pPr>
            <a:r>
              <a:rPr lang="en-US" sz="1050" dirty="0">
                <a:solidFill>
                  <a:srgbClr val="FF5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0.105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cerebro.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addanalyzer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(bt.analyzers.</a:t>
            </a:r>
            <a:pPr indent="0" marL="0"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DrawDown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,_name="dd")
</a:t>
            </a:r>
            <a:pPr indent="0" marL="0">
              <a:buNone/>
            </a:pPr>
            <a:r>
              <a:rPr lang="en-US" sz="105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Rodar!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cerebro.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cerebro.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05272" y="2157984"/>
            <a:ext cx="3191256" cy="804672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22494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769864" y="228600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bt.feeds.PandasData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769864" y="2596896"/>
            <a:ext cx="286207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9" name="Text 47"/>
          <p:cNvSpPr/>
          <p:nvPr/>
        </p:nvSpPr>
        <p:spPr>
          <a:xfrm>
            <a:off x="5769864" y="266090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Converte qualquer DataFrame com OHLCV para o formato do Backtrader. Colunas precisam se chamar open, high, low, close, volume.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05272" y="3044952"/>
            <a:ext cx="3191256" cy="804672"/>
          </a:xfrm>
          <a:prstGeom prst="rect">
            <a:avLst/>
          </a:prstGeom>
          <a:solidFill>
            <a:srgbClr val="EFEFE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31363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769864" y="317296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cerebro.broker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769864" y="3483864"/>
            <a:ext cx="286207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4" name="Text 52"/>
          <p:cNvSpPr/>
          <p:nvPr/>
        </p:nvSpPr>
        <p:spPr>
          <a:xfrm>
            <a:off x="5769864" y="354787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Configura capital inicial e comissão por trade. Sem isso, você ignora custos reais — outro viés comum em backtests.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05272" y="3931920"/>
            <a:ext cx="3191256" cy="804672"/>
          </a:xfrm>
          <a:prstGeom prst="rect">
            <a:avLst/>
          </a:prstGeom>
          <a:solidFill>
            <a:srgbClr val="EFEFEF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40233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03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69864" y="405993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</a:rPr>
              <a:t>addanalyzer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769864" y="4370832"/>
            <a:ext cx="2862072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9" name="Text 57"/>
          <p:cNvSpPr/>
          <p:nvPr/>
        </p:nvSpPr>
        <p:spPr>
          <a:xfrm>
            <a:off x="5769864" y="4434840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Sharpe, Drawdown, Returns calculados automaticamente ao final. Acesse com results[0].analyzers.sharpe.get_analysis().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2FBE"/>
                </a:solidFill>
              </a:rPr>
              <a:t>BACKTESTING · RESUMO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</a:rPr>
              <a:t>O que você sabe agora que não sabia antes</a:t>
            </a:r>
            <a:endParaRPr lang="en-US" sz="3400" dirty="0"/>
          </a:p>
        </p:txBody>
      </p:sp>
      <p:sp>
        <p:nvSpPr>
          <p:cNvPr id="41" name="Shape 39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Um backtest honesto é tão difícil quanto uma boa estratégia. Entender os vieses e usar um framework robusto como o Backtrader é o que separa análise séria de auto-ilusão quantitativa.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47472" y="2029968"/>
            <a:ext cx="2743200" cy="1188720"/>
          </a:xfrm>
          <a:prstGeom prst="rect">
            <a:avLst/>
          </a:prstGeom>
          <a:solidFill>
            <a:srgbClr val="EFEFE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" y="2029968"/>
            <a:ext cx="45720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0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01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" y="2084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Look-Ahead Bias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84632" y="2304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Futuro no passado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" y="2505456"/>
            <a:ext cx="24688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9" name="Text 47"/>
          <p:cNvSpPr/>
          <p:nvPr/>
        </p:nvSpPr>
        <p:spPr>
          <a:xfrm>
            <a:off x="484632" y="257860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Use .shift(1) no sinal. bar[0] é hoje — fechado. bar[-1] é ontem. Nunca use dado do mesmo candle para decidir a entrada.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0" y="2029968"/>
            <a:ext cx="2743200" cy="1188720"/>
          </a:xfrm>
          <a:prstGeom prst="rect">
            <a:avLst/>
          </a:prstGeom>
          <a:solidFill>
            <a:srgbClr val="EFEFE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0" y="2029968"/>
            <a:ext cx="45720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5596128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02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337560" y="2084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Survivorship Bias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3337560" y="2304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Só os vencedores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37560" y="2505456"/>
            <a:ext cx="24688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6" name="Text 54"/>
          <p:cNvSpPr/>
          <p:nvPr/>
        </p:nvSpPr>
        <p:spPr>
          <a:xfrm>
            <a:off x="3337560" y="257860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Infla retornos em 10–15 p.p. ao ano. Exige base point-in-time com ativos falidos e deslistados incluídos.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053328" y="2029968"/>
            <a:ext cx="2743200" cy="1188720"/>
          </a:xfrm>
          <a:prstGeom prst="rect">
            <a:avLst/>
          </a:prstGeom>
          <a:solidFill>
            <a:srgbClr val="EFEFEF"/>
          </a:solidFill>
          <a:ln w="9525">
            <a:solidFill>
              <a:srgbClr val="7B2FB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53328" y="2029968"/>
            <a:ext cx="45720" cy="11887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59" name="Text 57"/>
          <p:cNvSpPr/>
          <p:nvPr/>
        </p:nvSpPr>
        <p:spPr>
          <a:xfrm>
            <a:off x="8449056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03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90488" y="2084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2FBE"/>
                </a:solidFill>
              </a:rPr>
              <a:t>Overfitting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190488" y="2304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Decorar o histórico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90488" y="2505456"/>
            <a:ext cx="24688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3" name="Text 61"/>
          <p:cNvSpPr/>
          <p:nvPr/>
        </p:nvSpPr>
        <p:spPr>
          <a:xfrm>
            <a:off x="6190488" y="257860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Walk-forward obrigatório. Out-of-sample virgem. Menos parâmetros livres. Sharpe alto in-sample com colapso out = overfitting.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47472" y="3328416"/>
            <a:ext cx="2743200" cy="1188720"/>
          </a:xfrm>
          <a:prstGeom prst="rect">
            <a:avLst/>
          </a:prstGeom>
          <a:solidFill>
            <a:srgbClr val="EFEFE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47472" y="3328416"/>
            <a:ext cx="4572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0" y="3383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04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84632" y="33832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bt.Strategy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484632" y="36027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Herança obrigatória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84632" y="3803904"/>
            <a:ext cx="24688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0" name="Text 68"/>
          <p:cNvSpPr/>
          <p:nvPr/>
        </p:nvSpPr>
        <p:spPr>
          <a:xfrm>
            <a:off x="484632" y="3877056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__init__ para indicadores, next() para lógica de trading. Framework garante que só dados passados são acessíveis.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200400" y="3328416"/>
            <a:ext cx="2743200" cy="1188720"/>
          </a:xfrm>
          <a:prstGeom prst="rect">
            <a:avLst/>
          </a:prstGeom>
          <a:solidFill>
            <a:srgbClr val="EFEFE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0" y="3328416"/>
            <a:ext cx="4572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3" name="Text 71"/>
          <p:cNvSpPr/>
          <p:nvPr/>
        </p:nvSpPr>
        <p:spPr>
          <a:xfrm>
            <a:off x="5596128" y="3383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05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337560" y="33832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bt.Cerebro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3337560" y="36027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Orquestrador do backtest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337560" y="3803904"/>
            <a:ext cx="24688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7" name="Text 75"/>
          <p:cNvSpPr/>
          <p:nvPr/>
        </p:nvSpPr>
        <p:spPr>
          <a:xfrm>
            <a:off x="3337560" y="3877056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adddata, addstrategy, setcash, setcommission, addanalyzer, run(). Pipeline completo em menos de 15 linhas.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053328" y="3328416"/>
            <a:ext cx="2743200" cy="1188720"/>
          </a:xfrm>
          <a:prstGeom prst="rect">
            <a:avLst/>
          </a:prstGeom>
          <a:solidFill>
            <a:srgbClr val="EFEFE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53328" y="3328416"/>
            <a:ext cx="45720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0" name="Text 78"/>
          <p:cNvSpPr/>
          <p:nvPr/>
        </p:nvSpPr>
        <p:spPr>
          <a:xfrm>
            <a:off x="8449056" y="3383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06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190488" y="33832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Analisadores</a:t>
            </a:r>
            <a:endParaRPr lang="en-US" sz="1250" dirty="0"/>
          </a:p>
        </p:txBody>
      </p:sp>
      <p:sp>
        <p:nvSpPr>
          <p:cNvPr id="82" name="Text 80"/>
          <p:cNvSpPr/>
          <p:nvPr/>
        </p:nvSpPr>
        <p:spPr>
          <a:xfrm>
            <a:off x="6190488" y="36027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Métricas automáticas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190488" y="3803904"/>
            <a:ext cx="2468880" cy="1005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4" name="Text 82"/>
          <p:cNvSpPr/>
          <p:nvPr/>
        </p:nvSpPr>
        <p:spPr>
          <a:xfrm>
            <a:off x="6190488" y="3877056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SharpeRatio, DrawDown, Returns, TradeAnalyzer. Tudo calculado sem look-ahead e com comissão já descontada.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47472" y="4645152"/>
            <a:ext cx="845820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2064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Próxima aula: S8 · Backtesting II — Momentum, Mean Reversion, Walk-Forward Analysis e Relatório Padronizado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82880" y="4626864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8288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2026-05-12T23:37:53Z</dcterms:created>
  <dcterms:modified xsi:type="dcterms:W3CDTF">2026-05-12T23:37:53Z</dcterms:modified>
</cp:coreProperties>
</file>