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9a7d7d95a0_0_0:notes"/>
          <p:cNvSpPr/>
          <p:nvPr>
            <p:ph idx="2" type="sldImg"/>
          </p:nvPr>
        </p:nvSpPr>
        <p:spPr>
          <a:xfrm>
            <a:off x="285975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" name="Google Shape;17;g39a7d7d95a0_0_0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" name="Google Shape;38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3" name="Google Shape;40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6" name="Google Shape;46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5" name="Google Shape;54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0"/>
            <a:ext cx="9144000" cy="2730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/>
          <p:nvPr/>
        </p:nvSpPr>
        <p:spPr>
          <a:xfrm>
            <a:off x="0" y="27432"/>
            <a:ext cx="5029200" cy="5116200"/>
          </a:xfrm>
          <a:prstGeom prst="rect">
            <a:avLst/>
          </a:prstGeom>
          <a:solidFill>
            <a:srgbClr val="FAFAFA"/>
          </a:solidFill>
          <a:ln cap="flat" cmpd="sng" w="12700">
            <a:solidFill>
              <a:srgbClr val="FAFA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4"/>
          <p:cNvSpPr/>
          <p:nvPr/>
        </p:nvSpPr>
        <p:spPr>
          <a:xfrm>
            <a:off x="229170" y="226220"/>
            <a:ext cx="22800" cy="237750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/>
          <p:nvPr/>
        </p:nvSpPr>
        <p:spPr>
          <a:xfrm>
            <a:off x="264724" y="409100"/>
            <a:ext cx="69531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5800"/>
              <a:buFont typeface="Calibri"/>
              <a:buNone/>
            </a:pPr>
            <a:r>
              <a:rPr b="1" lang="en-US" sz="4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GESTÃO DE RISCO 2</a:t>
            </a:r>
            <a:endParaRPr b="1" i="0" sz="2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272330" y="1019643"/>
            <a:ext cx="4206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5800"/>
              <a:buFont typeface="Calibri"/>
              <a:buNone/>
            </a:pPr>
            <a:r>
              <a:rPr b="1" lang="en-US" sz="3700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Stress Testing</a:t>
            </a:r>
            <a:endParaRPr b="0" i="0" sz="3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366330" y="2027588"/>
            <a:ext cx="3200400" cy="16500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366330" y="2119028"/>
            <a:ext cx="4114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Núcleo de Análise Quantitativa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366330" y="2376865"/>
            <a:ext cx="4114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Liga de Mercado Financeiro · UFU · 2026.1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229180" y="2785846"/>
            <a:ext cx="41148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DIRETOR DE PESQUISA</a:t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229180" y="2932150"/>
            <a:ext cx="2560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Arthur Pires Lopes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2835220" y="2950438"/>
            <a:ext cx="1645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Eng. Elétrica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229180" y="3215614"/>
            <a:ext cx="4160400" cy="11100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229180" y="3252190"/>
            <a:ext cx="41148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GERENTE QUANT</a:t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229180" y="3398493"/>
            <a:ext cx="2560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João Emanuel Zilli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2835220" y="3416782"/>
            <a:ext cx="1645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Eng. da Computação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229180" y="3663670"/>
            <a:ext cx="4160400" cy="11100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229180" y="3700246"/>
            <a:ext cx="41148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ASSESSOR</a:t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229180" y="3846550"/>
            <a:ext cx="2560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Gustavo Kono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2835220" y="3864838"/>
            <a:ext cx="1645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Eng. da Computação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229180" y="4111726"/>
            <a:ext cx="4160400" cy="11100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229180" y="4148302"/>
            <a:ext cx="41148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ASSESSOR</a:t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229180" y="4294606"/>
            <a:ext cx="2560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Wilson Ribeiro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2824808" y="4312894"/>
            <a:ext cx="1645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Eng. da Computação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5029200" y="27432"/>
            <a:ext cx="4114800" cy="5116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5120640" y="457200"/>
            <a:ext cx="39318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EEEE"/>
              </a:buClr>
              <a:buSzPts val="38000"/>
              <a:buFont typeface="Calibri"/>
              <a:buNone/>
            </a:pPr>
            <a:r>
              <a:rPr b="1" i="0" lang="en-US" sz="38000" u="none" cap="none" strike="noStrike">
                <a:solidFill>
                  <a:srgbClr val="EEEEEE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endParaRPr b="0" i="0" sz="38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5029200" y="4709160"/>
            <a:ext cx="3931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Diretoria de Pesquisa · 2026.1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0" y="5116068"/>
            <a:ext cx="9144000" cy="2730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8" name="Google Shape;48;p4" title="LOGO COMPLETA - PRETO - PN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7428" y="-604075"/>
            <a:ext cx="3674899" cy="2067125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4"/>
          <p:cNvSpPr/>
          <p:nvPr/>
        </p:nvSpPr>
        <p:spPr>
          <a:xfrm>
            <a:off x="229180" y="4556596"/>
            <a:ext cx="4160400" cy="11100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229180" y="4593172"/>
            <a:ext cx="41148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ASSESSOR</a:t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229180" y="4739476"/>
            <a:ext cx="2560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Thiago Leal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2824808" y="4757764"/>
            <a:ext cx="1645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Ciências Econômicas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347472" y="128016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59D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9B59D0"/>
                </a:solidFill>
                <a:latin typeface="Calibri"/>
                <a:ea typeface="Calibri"/>
                <a:cs typeface="Calibri"/>
                <a:sym typeface="Calibri"/>
              </a:rPr>
              <a:t>STRESS TESTING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347472" y="347472"/>
            <a:ext cx="8458200" cy="11887"/>
          </a:xfrm>
          <a:prstGeom prst="rect">
            <a:avLst/>
          </a:prstGeom>
          <a:solidFill>
            <a:srgbClr val="3D3D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347472" y="695912"/>
            <a:ext cx="658500" cy="658500"/>
          </a:xfrm>
          <a:prstGeom prst="ellipse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347472" y="695912"/>
            <a:ext cx="6585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1170432" y="566928"/>
            <a:ext cx="76809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Seu portfólio rendeu 18% ao ano nos últimos 5 anos. Mas e se fosse 2008?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347472" y="2286000"/>
            <a:ext cx="8458200" cy="731520"/>
          </a:xfrm>
          <a:prstGeom prst="rect">
            <a:avLst/>
          </a:prstGeom>
          <a:solidFill>
            <a:srgbClr val="7B2FBE">
              <a:alpha val="20000"/>
            </a:srgbClr>
          </a:solidFill>
          <a:ln cap="flat" cmpd="sng" w="9525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512064" y="2340864"/>
            <a:ext cx="81381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Backtest e VaR são calculados com dados do passado recente. Stress testing faz uma pergunta diferente: como seu portfólio se comporta nos cenários que você mais teme?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347472" y="3218688"/>
            <a:ext cx="4114800" cy="1691640"/>
          </a:xfrm>
          <a:prstGeom prst="rect">
            <a:avLst/>
          </a:prstGeom>
          <a:solidFill>
            <a:srgbClr val="252545"/>
          </a:solidFill>
          <a:ln cap="flat" cmpd="sng" w="15225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530352" y="3310128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VaR histórico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530352" y="3621024"/>
            <a:ext cx="3749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4600"/>
              <a:buFont typeface="Calibri"/>
              <a:buNone/>
            </a:pPr>
            <a:r>
              <a:rPr b="1" i="0" lang="en-US" sz="46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-2,1%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530352" y="4242816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AACC"/>
                </a:solidFill>
                <a:latin typeface="Calibri"/>
                <a:ea typeface="Calibri"/>
                <a:cs typeface="Calibri"/>
                <a:sym typeface="Calibri"/>
              </a:rPr>
              <a:t>Perda máxima em 95% dos dias normais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4736592" y="3218688"/>
            <a:ext cx="4114800" cy="1691640"/>
          </a:xfrm>
          <a:prstGeom prst="rect">
            <a:avLst/>
          </a:prstGeom>
          <a:solidFill>
            <a:srgbClr val="252545"/>
          </a:solidFill>
          <a:ln cap="flat" cmpd="sng" w="15225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4919472" y="3310128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Crise de 2008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4919472" y="3621024"/>
            <a:ext cx="3749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4600"/>
              <a:buFont typeface="Calibri"/>
              <a:buNone/>
            </a:pPr>
            <a:r>
              <a:rPr b="1" i="0" lang="en-US" sz="46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-47%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4919472" y="4242816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AACC"/>
                </a:solidFill>
                <a:latin typeface="Calibri"/>
                <a:ea typeface="Calibri"/>
                <a:cs typeface="Calibri"/>
                <a:sym typeface="Calibri"/>
              </a:rPr>
              <a:t>Retorno acumulado do portfólio no período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4160520" y="3712464"/>
            <a:ext cx="804672" cy="804672"/>
          </a:xfrm>
          <a:prstGeom prst="ellipse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4160520" y="3712464"/>
            <a:ext cx="804672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"/>
          <p:cNvSpPr/>
          <p:nvPr/>
        </p:nvSpPr>
        <p:spPr>
          <a:xfrm>
            <a:off x="74797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6"/>
          <p:cNvSpPr/>
          <p:nvPr/>
        </p:nvSpPr>
        <p:spPr>
          <a:xfrm>
            <a:off x="77083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6"/>
          <p:cNvSpPr/>
          <p:nvPr/>
        </p:nvSpPr>
        <p:spPr>
          <a:xfrm>
            <a:off x="79369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6"/>
          <p:cNvSpPr/>
          <p:nvPr/>
        </p:nvSpPr>
        <p:spPr>
          <a:xfrm>
            <a:off x="81655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"/>
          <p:cNvSpPr/>
          <p:nvPr/>
        </p:nvSpPr>
        <p:spPr>
          <a:xfrm>
            <a:off x="83941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86227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"/>
          <p:cNvSpPr/>
          <p:nvPr/>
        </p:nvSpPr>
        <p:spPr>
          <a:xfrm>
            <a:off x="88513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6"/>
          <p:cNvSpPr/>
          <p:nvPr/>
        </p:nvSpPr>
        <p:spPr>
          <a:xfrm>
            <a:off x="74797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6"/>
          <p:cNvSpPr/>
          <p:nvPr/>
        </p:nvSpPr>
        <p:spPr>
          <a:xfrm>
            <a:off x="77083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79369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"/>
          <p:cNvSpPr/>
          <p:nvPr/>
        </p:nvSpPr>
        <p:spPr>
          <a:xfrm>
            <a:off x="81655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"/>
          <p:cNvSpPr/>
          <p:nvPr/>
        </p:nvSpPr>
        <p:spPr>
          <a:xfrm>
            <a:off x="83941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86227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6"/>
          <p:cNvSpPr/>
          <p:nvPr/>
        </p:nvSpPr>
        <p:spPr>
          <a:xfrm>
            <a:off x="88513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6"/>
          <p:cNvSpPr/>
          <p:nvPr/>
        </p:nvSpPr>
        <p:spPr>
          <a:xfrm>
            <a:off x="74797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6"/>
          <p:cNvSpPr/>
          <p:nvPr/>
        </p:nvSpPr>
        <p:spPr>
          <a:xfrm>
            <a:off x="77083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79369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81655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83941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86227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88513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74797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77083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79369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81655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"/>
          <p:cNvSpPr/>
          <p:nvPr/>
        </p:nvSpPr>
        <p:spPr>
          <a:xfrm>
            <a:off x="83941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86227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88513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74797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77083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"/>
          <p:cNvSpPr/>
          <p:nvPr/>
        </p:nvSpPr>
        <p:spPr>
          <a:xfrm>
            <a:off x="79369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81655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83941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86227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88513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"/>
          <p:cNvSpPr/>
          <p:nvPr/>
        </p:nvSpPr>
        <p:spPr>
          <a:xfrm>
            <a:off x="347472" y="128016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STRESS TESTING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347472" y="347472"/>
            <a:ext cx="8458200" cy="11887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347472" y="438912"/>
            <a:ext cx="77724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 que é e por que vai além do VaR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347472" y="1188720"/>
            <a:ext cx="8458200" cy="713232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512064" y="1261872"/>
            <a:ext cx="8138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VaR e CVaR medem o risco dentro da distribuição histórica normal. Stress testing sai dessa distribuição e pergunta: o que acontece em cenários extremos específicos</a:t>
            </a:r>
            <a:r>
              <a:rPr lang="en-US" sz="11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crises passadas reais ou choques hipotéticos definidos pelo analista?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347472" y="2029968"/>
            <a:ext cx="4251960" cy="2724912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512064" y="2157984"/>
            <a:ext cx="3931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1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bordagens complementares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512064" y="2414016"/>
            <a:ext cx="3913632" cy="1005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594360" y="254203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Stress Histórico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594360" y="2779776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Recorta os piores períodos reais (2008, COVID) e mede o impacto exato no portfólio. Usa dados reais</a:t>
            </a: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 sem suposição de distribuição.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594360" y="3200400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Análise de Cenários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594360" y="3438144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Define choques hipotéticos por fator de risco ('e se o petróleo cair 30%?') e calcula o impacto ponderado no portfólio.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594360" y="3858768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Monte Carlo Extremo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594360" y="4096512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Gera milhares de cenários aleatórios com volatilidade estressada (2x, 3x a vol normal) e observa a distribuição do tail.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4782312" y="2029968"/>
            <a:ext cx="4014216" cy="77724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"/>
          <p:cNvSpPr/>
          <p:nvPr/>
        </p:nvSpPr>
        <p:spPr>
          <a:xfrm>
            <a:off x="8412480" y="2121408"/>
            <a:ext cx="3291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4946904" y="2050379"/>
            <a:ext cx="3511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Limitação do VaR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4946904" y="2346928"/>
            <a:ext cx="3684900" cy="102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4946904" y="2482673"/>
            <a:ext cx="36849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VaR 95% é calibrado com dados do passado recente. Em crises, correlações mudam, volatilidade explode e o VaR histórico fica obsoleto em dias.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4782312" y="2889504"/>
            <a:ext cx="4014216" cy="77724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"/>
          <p:cNvSpPr/>
          <p:nvPr/>
        </p:nvSpPr>
        <p:spPr>
          <a:xfrm>
            <a:off x="8412480" y="2980944"/>
            <a:ext cx="3291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4946904" y="2909915"/>
            <a:ext cx="3511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 que stress testing faz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4946904" y="3206464"/>
            <a:ext cx="3684900" cy="102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"/>
          <p:cNvSpPr/>
          <p:nvPr/>
        </p:nvSpPr>
        <p:spPr>
          <a:xfrm>
            <a:off x="4946904" y="3320688"/>
            <a:ext cx="36849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Testa o portfólio contra os cenários que você mais teme, não contra a distribuição normal do passado. É a pergunta 'e se?' estruturada.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4782312" y="3749040"/>
            <a:ext cx="4014216" cy="77724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"/>
          <p:cNvSpPr/>
          <p:nvPr/>
        </p:nvSpPr>
        <p:spPr>
          <a:xfrm>
            <a:off x="8412480" y="3840480"/>
            <a:ext cx="3291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4946904" y="3769451"/>
            <a:ext cx="3511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Quem exige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4946904" y="4087521"/>
            <a:ext cx="3684900" cy="102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"/>
          <p:cNvSpPr/>
          <p:nvPr/>
        </p:nvSpPr>
        <p:spPr>
          <a:xfrm>
            <a:off x="4946904" y="4158703"/>
            <a:ext cx="36849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Basileia III exige stress testing periódico em bancos. Fundos de pensão usam para sizing. Gestores usam antes de alocar capital novo.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"/>
          <p:cNvSpPr/>
          <p:nvPr/>
        </p:nvSpPr>
        <p:spPr>
          <a:xfrm>
            <a:off x="74797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77083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"/>
          <p:cNvSpPr/>
          <p:nvPr/>
        </p:nvSpPr>
        <p:spPr>
          <a:xfrm>
            <a:off x="79369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81655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83941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86227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88513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"/>
          <p:cNvSpPr/>
          <p:nvPr/>
        </p:nvSpPr>
        <p:spPr>
          <a:xfrm>
            <a:off x="74797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77083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"/>
          <p:cNvSpPr/>
          <p:nvPr/>
        </p:nvSpPr>
        <p:spPr>
          <a:xfrm>
            <a:off x="79369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"/>
          <p:cNvSpPr/>
          <p:nvPr/>
        </p:nvSpPr>
        <p:spPr>
          <a:xfrm>
            <a:off x="81655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83941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"/>
          <p:cNvSpPr/>
          <p:nvPr/>
        </p:nvSpPr>
        <p:spPr>
          <a:xfrm>
            <a:off x="86227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"/>
          <p:cNvSpPr/>
          <p:nvPr/>
        </p:nvSpPr>
        <p:spPr>
          <a:xfrm>
            <a:off x="88513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74797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"/>
          <p:cNvSpPr/>
          <p:nvPr/>
        </p:nvSpPr>
        <p:spPr>
          <a:xfrm>
            <a:off x="77083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"/>
          <p:cNvSpPr/>
          <p:nvPr/>
        </p:nvSpPr>
        <p:spPr>
          <a:xfrm>
            <a:off x="79369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"/>
          <p:cNvSpPr/>
          <p:nvPr/>
        </p:nvSpPr>
        <p:spPr>
          <a:xfrm>
            <a:off x="81655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83941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86227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"/>
          <p:cNvSpPr/>
          <p:nvPr/>
        </p:nvSpPr>
        <p:spPr>
          <a:xfrm>
            <a:off x="88513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74797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"/>
          <p:cNvSpPr/>
          <p:nvPr/>
        </p:nvSpPr>
        <p:spPr>
          <a:xfrm>
            <a:off x="77083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"/>
          <p:cNvSpPr/>
          <p:nvPr/>
        </p:nvSpPr>
        <p:spPr>
          <a:xfrm>
            <a:off x="79369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"/>
          <p:cNvSpPr/>
          <p:nvPr/>
        </p:nvSpPr>
        <p:spPr>
          <a:xfrm>
            <a:off x="81655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"/>
          <p:cNvSpPr/>
          <p:nvPr/>
        </p:nvSpPr>
        <p:spPr>
          <a:xfrm>
            <a:off x="83941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"/>
          <p:cNvSpPr/>
          <p:nvPr/>
        </p:nvSpPr>
        <p:spPr>
          <a:xfrm>
            <a:off x="86227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"/>
          <p:cNvSpPr/>
          <p:nvPr/>
        </p:nvSpPr>
        <p:spPr>
          <a:xfrm>
            <a:off x="88513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"/>
          <p:cNvSpPr/>
          <p:nvPr/>
        </p:nvSpPr>
        <p:spPr>
          <a:xfrm>
            <a:off x="74797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"/>
          <p:cNvSpPr/>
          <p:nvPr/>
        </p:nvSpPr>
        <p:spPr>
          <a:xfrm>
            <a:off x="77083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"/>
          <p:cNvSpPr/>
          <p:nvPr/>
        </p:nvSpPr>
        <p:spPr>
          <a:xfrm>
            <a:off x="79369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"/>
          <p:cNvSpPr/>
          <p:nvPr/>
        </p:nvSpPr>
        <p:spPr>
          <a:xfrm>
            <a:off x="81655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"/>
          <p:cNvSpPr/>
          <p:nvPr/>
        </p:nvSpPr>
        <p:spPr>
          <a:xfrm>
            <a:off x="83941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86227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"/>
          <p:cNvSpPr/>
          <p:nvPr/>
        </p:nvSpPr>
        <p:spPr>
          <a:xfrm>
            <a:off x="88513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"/>
          <p:cNvSpPr/>
          <p:nvPr/>
        </p:nvSpPr>
        <p:spPr>
          <a:xfrm>
            <a:off x="347472" y="128016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STRESS TESTING · CÓDIGO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347472" y="347472"/>
            <a:ext cx="8458200" cy="11887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"/>
          <p:cNvSpPr/>
          <p:nvPr/>
        </p:nvSpPr>
        <p:spPr>
          <a:xfrm>
            <a:off x="347472" y="438912"/>
            <a:ext cx="77724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 portfólio que vamos estressar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347472" y="1188720"/>
            <a:ext cx="8458200" cy="713232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7"/>
          <p:cNvSpPr/>
          <p:nvPr/>
        </p:nvSpPr>
        <p:spPr>
          <a:xfrm>
            <a:off x="512064" y="1261872"/>
            <a:ext cx="8138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Usamos um portfólio com 4 ativos brasileiros representando setores distintos</a:t>
            </a:r>
            <a:r>
              <a:rPr lang="en-US" sz="11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energia, mineração, financeiro e industrial. A diversificação setorial é intencional: queremos ver como diferentes crises afetam cada setor de forma assimétrica.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347472" y="2029968"/>
            <a:ext cx="4846320" cy="2724912"/>
          </a:xfrm>
          <a:prstGeom prst="rect">
            <a:avLst/>
          </a:prstGeom>
          <a:solidFill>
            <a:srgbClr val="1E1E2E"/>
          </a:solidFill>
          <a:ln cap="flat" cmpd="sng" w="12700">
            <a:solidFill>
              <a:srgbClr val="1E1E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7"/>
          <p:cNvSpPr/>
          <p:nvPr/>
        </p:nvSpPr>
        <p:spPr>
          <a:xfrm>
            <a:off x="512064" y="2167128"/>
            <a:ext cx="4572000" cy="2496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92EA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C792EA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yfinance </a:t>
            </a:r>
            <a:r>
              <a:rPr b="0" i="0" lang="en-US" sz="1050" u="none" cap="none" strike="noStrike">
                <a:solidFill>
                  <a:srgbClr val="C792EA"/>
                </a:solidFill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yf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C792EA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numpy </a:t>
            </a:r>
            <a:r>
              <a:rPr b="0" i="0" lang="en-US" sz="1050" u="none" cap="none" strike="noStrike">
                <a:solidFill>
                  <a:srgbClr val="C792EA"/>
                </a:solidFill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np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tickers </a:t>
            </a:r>
            <a:r>
              <a:rPr b="0" i="0" lang="en-US" sz="1050" u="none" cap="none" strike="noStrike">
                <a:solidFill>
                  <a:srgbClr val="89DDFF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b="0" i="0" lang="en-US" sz="1050" u="none" cap="none" strike="noStrike">
                <a:solidFill>
                  <a:srgbClr val="C3E88D"/>
                </a:solidFill>
                <a:latin typeface="Consolas"/>
                <a:ea typeface="Consolas"/>
                <a:cs typeface="Consolas"/>
                <a:sym typeface="Consolas"/>
              </a:rPr>
              <a:t>["PETR4.SA","VALE3.SA","ITUB4.SA","WEGE3.SA"]</a:t>
            </a:r>
            <a:br>
              <a:rPr b="0" i="0" lang="en-US" sz="1050" u="none" cap="none" strike="noStrike">
                <a:solidFill>
                  <a:srgbClr val="C3E88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pesos   </a:t>
            </a:r>
            <a:r>
              <a:rPr b="0" i="0" lang="en-US" sz="1050" u="none" cap="none" strike="noStrike">
                <a:solidFill>
                  <a:srgbClr val="89DDFF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np.</a:t>
            </a:r>
            <a:r>
              <a:rPr b="0" i="0" lang="en-US" sz="1050" u="none" cap="none" strike="noStrike">
                <a:solidFill>
                  <a:srgbClr val="82AAFF"/>
                </a:solidFill>
                <a:latin typeface="Consolas"/>
                <a:ea typeface="Consolas"/>
                <a:cs typeface="Consolas"/>
                <a:sym typeface="Consolas"/>
              </a:rPr>
              <a:t>array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([</a:t>
            </a:r>
            <a:r>
              <a:rPr b="0" i="0" lang="en-US" sz="1050" u="none" cap="none" strike="noStrike">
                <a:solidFill>
                  <a:srgbClr val="FF5370"/>
                </a:solidFill>
                <a:latin typeface="Consolas"/>
                <a:ea typeface="Consolas"/>
                <a:cs typeface="Consolas"/>
                <a:sym typeface="Consolas"/>
              </a:rPr>
              <a:t>0.30, 0.25, 0.25, 0.20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df = yf.</a:t>
            </a:r>
            <a:r>
              <a:rPr b="0" i="0" lang="en-US" sz="1050" u="none" cap="none" strike="noStrike">
                <a:solidFill>
                  <a:srgbClr val="82AAFF"/>
                </a:solidFill>
                <a:latin typeface="Consolas"/>
                <a:ea typeface="Consolas"/>
                <a:cs typeface="Consolas"/>
                <a:sym typeface="Consolas"/>
              </a:rPr>
              <a:t>download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(tickers,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C3E88D"/>
                </a:solidFill>
                <a:latin typeface="Consolas"/>
                <a:ea typeface="Consolas"/>
                <a:cs typeface="Consolas"/>
                <a:sym typeface="Consolas"/>
              </a:rPr>
              <a:t>    start="2007-01-01", end="2026-01-01",</a:t>
            </a:r>
            <a:br>
              <a:rPr b="0" i="0" lang="en-US" sz="1050" u="none" cap="none" strike="noStrike">
                <a:solidFill>
                  <a:srgbClr val="C3E88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auto_adjust=</a:t>
            </a:r>
            <a:r>
              <a:rPr b="0" i="0" lang="en-US" sz="1050" u="none" cap="none" strike="noStrike">
                <a:solidFill>
                  <a:srgbClr val="FF5370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)[</a:t>
            </a:r>
            <a:r>
              <a:rPr b="0" i="0" lang="en-US" sz="1050" u="none" cap="none" strike="noStrike">
                <a:solidFill>
                  <a:srgbClr val="C3E88D"/>
                </a:solidFill>
                <a:latin typeface="Consolas"/>
                <a:ea typeface="Consolas"/>
                <a:cs typeface="Consolas"/>
                <a:sym typeface="Consolas"/>
              </a:rPr>
              <a:t>"Close"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1" lang="en-US" sz="1050" u="none" cap="none" strike="noStrike">
                <a:solidFill>
                  <a:srgbClr val="676E95"/>
                </a:solidFill>
                <a:latin typeface="Consolas"/>
                <a:ea typeface="Consolas"/>
                <a:cs typeface="Consolas"/>
                <a:sym typeface="Consolas"/>
              </a:rPr>
              <a:t># Log-retorno: propriedade aditiva essencial</a:t>
            </a:r>
            <a:br>
              <a:rPr b="0" i="1" lang="en-US" sz="1050" u="none" cap="none" strike="noStrike">
                <a:solidFill>
                  <a:srgbClr val="676E9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ret </a:t>
            </a:r>
            <a:r>
              <a:rPr b="0" i="0" lang="en-US" sz="1050" u="none" cap="none" strike="noStrike">
                <a:solidFill>
                  <a:srgbClr val="89DDFF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np.</a:t>
            </a:r>
            <a:r>
              <a:rPr b="0" i="0" lang="en-US" sz="1050" u="none" cap="none" strike="noStrike">
                <a:solidFill>
                  <a:srgbClr val="82AAFF"/>
                </a:solidFill>
                <a:latin typeface="Consolas"/>
                <a:ea typeface="Consolas"/>
                <a:cs typeface="Consolas"/>
                <a:sym typeface="Consolas"/>
              </a:rPr>
              <a:t>log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(df / df.</a:t>
            </a:r>
            <a:r>
              <a:rPr b="0" i="0" lang="en-US" sz="1050" u="none" cap="none" strike="noStrike">
                <a:solidFill>
                  <a:srgbClr val="82AAFF"/>
                </a:solidFill>
                <a:latin typeface="Consolas"/>
                <a:ea typeface="Consolas"/>
                <a:cs typeface="Consolas"/>
                <a:sym typeface="Consolas"/>
              </a:rPr>
              <a:t>shift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(1)).</a:t>
            </a:r>
            <a:r>
              <a:rPr b="0" i="0" lang="en-US" sz="1050" u="none" cap="none" strike="noStrike">
                <a:solidFill>
                  <a:srgbClr val="82AAFF"/>
                </a:solidFill>
                <a:latin typeface="Consolas"/>
                <a:ea typeface="Consolas"/>
                <a:cs typeface="Consolas"/>
                <a:sym typeface="Consolas"/>
              </a:rPr>
              <a:t>dropna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1" lang="en-US" sz="1050" u="none" cap="none" strike="noStrike">
                <a:solidFill>
                  <a:srgbClr val="676E95"/>
                </a:solidFill>
                <a:latin typeface="Consolas"/>
                <a:ea typeface="Consolas"/>
                <a:cs typeface="Consolas"/>
                <a:sym typeface="Consolas"/>
              </a:rPr>
              <a:t># Retorno diário do portfólio (produto escalar)</a:t>
            </a:r>
            <a:br>
              <a:rPr b="0" i="1" lang="en-US" sz="1050" u="none" cap="none" strike="noStrike">
                <a:solidFill>
                  <a:srgbClr val="676E9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ret_port </a:t>
            </a:r>
            <a:r>
              <a:rPr b="0" i="0" lang="en-US" sz="1050" u="none" cap="none" strike="noStrike">
                <a:solidFill>
                  <a:srgbClr val="89DDFF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ret @ pesos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5376672" y="2029968"/>
            <a:ext cx="34198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Composição do Portfólio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5376672" y="2322576"/>
            <a:ext cx="3419856" cy="1005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"/>
          <p:cNvSpPr/>
          <p:nvPr/>
        </p:nvSpPr>
        <p:spPr>
          <a:xfrm>
            <a:off x="5376672" y="2395728"/>
            <a:ext cx="3419856" cy="493776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7"/>
          <p:cNvSpPr/>
          <p:nvPr/>
        </p:nvSpPr>
        <p:spPr>
          <a:xfrm>
            <a:off x="5376672" y="2395728"/>
            <a:ext cx="45720" cy="4937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7"/>
          <p:cNvSpPr/>
          <p:nvPr/>
        </p:nvSpPr>
        <p:spPr>
          <a:xfrm>
            <a:off x="5504688" y="2432304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Petrobras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5504688" y="2642616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Energia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8138160" y="2496312"/>
            <a:ext cx="5669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30%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5376672" y="2962656"/>
            <a:ext cx="3419856" cy="49377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7"/>
          <p:cNvSpPr/>
          <p:nvPr/>
        </p:nvSpPr>
        <p:spPr>
          <a:xfrm>
            <a:off x="5376672" y="2962656"/>
            <a:ext cx="45720" cy="4937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7"/>
          <p:cNvSpPr/>
          <p:nvPr/>
        </p:nvSpPr>
        <p:spPr>
          <a:xfrm>
            <a:off x="5504688" y="2999232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Vale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5504688" y="3209544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Mineração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8138160" y="3063240"/>
            <a:ext cx="5669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25%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5376672" y="3529584"/>
            <a:ext cx="3419856" cy="493776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7"/>
          <p:cNvSpPr/>
          <p:nvPr/>
        </p:nvSpPr>
        <p:spPr>
          <a:xfrm>
            <a:off x="5376672" y="3529584"/>
            <a:ext cx="45720" cy="4937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7"/>
          <p:cNvSpPr/>
          <p:nvPr/>
        </p:nvSpPr>
        <p:spPr>
          <a:xfrm>
            <a:off x="5504688" y="3566160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Itaú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5504688" y="3776472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Financeiro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8138160" y="3630168"/>
            <a:ext cx="5669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25%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5376672" y="4096512"/>
            <a:ext cx="3419856" cy="49377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7"/>
          <p:cNvSpPr/>
          <p:nvPr/>
        </p:nvSpPr>
        <p:spPr>
          <a:xfrm>
            <a:off x="5376672" y="4096512"/>
            <a:ext cx="45720" cy="49377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7"/>
          <p:cNvSpPr/>
          <p:nvPr/>
        </p:nvSpPr>
        <p:spPr>
          <a:xfrm>
            <a:off x="5504688" y="4133088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WEG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5504688" y="4343400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Industrial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8138160" y="4197096"/>
            <a:ext cx="5669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20%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5376672" y="4663440"/>
            <a:ext cx="3419856" cy="347472"/>
          </a:xfrm>
          <a:prstGeom prst="rect">
            <a:avLst/>
          </a:prstGeom>
          <a:solidFill>
            <a:srgbClr val="F0E8FF"/>
          </a:solidFill>
          <a:ln cap="flat" cmpd="sng" w="9525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7"/>
          <p:cNvSpPr/>
          <p:nvPr/>
        </p:nvSpPr>
        <p:spPr>
          <a:xfrm>
            <a:off x="5504688" y="4681728"/>
            <a:ext cx="325526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1F9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1F9A"/>
                </a:solidFill>
                <a:latin typeface="Calibri"/>
                <a:ea typeface="Calibri"/>
                <a:cs typeface="Calibri"/>
                <a:sym typeface="Calibri"/>
              </a:rPr>
              <a:t>ret_port = ret @ pesos: produto escalar</a:t>
            </a:r>
            <a:r>
              <a:rPr lang="en-US" sz="900">
                <a:solidFill>
                  <a:srgbClr val="5A1F9A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0" lang="en-US" sz="900" u="none" cap="none" strike="noStrike">
                <a:solidFill>
                  <a:srgbClr val="5A1F9A"/>
                </a:solidFill>
                <a:latin typeface="Calibri"/>
                <a:ea typeface="Calibri"/>
                <a:cs typeface="Calibri"/>
                <a:sym typeface="Calibri"/>
              </a:rPr>
              <a:t> retorno do portfólio é a soma ponderada dos retornos individuais.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8"/>
          <p:cNvSpPr/>
          <p:nvPr/>
        </p:nvSpPr>
        <p:spPr>
          <a:xfrm>
            <a:off x="74797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8"/>
          <p:cNvSpPr/>
          <p:nvPr/>
        </p:nvSpPr>
        <p:spPr>
          <a:xfrm>
            <a:off x="77083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8"/>
          <p:cNvSpPr/>
          <p:nvPr/>
        </p:nvSpPr>
        <p:spPr>
          <a:xfrm>
            <a:off x="79369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8"/>
          <p:cNvSpPr/>
          <p:nvPr/>
        </p:nvSpPr>
        <p:spPr>
          <a:xfrm>
            <a:off x="81655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8"/>
          <p:cNvSpPr/>
          <p:nvPr/>
        </p:nvSpPr>
        <p:spPr>
          <a:xfrm>
            <a:off x="83941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8"/>
          <p:cNvSpPr/>
          <p:nvPr/>
        </p:nvSpPr>
        <p:spPr>
          <a:xfrm>
            <a:off x="86227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8"/>
          <p:cNvSpPr/>
          <p:nvPr/>
        </p:nvSpPr>
        <p:spPr>
          <a:xfrm>
            <a:off x="88513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8"/>
          <p:cNvSpPr/>
          <p:nvPr/>
        </p:nvSpPr>
        <p:spPr>
          <a:xfrm>
            <a:off x="74797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8"/>
          <p:cNvSpPr/>
          <p:nvPr/>
        </p:nvSpPr>
        <p:spPr>
          <a:xfrm>
            <a:off x="77083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8"/>
          <p:cNvSpPr/>
          <p:nvPr/>
        </p:nvSpPr>
        <p:spPr>
          <a:xfrm>
            <a:off x="79369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8"/>
          <p:cNvSpPr/>
          <p:nvPr/>
        </p:nvSpPr>
        <p:spPr>
          <a:xfrm>
            <a:off x="81655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8"/>
          <p:cNvSpPr/>
          <p:nvPr/>
        </p:nvSpPr>
        <p:spPr>
          <a:xfrm>
            <a:off x="83941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8"/>
          <p:cNvSpPr/>
          <p:nvPr/>
        </p:nvSpPr>
        <p:spPr>
          <a:xfrm>
            <a:off x="86227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8"/>
          <p:cNvSpPr/>
          <p:nvPr/>
        </p:nvSpPr>
        <p:spPr>
          <a:xfrm>
            <a:off x="88513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8"/>
          <p:cNvSpPr/>
          <p:nvPr/>
        </p:nvSpPr>
        <p:spPr>
          <a:xfrm>
            <a:off x="74797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8"/>
          <p:cNvSpPr/>
          <p:nvPr/>
        </p:nvSpPr>
        <p:spPr>
          <a:xfrm>
            <a:off x="77083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8"/>
          <p:cNvSpPr/>
          <p:nvPr/>
        </p:nvSpPr>
        <p:spPr>
          <a:xfrm>
            <a:off x="79369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8"/>
          <p:cNvSpPr/>
          <p:nvPr/>
        </p:nvSpPr>
        <p:spPr>
          <a:xfrm>
            <a:off x="81655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8"/>
          <p:cNvSpPr/>
          <p:nvPr/>
        </p:nvSpPr>
        <p:spPr>
          <a:xfrm>
            <a:off x="83941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8"/>
          <p:cNvSpPr/>
          <p:nvPr/>
        </p:nvSpPr>
        <p:spPr>
          <a:xfrm>
            <a:off x="86227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8"/>
          <p:cNvSpPr/>
          <p:nvPr/>
        </p:nvSpPr>
        <p:spPr>
          <a:xfrm>
            <a:off x="88513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8"/>
          <p:cNvSpPr/>
          <p:nvPr/>
        </p:nvSpPr>
        <p:spPr>
          <a:xfrm>
            <a:off x="74797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8"/>
          <p:cNvSpPr/>
          <p:nvPr/>
        </p:nvSpPr>
        <p:spPr>
          <a:xfrm>
            <a:off x="77083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8"/>
          <p:cNvSpPr/>
          <p:nvPr/>
        </p:nvSpPr>
        <p:spPr>
          <a:xfrm>
            <a:off x="79369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8"/>
          <p:cNvSpPr/>
          <p:nvPr/>
        </p:nvSpPr>
        <p:spPr>
          <a:xfrm>
            <a:off x="81655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8"/>
          <p:cNvSpPr/>
          <p:nvPr/>
        </p:nvSpPr>
        <p:spPr>
          <a:xfrm>
            <a:off x="83941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8"/>
          <p:cNvSpPr/>
          <p:nvPr/>
        </p:nvSpPr>
        <p:spPr>
          <a:xfrm>
            <a:off x="86227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8"/>
          <p:cNvSpPr/>
          <p:nvPr/>
        </p:nvSpPr>
        <p:spPr>
          <a:xfrm>
            <a:off x="88513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8"/>
          <p:cNvSpPr/>
          <p:nvPr/>
        </p:nvSpPr>
        <p:spPr>
          <a:xfrm>
            <a:off x="74797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8"/>
          <p:cNvSpPr/>
          <p:nvPr/>
        </p:nvSpPr>
        <p:spPr>
          <a:xfrm>
            <a:off x="77083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8"/>
          <p:cNvSpPr/>
          <p:nvPr/>
        </p:nvSpPr>
        <p:spPr>
          <a:xfrm>
            <a:off x="79369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8"/>
          <p:cNvSpPr/>
          <p:nvPr/>
        </p:nvSpPr>
        <p:spPr>
          <a:xfrm>
            <a:off x="81655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8"/>
          <p:cNvSpPr/>
          <p:nvPr/>
        </p:nvSpPr>
        <p:spPr>
          <a:xfrm>
            <a:off x="83941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8"/>
          <p:cNvSpPr/>
          <p:nvPr/>
        </p:nvSpPr>
        <p:spPr>
          <a:xfrm>
            <a:off x="86227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8"/>
          <p:cNvSpPr/>
          <p:nvPr/>
        </p:nvSpPr>
        <p:spPr>
          <a:xfrm>
            <a:off x="88513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8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8"/>
          <p:cNvSpPr/>
          <p:nvPr/>
        </p:nvSpPr>
        <p:spPr>
          <a:xfrm>
            <a:off x="347472" y="128016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STRESS HISTÓRICO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347472" y="347472"/>
            <a:ext cx="8458200" cy="11887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8"/>
          <p:cNvSpPr/>
          <p:nvPr/>
        </p:nvSpPr>
        <p:spPr>
          <a:xfrm>
            <a:off x="347472" y="438912"/>
            <a:ext cx="77724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Crises reais: quanto o portfólio perdeu?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8"/>
          <p:cNvSpPr/>
          <p:nvPr/>
        </p:nvSpPr>
        <p:spPr>
          <a:xfrm>
            <a:off x="347472" y="1188720"/>
            <a:ext cx="8458200" cy="713232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8"/>
          <p:cNvSpPr/>
          <p:nvPr/>
        </p:nvSpPr>
        <p:spPr>
          <a:xfrm>
            <a:off x="512064" y="1261872"/>
            <a:ext cx="8138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Recortamos os 5 maiores períodos de crise dos últimos 20 anos e medimos o impacto real no portfólio. Sem suposições</a:t>
            </a:r>
            <a:r>
              <a:rPr lang="en-US" sz="11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apenas os retornos que aconteceram.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347475" y="1945550"/>
            <a:ext cx="4434900" cy="2948400"/>
          </a:xfrm>
          <a:prstGeom prst="rect">
            <a:avLst/>
          </a:prstGeom>
          <a:solidFill>
            <a:srgbClr val="1E1E2E"/>
          </a:solidFill>
          <a:ln cap="flat" cmpd="sng" w="12700">
            <a:solidFill>
              <a:srgbClr val="1E1E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8"/>
          <p:cNvSpPr/>
          <p:nvPr/>
        </p:nvSpPr>
        <p:spPr>
          <a:xfrm>
            <a:off x="512064" y="2167128"/>
            <a:ext cx="4160520" cy="2496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crises = {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C3E88D"/>
                </a:solidFill>
                <a:latin typeface="Consolas"/>
                <a:ea typeface="Consolas"/>
                <a:cs typeface="Consolas"/>
                <a:sym typeface="Consolas"/>
              </a:rPr>
              <a:t>    "Crise de 2008 (Lehman)"    : ("2008-09-01","2009-03-31"),</a:t>
            </a:r>
            <a:br>
              <a:rPr b="0" i="0" lang="en-US" sz="1050" u="none" cap="none" strike="noStrike">
                <a:solidFill>
                  <a:srgbClr val="C3E88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C3E88D"/>
                </a:solidFill>
                <a:latin typeface="Consolas"/>
                <a:ea typeface="Consolas"/>
                <a:cs typeface="Consolas"/>
                <a:sym typeface="Consolas"/>
              </a:rPr>
              <a:t>    "Crise Europeia 2011"        : ("2011-07-01","2011-12-31"),</a:t>
            </a:r>
            <a:br>
              <a:rPr b="0" i="0" lang="en-US" sz="1050" u="none" cap="none" strike="noStrike">
                <a:solidFill>
                  <a:srgbClr val="C3E88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C3E88D"/>
                </a:solidFill>
                <a:latin typeface="Consolas"/>
                <a:ea typeface="Consolas"/>
                <a:cs typeface="Consolas"/>
                <a:sym typeface="Consolas"/>
              </a:rPr>
              <a:t>    "Impeachment / Lava-Jato"   : ("2015-01-01","2016-01-31"),</a:t>
            </a:r>
            <a:br>
              <a:rPr b="0" i="0" lang="en-US" sz="1050" u="none" cap="none" strike="noStrike">
                <a:solidFill>
                  <a:srgbClr val="C3E88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C3E88D"/>
                </a:solidFill>
                <a:latin typeface="Consolas"/>
                <a:ea typeface="Consolas"/>
                <a:cs typeface="Consolas"/>
                <a:sym typeface="Consolas"/>
              </a:rPr>
              <a:t>    "COVID-19 2020"              : ("2020-02-01","2020-04-30"),</a:t>
            </a:r>
            <a:br>
              <a:rPr b="0" i="0" lang="en-US" sz="1050" u="none" cap="none" strike="noStrike">
                <a:solidFill>
                  <a:srgbClr val="C3E88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C3E88D"/>
                </a:solidFill>
                <a:latin typeface="Consolas"/>
                <a:ea typeface="Consolas"/>
                <a:cs typeface="Consolas"/>
                <a:sym typeface="Consolas"/>
              </a:rPr>
              <a:t>    "Alta de juros EUA 2022"     : ("2022-01-01","2022-12-31"),</a:t>
            </a:r>
            <a:br>
              <a:rPr b="0" i="0" lang="en-US" sz="1050" u="none" cap="none" strike="noStrike">
                <a:solidFill>
                  <a:srgbClr val="C3E88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C792EA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nome, (ini, fim) </a:t>
            </a:r>
            <a:r>
              <a:rPr b="0" i="0" lang="en-US" sz="1050" u="none" cap="none" strike="noStrike">
                <a:solidFill>
                  <a:srgbClr val="C792EA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crises.</a:t>
            </a:r>
            <a:r>
              <a:rPr b="0" i="0" lang="en-US" sz="1050" u="none" cap="none" strike="noStrike">
                <a:solidFill>
                  <a:srgbClr val="82AAFF"/>
                </a:solidFill>
                <a:latin typeface="Consolas"/>
                <a:ea typeface="Consolas"/>
                <a:cs typeface="Consolas"/>
                <a:sym typeface="Consolas"/>
              </a:rPr>
              <a:t>items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():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recorte </a:t>
            </a:r>
            <a:r>
              <a:rPr b="0" i="0" lang="en-US" sz="1050" u="none" cap="none" strike="noStrike">
                <a:solidFill>
                  <a:srgbClr val="89DDFF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ret_port.loc[ini:fim]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ret_acum </a:t>
            </a:r>
            <a:r>
              <a:rPr b="0" i="0" lang="en-US" sz="1050" u="none" cap="none" strike="noStrike">
                <a:solidFill>
                  <a:srgbClr val="89DDFF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np.</a:t>
            </a:r>
            <a:r>
              <a:rPr b="0" i="0" lang="en-US" sz="1050" u="none" cap="none" strike="noStrike">
                <a:solidFill>
                  <a:srgbClr val="82AAFF"/>
                </a:solidFill>
                <a:latin typeface="Consolas"/>
                <a:ea typeface="Consolas"/>
                <a:cs typeface="Consolas"/>
                <a:sym typeface="Consolas"/>
              </a:rPr>
              <a:t>expm1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(recorte.</a:t>
            </a:r>
            <a:r>
              <a:rPr b="0" i="0" lang="en-US" sz="1050" u="none" cap="none" strike="noStrike">
                <a:solidFill>
                  <a:srgbClr val="82AAFF"/>
                </a:solidFill>
                <a:latin typeface="Consolas"/>
                <a:ea typeface="Consolas"/>
                <a:cs typeface="Consolas"/>
                <a:sym typeface="Consolas"/>
              </a:rPr>
              <a:t>sum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())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vol      </a:t>
            </a:r>
            <a:r>
              <a:rPr b="0" i="0" lang="en-US" sz="1050" u="none" cap="none" strike="noStrike">
                <a:solidFill>
                  <a:srgbClr val="89DDFF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recorte.</a:t>
            </a:r>
            <a:r>
              <a:rPr b="0" i="0" lang="en-US" sz="1050" u="none" cap="none" strike="noStrike">
                <a:solidFill>
                  <a:srgbClr val="82AAFF"/>
                </a:solidFill>
                <a:latin typeface="Consolas"/>
                <a:ea typeface="Consolas"/>
                <a:cs typeface="Consolas"/>
                <a:sym typeface="Consolas"/>
              </a:rPr>
              <a:t>std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() * np.</a:t>
            </a:r>
            <a:r>
              <a:rPr b="0" i="0" lang="en-US" sz="1050" u="none" cap="none" strike="noStrike">
                <a:solidFill>
                  <a:srgbClr val="82AAFF"/>
                </a:solidFill>
                <a:latin typeface="Consolas"/>
                <a:ea typeface="Consolas"/>
                <a:cs typeface="Consolas"/>
                <a:sym typeface="Consolas"/>
              </a:rPr>
              <a:t>sqrt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(252)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pior_dia </a:t>
            </a:r>
            <a:r>
              <a:rPr b="0" i="0" lang="en-US" sz="1050" u="none" cap="none" strike="noStrike">
                <a:solidFill>
                  <a:srgbClr val="89DDFF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recorte.</a:t>
            </a:r>
            <a:r>
              <a:rPr b="0" i="0" lang="en-US" sz="1050" u="none" cap="none" strike="noStrike">
                <a:solidFill>
                  <a:srgbClr val="82AAFF"/>
                </a:solidFill>
                <a:latin typeface="Consolas"/>
                <a:ea typeface="Consolas"/>
                <a:cs typeface="Consolas"/>
                <a:sym typeface="Consolas"/>
              </a:rPr>
              <a:t>min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4965192" y="2029968"/>
            <a:ext cx="3831336" cy="292608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8"/>
          <p:cNvSpPr/>
          <p:nvPr/>
        </p:nvSpPr>
        <p:spPr>
          <a:xfrm>
            <a:off x="5020056" y="2075688"/>
            <a:ext cx="138988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Crise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6483096" y="2075688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Retorno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8"/>
          <p:cNvSpPr/>
          <p:nvPr/>
        </p:nvSpPr>
        <p:spPr>
          <a:xfrm>
            <a:off x="7214616" y="2075688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Vol Anual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8"/>
          <p:cNvSpPr/>
          <p:nvPr/>
        </p:nvSpPr>
        <p:spPr>
          <a:xfrm>
            <a:off x="8019288" y="2075688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Pior Dia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8"/>
          <p:cNvSpPr/>
          <p:nvPr/>
        </p:nvSpPr>
        <p:spPr>
          <a:xfrm>
            <a:off x="4965192" y="2322576"/>
            <a:ext cx="3831336" cy="420624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8"/>
          <p:cNvSpPr/>
          <p:nvPr/>
        </p:nvSpPr>
        <p:spPr>
          <a:xfrm>
            <a:off x="4965192" y="2322576"/>
            <a:ext cx="36576" cy="42062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8"/>
          <p:cNvSpPr/>
          <p:nvPr/>
        </p:nvSpPr>
        <p:spPr>
          <a:xfrm>
            <a:off x="5020056" y="2414016"/>
            <a:ext cx="13898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Lehman 2008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8"/>
          <p:cNvSpPr/>
          <p:nvPr/>
        </p:nvSpPr>
        <p:spPr>
          <a:xfrm>
            <a:off x="6483096" y="2414016"/>
            <a:ext cx="6583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lang="en-US" sz="1050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23</a:t>
            </a:r>
            <a:r>
              <a:rPr b="1" i="0" lang="en-US" sz="105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8"/>
          <p:cNvSpPr/>
          <p:nvPr/>
        </p:nvSpPr>
        <p:spPr>
          <a:xfrm>
            <a:off x="7214616" y="2414016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69</a:t>
            </a:r>
            <a:r>
              <a:rPr b="1" i="0" lang="en-US" sz="105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b="0" i="0" sz="1050" u="none" cap="none" strike="noStrike">
              <a:solidFill>
                <a:srgbClr val="DC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8019288" y="2414016"/>
            <a:ext cx="6583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lang="en-US" sz="1050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r>
              <a:rPr b="1" i="0" lang="en-US" sz="105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8"/>
          <p:cNvSpPr/>
          <p:nvPr/>
        </p:nvSpPr>
        <p:spPr>
          <a:xfrm>
            <a:off x="4965192" y="2798064"/>
            <a:ext cx="3831336" cy="4206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8"/>
          <p:cNvSpPr/>
          <p:nvPr/>
        </p:nvSpPr>
        <p:spPr>
          <a:xfrm>
            <a:off x="4965192" y="2798064"/>
            <a:ext cx="36576" cy="42062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8"/>
          <p:cNvSpPr/>
          <p:nvPr/>
        </p:nvSpPr>
        <p:spPr>
          <a:xfrm>
            <a:off x="5020056" y="2889504"/>
            <a:ext cx="13898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Europa 2011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6483096" y="2889504"/>
            <a:ext cx="6583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lang="en-US" sz="1050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b="1" i="0" lang="en-US" sz="105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8"/>
          <p:cNvSpPr/>
          <p:nvPr/>
        </p:nvSpPr>
        <p:spPr>
          <a:xfrm>
            <a:off x="7214616" y="2889504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27</a:t>
            </a:r>
            <a:r>
              <a:rPr b="1" i="0" lang="en-US" sz="105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b="0" i="0" sz="1050" u="none" cap="none" strike="noStrike">
              <a:solidFill>
                <a:srgbClr val="DC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8019288" y="2889504"/>
            <a:ext cx="6583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lang="en-US" sz="1050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b="1" i="0" lang="en-US" sz="105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8"/>
          <p:cNvSpPr/>
          <p:nvPr/>
        </p:nvSpPr>
        <p:spPr>
          <a:xfrm>
            <a:off x="4965192" y="3273552"/>
            <a:ext cx="3831336" cy="420624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8"/>
          <p:cNvSpPr/>
          <p:nvPr/>
        </p:nvSpPr>
        <p:spPr>
          <a:xfrm>
            <a:off x="4965192" y="3273552"/>
            <a:ext cx="36576" cy="42062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8"/>
          <p:cNvSpPr/>
          <p:nvPr/>
        </p:nvSpPr>
        <p:spPr>
          <a:xfrm>
            <a:off x="5020056" y="3364992"/>
            <a:ext cx="13898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Lava-Jato 2015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8"/>
          <p:cNvSpPr/>
          <p:nvPr/>
        </p:nvSpPr>
        <p:spPr>
          <a:xfrm>
            <a:off x="6483096" y="3364992"/>
            <a:ext cx="6583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r>
              <a:rPr b="1" lang="en-US" sz="1050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1" i="0" lang="en-US" sz="105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8"/>
          <p:cNvSpPr/>
          <p:nvPr/>
        </p:nvSpPr>
        <p:spPr>
          <a:xfrm>
            <a:off x="7214616" y="3364992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lang="en-US" sz="1050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1" i="0" lang="en-US" sz="105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b="0" i="0" sz="1050" u="none" cap="none" strike="noStrike">
              <a:solidFill>
                <a:srgbClr val="DC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8019288" y="3364992"/>
            <a:ext cx="6583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-6%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8"/>
          <p:cNvSpPr/>
          <p:nvPr/>
        </p:nvSpPr>
        <p:spPr>
          <a:xfrm>
            <a:off x="4965192" y="3749040"/>
            <a:ext cx="3831336" cy="4206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8"/>
          <p:cNvSpPr/>
          <p:nvPr/>
        </p:nvSpPr>
        <p:spPr>
          <a:xfrm>
            <a:off x="4965192" y="3749040"/>
            <a:ext cx="36576" cy="42062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8"/>
          <p:cNvSpPr/>
          <p:nvPr/>
        </p:nvSpPr>
        <p:spPr>
          <a:xfrm>
            <a:off x="5020056" y="3840480"/>
            <a:ext cx="13898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COVID 2020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8"/>
          <p:cNvSpPr/>
          <p:nvPr/>
        </p:nvSpPr>
        <p:spPr>
          <a:xfrm>
            <a:off x="6483096" y="3840480"/>
            <a:ext cx="6583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lang="en-US" sz="1050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r>
              <a:rPr b="1" i="0" lang="en-US" sz="105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8"/>
          <p:cNvSpPr/>
          <p:nvPr/>
        </p:nvSpPr>
        <p:spPr>
          <a:xfrm>
            <a:off x="7214616" y="3840480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85</a:t>
            </a:r>
            <a:r>
              <a:rPr b="1" i="0" lang="en-US" sz="105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b="0" i="0" sz="1050" u="none" cap="none" strike="noStrike">
              <a:solidFill>
                <a:srgbClr val="DC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8019288" y="3840480"/>
            <a:ext cx="6583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lang="en-US" sz="1050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r>
              <a:rPr b="1" i="0" lang="en-US" sz="105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8"/>
          <p:cNvSpPr/>
          <p:nvPr/>
        </p:nvSpPr>
        <p:spPr>
          <a:xfrm>
            <a:off x="4965192" y="4224528"/>
            <a:ext cx="3831336" cy="420624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8"/>
          <p:cNvSpPr/>
          <p:nvPr/>
        </p:nvSpPr>
        <p:spPr>
          <a:xfrm>
            <a:off x="4965192" y="4224528"/>
            <a:ext cx="36576" cy="42062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6A34A"/>
              </a:solidFill>
            </a:endParaRPr>
          </a:p>
        </p:txBody>
      </p:sp>
      <p:sp>
        <p:nvSpPr>
          <p:cNvPr id="297" name="Google Shape;297;p8"/>
          <p:cNvSpPr/>
          <p:nvPr/>
        </p:nvSpPr>
        <p:spPr>
          <a:xfrm>
            <a:off x="5020056" y="4315968"/>
            <a:ext cx="13898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Juros EUA 2022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8"/>
          <p:cNvSpPr/>
          <p:nvPr/>
        </p:nvSpPr>
        <p:spPr>
          <a:xfrm>
            <a:off x="6483096" y="4315968"/>
            <a:ext cx="6583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23</a:t>
            </a:r>
            <a:r>
              <a:rPr b="1" i="0" lang="en-US" sz="105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b="0" i="0" sz="1050" u="none" cap="none" strike="noStrike">
              <a:solidFill>
                <a:srgbClr val="16A3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8"/>
          <p:cNvSpPr/>
          <p:nvPr/>
        </p:nvSpPr>
        <p:spPr>
          <a:xfrm>
            <a:off x="7214616" y="4315968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-US" sz="1050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i="0" lang="en-US" sz="105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b="0" i="0" sz="1050" u="none" cap="none" strike="noStrike">
              <a:solidFill>
                <a:srgbClr val="DC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8"/>
          <p:cNvSpPr/>
          <p:nvPr/>
        </p:nvSpPr>
        <p:spPr>
          <a:xfrm>
            <a:off x="8019288" y="4315968"/>
            <a:ext cx="6583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-4%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"/>
          <p:cNvSpPr/>
          <p:nvPr/>
        </p:nvSpPr>
        <p:spPr>
          <a:xfrm>
            <a:off x="74797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9"/>
          <p:cNvSpPr/>
          <p:nvPr/>
        </p:nvSpPr>
        <p:spPr>
          <a:xfrm>
            <a:off x="77083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9"/>
          <p:cNvSpPr/>
          <p:nvPr/>
        </p:nvSpPr>
        <p:spPr>
          <a:xfrm>
            <a:off x="79369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9"/>
          <p:cNvSpPr/>
          <p:nvPr/>
        </p:nvSpPr>
        <p:spPr>
          <a:xfrm>
            <a:off x="81655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9"/>
          <p:cNvSpPr/>
          <p:nvPr/>
        </p:nvSpPr>
        <p:spPr>
          <a:xfrm>
            <a:off x="83941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9"/>
          <p:cNvSpPr/>
          <p:nvPr/>
        </p:nvSpPr>
        <p:spPr>
          <a:xfrm>
            <a:off x="86227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9"/>
          <p:cNvSpPr/>
          <p:nvPr/>
        </p:nvSpPr>
        <p:spPr>
          <a:xfrm>
            <a:off x="88513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9"/>
          <p:cNvSpPr/>
          <p:nvPr/>
        </p:nvSpPr>
        <p:spPr>
          <a:xfrm>
            <a:off x="74797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9"/>
          <p:cNvSpPr/>
          <p:nvPr/>
        </p:nvSpPr>
        <p:spPr>
          <a:xfrm>
            <a:off x="77083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9"/>
          <p:cNvSpPr/>
          <p:nvPr/>
        </p:nvSpPr>
        <p:spPr>
          <a:xfrm>
            <a:off x="79369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9"/>
          <p:cNvSpPr/>
          <p:nvPr/>
        </p:nvSpPr>
        <p:spPr>
          <a:xfrm>
            <a:off x="81655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9"/>
          <p:cNvSpPr/>
          <p:nvPr/>
        </p:nvSpPr>
        <p:spPr>
          <a:xfrm>
            <a:off x="83941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9"/>
          <p:cNvSpPr/>
          <p:nvPr/>
        </p:nvSpPr>
        <p:spPr>
          <a:xfrm>
            <a:off x="86227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9"/>
          <p:cNvSpPr/>
          <p:nvPr/>
        </p:nvSpPr>
        <p:spPr>
          <a:xfrm>
            <a:off x="88513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9"/>
          <p:cNvSpPr/>
          <p:nvPr/>
        </p:nvSpPr>
        <p:spPr>
          <a:xfrm>
            <a:off x="74797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9"/>
          <p:cNvSpPr/>
          <p:nvPr/>
        </p:nvSpPr>
        <p:spPr>
          <a:xfrm>
            <a:off x="77083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9"/>
          <p:cNvSpPr/>
          <p:nvPr/>
        </p:nvSpPr>
        <p:spPr>
          <a:xfrm>
            <a:off x="79369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9"/>
          <p:cNvSpPr/>
          <p:nvPr/>
        </p:nvSpPr>
        <p:spPr>
          <a:xfrm>
            <a:off x="81655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9"/>
          <p:cNvSpPr/>
          <p:nvPr/>
        </p:nvSpPr>
        <p:spPr>
          <a:xfrm>
            <a:off x="83941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9"/>
          <p:cNvSpPr/>
          <p:nvPr/>
        </p:nvSpPr>
        <p:spPr>
          <a:xfrm>
            <a:off x="86227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9"/>
          <p:cNvSpPr/>
          <p:nvPr/>
        </p:nvSpPr>
        <p:spPr>
          <a:xfrm>
            <a:off x="88513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9"/>
          <p:cNvSpPr/>
          <p:nvPr/>
        </p:nvSpPr>
        <p:spPr>
          <a:xfrm>
            <a:off x="74797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9"/>
          <p:cNvSpPr/>
          <p:nvPr/>
        </p:nvSpPr>
        <p:spPr>
          <a:xfrm>
            <a:off x="77083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9"/>
          <p:cNvSpPr/>
          <p:nvPr/>
        </p:nvSpPr>
        <p:spPr>
          <a:xfrm>
            <a:off x="79369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9"/>
          <p:cNvSpPr/>
          <p:nvPr/>
        </p:nvSpPr>
        <p:spPr>
          <a:xfrm>
            <a:off x="81655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9"/>
          <p:cNvSpPr/>
          <p:nvPr/>
        </p:nvSpPr>
        <p:spPr>
          <a:xfrm>
            <a:off x="83941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9"/>
          <p:cNvSpPr/>
          <p:nvPr/>
        </p:nvSpPr>
        <p:spPr>
          <a:xfrm>
            <a:off x="86227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9"/>
          <p:cNvSpPr/>
          <p:nvPr/>
        </p:nvSpPr>
        <p:spPr>
          <a:xfrm>
            <a:off x="88513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9"/>
          <p:cNvSpPr/>
          <p:nvPr/>
        </p:nvSpPr>
        <p:spPr>
          <a:xfrm>
            <a:off x="74797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9"/>
          <p:cNvSpPr/>
          <p:nvPr/>
        </p:nvSpPr>
        <p:spPr>
          <a:xfrm>
            <a:off x="77083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9"/>
          <p:cNvSpPr/>
          <p:nvPr/>
        </p:nvSpPr>
        <p:spPr>
          <a:xfrm>
            <a:off x="79369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9"/>
          <p:cNvSpPr/>
          <p:nvPr/>
        </p:nvSpPr>
        <p:spPr>
          <a:xfrm>
            <a:off x="81655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9"/>
          <p:cNvSpPr/>
          <p:nvPr/>
        </p:nvSpPr>
        <p:spPr>
          <a:xfrm>
            <a:off x="83941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9"/>
          <p:cNvSpPr/>
          <p:nvPr/>
        </p:nvSpPr>
        <p:spPr>
          <a:xfrm>
            <a:off x="86227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9"/>
          <p:cNvSpPr/>
          <p:nvPr/>
        </p:nvSpPr>
        <p:spPr>
          <a:xfrm>
            <a:off x="88513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9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9"/>
          <p:cNvSpPr/>
          <p:nvPr/>
        </p:nvSpPr>
        <p:spPr>
          <a:xfrm>
            <a:off x="347472" y="128016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ANÁLISE DE CENÁRIOS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9"/>
          <p:cNvSpPr/>
          <p:nvPr/>
        </p:nvSpPr>
        <p:spPr>
          <a:xfrm>
            <a:off x="347472" y="347472"/>
            <a:ext cx="8458200" cy="11887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9"/>
          <p:cNvSpPr/>
          <p:nvPr/>
        </p:nvSpPr>
        <p:spPr>
          <a:xfrm>
            <a:off x="347472" y="510648"/>
            <a:ext cx="77724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 se o petróleo cair 30%? E se a Selic </a:t>
            </a:r>
            <a:endParaRPr b="1" i="0" sz="3400" u="none" cap="none" strike="noStrike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subir 5pp?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9"/>
          <p:cNvSpPr/>
          <p:nvPr/>
        </p:nvSpPr>
        <p:spPr>
          <a:xfrm>
            <a:off x="347475" y="1438876"/>
            <a:ext cx="8458200" cy="46320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9"/>
          <p:cNvSpPr/>
          <p:nvPr/>
        </p:nvSpPr>
        <p:spPr>
          <a:xfrm>
            <a:off x="512064" y="1390998"/>
            <a:ext cx="81381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Análise de cenários aplica choques manuais por ativo e calcula o impacto ponderado no portfólio. É uma pergunta direta: dado que esse evento acontece, quanto eu perco ou ganho?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9"/>
          <p:cNvSpPr/>
          <p:nvPr/>
        </p:nvSpPr>
        <p:spPr>
          <a:xfrm>
            <a:off x="347472" y="2029968"/>
            <a:ext cx="4572000" cy="2724912"/>
          </a:xfrm>
          <a:prstGeom prst="rect">
            <a:avLst/>
          </a:prstGeom>
          <a:solidFill>
            <a:srgbClr val="1E1E2E"/>
          </a:solidFill>
          <a:ln cap="flat" cmpd="sng" w="12700">
            <a:solidFill>
              <a:srgbClr val="1E1E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9"/>
          <p:cNvSpPr/>
          <p:nvPr/>
        </p:nvSpPr>
        <p:spPr>
          <a:xfrm>
            <a:off x="512064" y="2167128"/>
            <a:ext cx="4297680" cy="2496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cenarios = {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C3E88D"/>
                </a:solidFill>
                <a:latin typeface="Consolas"/>
                <a:ea typeface="Consolas"/>
                <a:cs typeface="Consolas"/>
                <a:sym typeface="Consolas"/>
              </a:rPr>
              <a:t>  "Queda do petróleo (-30%)":</a:t>
            </a:r>
            <a:br>
              <a:rPr b="0" i="0" lang="en-US" sz="1050" u="none" cap="none" strike="noStrike">
                <a:solidFill>
                  <a:srgbClr val="C3E88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1" lang="en-US" sz="1050" u="none" cap="none" strike="noStrike">
                <a:solidFill>
                  <a:srgbClr val="676E95"/>
                </a:solidFill>
                <a:latin typeface="Consolas"/>
                <a:ea typeface="Consolas"/>
                <a:cs typeface="Consolas"/>
                <a:sym typeface="Consolas"/>
              </a:rPr>
              <a:t>      {"PETR4.SA":-0.30,"VALE3.SA":-0.05,</a:t>
            </a:r>
            <a:br>
              <a:rPr b="0" i="1" lang="en-US" sz="1050" u="none" cap="none" strike="noStrike">
                <a:solidFill>
                  <a:srgbClr val="676E9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1" lang="en-US" sz="1050" u="none" cap="none" strike="noStrike">
                <a:solidFill>
                  <a:srgbClr val="676E95"/>
                </a:solidFill>
                <a:latin typeface="Consolas"/>
                <a:ea typeface="Consolas"/>
                <a:cs typeface="Consolas"/>
                <a:sym typeface="Consolas"/>
              </a:rPr>
              <a:t>       "ITUB4.SA":-0.03,"WEGE3.SA":-0.02},</a:t>
            </a:r>
            <a:br>
              <a:rPr b="0" i="1" lang="en-US" sz="1050" u="none" cap="none" strike="noStrike">
                <a:solidFill>
                  <a:srgbClr val="676E9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C3E88D"/>
                </a:solidFill>
                <a:latin typeface="Consolas"/>
                <a:ea typeface="Consolas"/>
                <a:cs typeface="Consolas"/>
                <a:sym typeface="Consolas"/>
              </a:rPr>
              <a:t>  "Recessão global (-20%)":</a:t>
            </a:r>
            <a:br>
              <a:rPr b="0" i="0" lang="en-US" sz="1050" u="none" cap="none" strike="noStrike">
                <a:solidFill>
                  <a:srgbClr val="C3E88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1" lang="en-US" sz="1050" u="none" cap="none" strike="noStrike">
                <a:solidFill>
                  <a:srgbClr val="676E95"/>
                </a:solidFill>
                <a:latin typeface="Consolas"/>
                <a:ea typeface="Consolas"/>
                <a:cs typeface="Consolas"/>
                <a:sym typeface="Consolas"/>
              </a:rPr>
              <a:t>      {"PETR4.SA":-0.20,"VALE3.SA":-0.25,</a:t>
            </a:r>
            <a:br>
              <a:rPr b="0" i="1" lang="en-US" sz="1050" u="none" cap="none" strike="noStrike">
                <a:solidFill>
                  <a:srgbClr val="676E9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1" lang="en-US" sz="1050" u="none" cap="none" strike="noStrike">
                <a:solidFill>
                  <a:srgbClr val="676E95"/>
                </a:solidFill>
                <a:latin typeface="Consolas"/>
                <a:ea typeface="Consolas"/>
                <a:cs typeface="Consolas"/>
                <a:sym typeface="Consolas"/>
              </a:rPr>
              <a:t>       "ITUB4.SA":-0.18,"WEGE3.SA":-0.15},</a:t>
            </a:r>
            <a:br>
              <a:rPr b="0" i="1" lang="en-US" sz="1050" u="none" cap="none" strike="noStrike">
                <a:solidFill>
                  <a:srgbClr val="676E9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C3E88D"/>
                </a:solidFill>
                <a:latin typeface="Consolas"/>
                <a:ea typeface="Consolas"/>
                <a:cs typeface="Consolas"/>
                <a:sym typeface="Consolas"/>
              </a:rPr>
              <a:t>  "Alta SELIC +5pp":</a:t>
            </a:r>
            <a:br>
              <a:rPr b="0" i="0" lang="en-US" sz="1050" u="none" cap="none" strike="noStrike">
                <a:solidFill>
                  <a:srgbClr val="C3E88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1" lang="en-US" sz="1050" u="none" cap="none" strike="noStrike">
                <a:solidFill>
                  <a:srgbClr val="676E95"/>
                </a:solidFill>
                <a:latin typeface="Consolas"/>
                <a:ea typeface="Consolas"/>
                <a:cs typeface="Consolas"/>
                <a:sym typeface="Consolas"/>
              </a:rPr>
              <a:t>      {"PETR4.SA":-0.08,"VALE3.SA":-0.06,</a:t>
            </a:r>
            <a:br>
              <a:rPr b="0" i="1" lang="en-US" sz="1050" u="none" cap="none" strike="noStrike">
                <a:solidFill>
                  <a:srgbClr val="676E9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1" lang="en-US" sz="1050" u="none" cap="none" strike="noStrike">
                <a:solidFill>
                  <a:srgbClr val="676E95"/>
                </a:solidFill>
                <a:latin typeface="Consolas"/>
                <a:ea typeface="Consolas"/>
                <a:cs typeface="Consolas"/>
                <a:sym typeface="Consolas"/>
              </a:rPr>
              <a:t>       "ITUB4.SA":+0.05,"WEGE3.SA":-0.12},</a:t>
            </a:r>
            <a:br>
              <a:rPr b="0" i="1" lang="en-US" sz="1050" u="none" cap="none" strike="noStrike">
                <a:solidFill>
                  <a:srgbClr val="676E9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1" lang="en-US" sz="1050" u="none" cap="none" strike="noStrike">
                <a:solidFill>
                  <a:srgbClr val="676E95"/>
                </a:solidFill>
                <a:latin typeface="Consolas"/>
                <a:ea typeface="Consolas"/>
                <a:cs typeface="Consolas"/>
                <a:sym typeface="Consolas"/>
              </a:rPr>
              <a:t># Impacto = produto escalar pesos × choques</a:t>
            </a:r>
            <a:br>
              <a:rPr b="0" i="1" lang="en-US" sz="1050" u="none" cap="none" strike="noStrike">
                <a:solidFill>
                  <a:srgbClr val="676E9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C792EA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nome, choques </a:t>
            </a:r>
            <a:r>
              <a:rPr b="0" i="0" lang="en-US" sz="1050" u="none" cap="none" strike="noStrike">
                <a:solidFill>
                  <a:srgbClr val="C792EA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cenarios.</a:t>
            </a:r>
            <a:r>
              <a:rPr b="0" i="0" lang="en-US" sz="1050" u="none" cap="none" strike="noStrike">
                <a:solidFill>
                  <a:srgbClr val="82AAFF"/>
                </a:solidFill>
                <a:latin typeface="Consolas"/>
                <a:ea typeface="Consolas"/>
                <a:cs typeface="Consolas"/>
                <a:sym typeface="Consolas"/>
              </a:rPr>
              <a:t>items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():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choque_vec  </a:t>
            </a:r>
            <a:r>
              <a:rPr b="0" i="0" lang="en-US" sz="1050" u="none" cap="none" strike="noStrike">
                <a:solidFill>
                  <a:srgbClr val="89DDFF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np.</a:t>
            </a:r>
            <a:r>
              <a:rPr b="0" i="0" lang="en-US" sz="1050" u="none" cap="none" strike="noStrike">
                <a:solidFill>
                  <a:srgbClr val="82AAFF"/>
                </a:solidFill>
                <a:latin typeface="Consolas"/>
                <a:ea typeface="Consolas"/>
                <a:cs typeface="Consolas"/>
                <a:sym typeface="Consolas"/>
              </a:rPr>
              <a:t>array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([choques[t] </a:t>
            </a:r>
            <a:r>
              <a:rPr b="0" i="0" lang="en-US" sz="1050" u="none" cap="none" strike="noStrike">
                <a:solidFill>
                  <a:srgbClr val="C792EA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t </a:t>
            </a:r>
            <a:r>
              <a:rPr b="0" i="0" lang="en-US" sz="1050" u="none" cap="none" strike="noStrike">
                <a:solidFill>
                  <a:srgbClr val="C792EA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tickers])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impacto     </a:t>
            </a:r>
            <a:r>
              <a:rPr b="0" i="0" lang="en-US" sz="1050" u="none" cap="none" strike="noStrike">
                <a:solidFill>
                  <a:srgbClr val="89DDFF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float(pesos @ choque_vec)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9"/>
          <p:cNvSpPr/>
          <p:nvPr/>
        </p:nvSpPr>
        <p:spPr>
          <a:xfrm>
            <a:off x="5102352" y="2029968"/>
            <a:ext cx="3694176" cy="292608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9"/>
          <p:cNvSpPr/>
          <p:nvPr/>
        </p:nvSpPr>
        <p:spPr>
          <a:xfrm>
            <a:off x="5175504" y="2075688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Cenário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9"/>
          <p:cNvSpPr/>
          <p:nvPr/>
        </p:nvSpPr>
        <p:spPr>
          <a:xfrm>
            <a:off x="7205472" y="2075688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Impacto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9"/>
          <p:cNvSpPr/>
          <p:nvPr/>
        </p:nvSpPr>
        <p:spPr>
          <a:xfrm>
            <a:off x="5102352" y="2322576"/>
            <a:ext cx="3694176" cy="347472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9"/>
          <p:cNvSpPr/>
          <p:nvPr/>
        </p:nvSpPr>
        <p:spPr>
          <a:xfrm>
            <a:off x="5102352" y="2322576"/>
            <a:ext cx="36576" cy="347472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9"/>
          <p:cNvSpPr/>
          <p:nvPr/>
        </p:nvSpPr>
        <p:spPr>
          <a:xfrm>
            <a:off x="5212080" y="2386584"/>
            <a:ext cx="1920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Base (sem choque)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9"/>
          <p:cNvSpPr/>
          <p:nvPr/>
        </p:nvSpPr>
        <p:spPr>
          <a:xfrm>
            <a:off x="6967728" y="2368296"/>
            <a:ext cx="1691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+0,00%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9"/>
          <p:cNvSpPr/>
          <p:nvPr/>
        </p:nvSpPr>
        <p:spPr>
          <a:xfrm>
            <a:off x="5102352" y="2734056"/>
            <a:ext cx="3694176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9"/>
          <p:cNvSpPr/>
          <p:nvPr/>
        </p:nvSpPr>
        <p:spPr>
          <a:xfrm>
            <a:off x="5102352" y="2734056"/>
            <a:ext cx="36576" cy="34747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9"/>
          <p:cNvSpPr/>
          <p:nvPr/>
        </p:nvSpPr>
        <p:spPr>
          <a:xfrm>
            <a:off x="5212080" y="2798064"/>
            <a:ext cx="1920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Queda petróleo -30%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9"/>
          <p:cNvSpPr/>
          <p:nvPr/>
        </p:nvSpPr>
        <p:spPr>
          <a:xfrm>
            <a:off x="6967728" y="2779776"/>
            <a:ext cx="1691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-1</a:t>
            </a:r>
            <a:r>
              <a:rPr b="1" lang="en-US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1,4</a:t>
            </a:r>
            <a:r>
              <a:rPr b="1" i="0" lang="en-US" sz="14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9"/>
          <p:cNvSpPr/>
          <p:nvPr/>
        </p:nvSpPr>
        <p:spPr>
          <a:xfrm>
            <a:off x="5102352" y="3145536"/>
            <a:ext cx="3694176" cy="347472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9"/>
          <p:cNvSpPr/>
          <p:nvPr/>
        </p:nvSpPr>
        <p:spPr>
          <a:xfrm>
            <a:off x="5102352" y="3145536"/>
            <a:ext cx="36576" cy="34747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9"/>
          <p:cNvSpPr/>
          <p:nvPr/>
        </p:nvSpPr>
        <p:spPr>
          <a:xfrm>
            <a:off x="5212080" y="3209544"/>
            <a:ext cx="1920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Recessão global -20%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9"/>
          <p:cNvSpPr/>
          <p:nvPr/>
        </p:nvSpPr>
        <p:spPr>
          <a:xfrm>
            <a:off x="6967728" y="3191256"/>
            <a:ext cx="1691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lang="en-US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19,75</a:t>
            </a:r>
            <a:r>
              <a:rPr b="1" i="0" lang="en-US" sz="14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9"/>
          <p:cNvSpPr/>
          <p:nvPr/>
        </p:nvSpPr>
        <p:spPr>
          <a:xfrm>
            <a:off x="5102352" y="3557016"/>
            <a:ext cx="3694176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9"/>
          <p:cNvSpPr/>
          <p:nvPr/>
        </p:nvSpPr>
        <p:spPr>
          <a:xfrm>
            <a:off x="5102352" y="3557016"/>
            <a:ext cx="36576" cy="34747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9"/>
          <p:cNvSpPr/>
          <p:nvPr/>
        </p:nvSpPr>
        <p:spPr>
          <a:xfrm>
            <a:off x="5212080" y="3621024"/>
            <a:ext cx="1920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Alta SELIC +5pp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9"/>
          <p:cNvSpPr/>
          <p:nvPr/>
        </p:nvSpPr>
        <p:spPr>
          <a:xfrm>
            <a:off x="6967728" y="3602736"/>
            <a:ext cx="1691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-5,</a:t>
            </a:r>
            <a:r>
              <a:rPr b="1" lang="en-US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r>
              <a:rPr b="1" i="0" lang="en-US" sz="14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9"/>
          <p:cNvSpPr/>
          <p:nvPr/>
        </p:nvSpPr>
        <p:spPr>
          <a:xfrm>
            <a:off x="5102352" y="3968496"/>
            <a:ext cx="3694176" cy="347472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9"/>
          <p:cNvSpPr/>
          <p:nvPr/>
        </p:nvSpPr>
        <p:spPr>
          <a:xfrm>
            <a:off x="5102352" y="3968496"/>
            <a:ext cx="36576" cy="34747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9"/>
          <p:cNvSpPr/>
          <p:nvPr/>
        </p:nvSpPr>
        <p:spPr>
          <a:xfrm>
            <a:off x="5212080" y="4032504"/>
            <a:ext cx="1920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Boom commodities +25%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9"/>
          <p:cNvSpPr/>
          <p:nvPr/>
        </p:nvSpPr>
        <p:spPr>
          <a:xfrm>
            <a:off x="6967728" y="4014216"/>
            <a:ext cx="1691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b="1" lang="en-US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16,85</a:t>
            </a:r>
            <a:r>
              <a:rPr b="1" i="0" lang="en-US" sz="14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9"/>
          <p:cNvSpPr/>
          <p:nvPr/>
        </p:nvSpPr>
        <p:spPr>
          <a:xfrm>
            <a:off x="5102352" y="4379976"/>
            <a:ext cx="3694176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9"/>
          <p:cNvSpPr/>
          <p:nvPr/>
        </p:nvSpPr>
        <p:spPr>
          <a:xfrm>
            <a:off x="5102352" y="4379976"/>
            <a:ext cx="36576" cy="34747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9"/>
          <p:cNvSpPr/>
          <p:nvPr/>
        </p:nvSpPr>
        <p:spPr>
          <a:xfrm>
            <a:off x="5212080" y="4443984"/>
            <a:ext cx="1920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Crise cambial BRL -20%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9"/>
          <p:cNvSpPr/>
          <p:nvPr/>
        </p:nvSpPr>
        <p:spPr>
          <a:xfrm>
            <a:off x="6967728" y="4425696"/>
            <a:ext cx="1691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b="1" lang="en-US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8,5</a:t>
            </a:r>
            <a:r>
              <a:rPr b="1" i="0" lang="en-US" sz="14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9"/>
          <p:cNvSpPr/>
          <p:nvPr/>
        </p:nvSpPr>
        <p:spPr>
          <a:xfrm>
            <a:off x="5102352" y="4809744"/>
            <a:ext cx="3694176" cy="237744"/>
          </a:xfrm>
          <a:prstGeom prst="rect">
            <a:avLst/>
          </a:prstGeom>
          <a:solidFill>
            <a:srgbClr val="F0E8FF"/>
          </a:solidFill>
          <a:ln cap="flat" cmpd="sng" w="9525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9"/>
          <p:cNvSpPr/>
          <p:nvPr/>
        </p:nvSpPr>
        <p:spPr>
          <a:xfrm>
            <a:off x="5212080" y="4818888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1F9A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5A1F9A"/>
                </a:solidFill>
                <a:latin typeface="Calibri"/>
                <a:ea typeface="Calibri"/>
                <a:cs typeface="Calibri"/>
                <a:sym typeface="Calibri"/>
              </a:rPr>
              <a:t>Alta da SELIC beneficia ITUB4 (+5%) mas penaliza os outros. Diversificação setorial visível no resultado.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0"/>
          <p:cNvSpPr/>
          <p:nvPr/>
        </p:nvSpPr>
        <p:spPr>
          <a:xfrm>
            <a:off x="347472" y="128016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59D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9B59D0"/>
                </a:solidFill>
                <a:latin typeface="Calibri"/>
                <a:ea typeface="Calibri"/>
                <a:cs typeface="Calibri"/>
                <a:sym typeface="Calibri"/>
              </a:rPr>
              <a:t>MONTE CARLO · STRESS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0"/>
          <p:cNvSpPr/>
          <p:nvPr/>
        </p:nvSpPr>
        <p:spPr>
          <a:xfrm>
            <a:off x="347472" y="347472"/>
            <a:ext cx="8458200" cy="11887"/>
          </a:xfrm>
          <a:prstGeom prst="rect">
            <a:avLst/>
          </a:prstGeom>
          <a:solidFill>
            <a:srgbClr val="3D3D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0"/>
          <p:cNvSpPr/>
          <p:nvPr/>
        </p:nvSpPr>
        <p:spPr>
          <a:xfrm>
            <a:off x="347472" y="685990"/>
            <a:ext cx="658500" cy="658500"/>
          </a:xfrm>
          <a:prstGeom prst="ellipse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0"/>
          <p:cNvSpPr/>
          <p:nvPr/>
        </p:nvSpPr>
        <p:spPr>
          <a:xfrm>
            <a:off x="347472" y="685990"/>
            <a:ext cx="6585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0"/>
          <p:cNvSpPr/>
          <p:nvPr/>
        </p:nvSpPr>
        <p:spPr>
          <a:xfrm>
            <a:off x="1170432" y="566928"/>
            <a:ext cx="76809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Stress histórico usa crises do passado. E para crises que ainda não aconteceram?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0"/>
          <p:cNvSpPr/>
          <p:nvPr/>
        </p:nvSpPr>
        <p:spPr>
          <a:xfrm>
            <a:off x="347472" y="2286000"/>
            <a:ext cx="8458200" cy="731520"/>
          </a:xfrm>
          <a:prstGeom prst="rect">
            <a:avLst/>
          </a:prstGeom>
          <a:solidFill>
            <a:srgbClr val="7B2FBE">
              <a:alpha val="20000"/>
            </a:srgbClr>
          </a:solidFill>
          <a:ln cap="flat" cmpd="sng" w="9525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0"/>
          <p:cNvSpPr/>
          <p:nvPr/>
        </p:nvSpPr>
        <p:spPr>
          <a:xfrm>
            <a:off x="512064" y="2340864"/>
            <a:ext cx="81381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Cenários históricos cobrem o que já vimos. Monte Carlo com volatilidade estressada simula o que poderia acontecer — especialmente em regimes de mercado nunca vistos antes.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0"/>
          <p:cNvSpPr/>
          <p:nvPr/>
        </p:nvSpPr>
        <p:spPr>
          <a:xfrm>
            <a:off x="347472" y="3127248"/>
            <a:ext cx="4114800" cy="1783080"/>
          </a:xfrm>
          <a:prstGeom prst="rect">
            <a:avLst/>
          </a:prstGeom>
          <a:solidFill>
            <a:srgbClr val="252545"/>
          </a:solidFill>
          <a:ln cap="flat" cmpd="sng" w="15225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0"/>
          <p:cNvSpPr/>
          <p:nvPr/>
        </p:nvSpPr>
        <p:spPr>
          <a:xfrm>
            <a:off x="530352" y="3218688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Stress histórico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0"/>
          <p:cNvSpPr/>
          <p:nvPr/>
        </p:nvSpPr>
        <p:spPr>
          <a:xfrm>
            <a:off x="530352" y="3529584"/>
            <a:ext cx="3749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5 crises</a:t>
            </a:r>
            <a:r>
              <a:rPr lang="en-US" sz="3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34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reais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0"/>
          <p:cNvSpPr/>
          <p:nvPr/>
        </p:nvSpPr>
        <p:spPr>
          <a:xfrm>
            <a:off x="530352" y="4242816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AACC"/>
                </a:solidFill>
                <a:latin typeface="Calibri"/>
                <a:ea typeface="Calibri"/>
                <a:cs typeface="Calibri"/>
                <a:sym typeface="Calibri"/>
              </a:rPr>
              <a:t>Usa o que já aconteceu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0"/>
          <p:cNvSpPr/>
          <p:nvPr/>
        </p:nvSpPr>
        <p:spPr>
          <a:xfrm>
            <a:off x="4736592" y="3127248"/>
            <a:ext cx="4114800" cy="1783080"/>
          </a:xfrm>
          <a:prstGeom prst="rect">
            <a:avLst/>
          </a:prstGeom>
          <a:solidFill>
            <a:srgbClr val="252545"/>
          </a:solidFill>
          <a:ln cap="flat" cmpd="sng" w="15225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0"/>
          <p:cNvSpPr/>
          <p:nvPr/>
        </p:nvSpPr>
        <p:spPr>
          <a:xfrm>
            <a:off x="4919472" y="3218688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Monte Carlo stress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0"/>
          <p:cNvSpPr/>
          <p:nvPr/>
        </p:nvSpPr>
        <p:spPr>
          <a:xfrm>
            <a:off x="4736600" y="3529575"/>
            <a:ext cx="4114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10.000</a:t>
            </a:r>
            <a:r>
              <a:rPr lang="en-US" sz="3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340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cenários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0"/>
          <p:cNvSpPr/>
          <p:nvPr/>
        </p:nvSpPr>
        <p:spPr>
          <a:xfrm>
            <a:off x="4919472" y="4242816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AACC"/>
                </a:solidFill>
                <a:latin typeface="Calibri"/>
                <a:ea typeface="Calibri"/>
                <a:cs typeface="Calibri"/>
                <a:sym typeface="Calibri"/>
              </a:rPr>
              <a:t>Simula o que pode acontecer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0"/>
          <p:cNvSpPr/>
          <p:nvPr/>
        </p:nvSpPr>
        <p:spPr>
          <a:xfrm>
            <a:off x="4160520" y="3712464"/>
            <a:ext cx="804672" cy="804672"/>
          </a:xfrm>
          <a:prstGeom prst="ellipse">
            <a:avLst/>
          </a:prstGeom>
          <a:solidFill>
            <a:srgbClr val="252545"/>
          </a:solidFill>
          <a:ln cap="flat" cmpd="sng" w="15225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0"/>
          <p:cNvSpPr/>
          <p:nvPr/>
        </p:nvSpPr>
        <p:spPr>
          <a:xfrm>
            <a:off x="4160520" y="3712464"/>
            <a:ext cx="8046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1"/>
          <p:cNvSpPr/>
          <p:nvPr/>
        </p:nvSpPr>
        <p:spPr>
          <a:xfrm>
            <a:off x="74797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1"/>
          <p:cNvSpPr/>
          <p:nvPr/>
        </p:nvSpPr>
        <p:spPr>
          <a:xfrm>
            <a:off x="77083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1"/>
          <p:cNvSpPr/>
          <p:nvPr/>
        </p:nvSpPr>
        <p:spPr>
          <a:xfrm>
            <a:off x="79369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1"/>
          <p:cNvSpPr/>
          <p:nvPr/>
        </p:nvSpPr>
        <p:spPr>
          <a:xfrm>
            <a:off x="81655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1"/>
          <p:cNvSpPr/>
          <p:nvPr/>
        </p:nvSpPr>
        <p:spPr>
          <a:xfrm>
            <a:off x="83941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1"/>
          <p:cNvSpPr/>
          <p:nvPr/>
        </p:nvSpPr>
        <p:spPr>
          <a:xfrm>
            <a:off x="86227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1"/>
          <p:cNvSpPr/>
          <p:nvPr/>
        </p:nvSpPr>
        <p:spPr>
          <a:xfrm>
            <a:off x="88513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1"/>
          <p:cNvSpPr/>
          <p:nvPr/>
        </p:nvSpPr>
        <p:spPr>
          <a:xfrm>
            <a:off x="74797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1"/>
          <p:cNvSpPr/>
          <p:nvPr/>
        </p:nvSpPr>
        <p:spPr>
          <a:xfrm>
            <a:off x="77083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1"/>
          <p:cNvSpPr/>
          <p:nvPr/>
        </p:nvSpPr>
        <p:spPr>
          <a:xfrm>
            <a:off x="79369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1"/>
          <p:cNvSpPr/>
          <p:nvPr/>
        </p:nvSpPr>
        <p:spPr>
          <a:xfrm>
            <a:off x="81655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1"/>
          <p:cNvSpPr/>
          <p:nvPr/>
        </p:nvSpPr>
        <p:spPr>
          <a:xfrm>
            <a:off x="83941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1"/>
          <p:cNvSpPr/>
          <p:nvPr/>
        </p:nvSpPr>
        <p:spPr>
          <a:xfrm>
            <a:off x="86227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1"/>
          <p:cNvSpPr/>
          <p:nvPr/>
        </p:nvSpPr>
        <p:spPr>
          <a:xfrm>
            <a:off x="88513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1"/>
          <p:cNvSpPr/>
          <p:nvPr/>
        </p:nvSpPr>
        <p:spPr>
          <a:xfrm>
            <a:off x="74797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1"/>
          <p:cNvSpPr/>
          <p:nvPr/>
        </p:nvSpPr>
        <p:spPr>
          <a:xfrm>
            <a:off x="77083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1"/>
          <p:cNvSpPr/>
          <p:nvPr/>
        </p:nvSpPr>
        <p:spPr>
          <a:xfrm>
            <a:off x="79369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1"/>
          <p:cNvSpPr/>
          <p:nvPr/>
        </p:nvSpPr>
        <p:spPr>
          <a:xfrm>
            <a:off x="81655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1"/>
          <p:cNvSpPr/>
          <p:nvPr/>
        </p:nvSpPr>
        <p:spPr>
          <a:xfrm>
            <a:off x="83941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1"/>
          <p:cNvSpPr/>
          <p:nvPr/>
        </p:nvSpPr>
        <p:spPr>
          <a:xfrm>
            <a:off x="86227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1"/>
          <p:cNvSpPr/>
          <p:nvPr/>
        </p:nvSpPr>
        <p:spPr>
          <a:xfrm>
            <a:off x="88513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1"/>
          <p:cNvSpPr/>
          <p:nvPr/>
        </p:nvSpPr>
        <p:spPr>
          <a:xfrm>
            <a:off x="74797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1"/>
          <p:cNvSpPr/>
          <p:nvPr/>
        </p:nvSpPr>
        <p:spPr>
          <a:xfrm>
            <a:off x="77083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1"/>
          <p:cNvSpPr/>
          <p:nvPr/>
        </p:nvSpPr>
        <p:spPr>
          <a:xfrm>
            <a:off x="79369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1"/>
          <p:cNvSpPr/>
          <p:nvPr/>
        </p:nvSpPr>
        <p:spPr>
          <a:xfrm>
            <a:off x="81655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1"/>
          <p:cNvSpPr/>
          <p:nvPr/>
        </p:nvSpPr>
        <p:spPr>
          <a:xfrm>
            <a:off x="83941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1"/>
          <p:cNvSpPr/>
          <p:nvPr/>
        </p:nvSpPr>
        <p:spPr>
          <a:xfrm>
            <a:off x="86227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1"/>
          <p:cNvSpPr/>
          <p:nvPr/>
        </p:nvSpPr>
        <p:spPr>
          <a:xfrm>
            <a:off x="88513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1"/>
          <p:cNvSpPr/>
          <p:nvPr/>
        </p:nvSpPr>
        <p:spPr>
          <a:xfrm>
            <a:off x="74797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1"/>
          <p:cNvSpPr/>
          <p:nvPr/>
        </p:nvSpPr>
        <p:spPr>
          <a:xfrm>
            <a:off x="77083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1"/>
          <p:cNvSpPr/>
          <p:nvPr/>
        </p:nvSpPr>
        <p:spPr>
          <a:xfrm>
            <a:off x="79369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1"/>
          <p:cNvSpPr/>
          <p:nvPr/>
        </p:nvSpPr>
        <p:spPr>
          <a:xfrm>
            <a:off x="81655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1"/>
          <p:cNvSpPr/>
          <p:nvPr/>
        </p:nvSpPr>
        <p:spPr>
          <a:xfrm>
            <a:off x="83941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1"/>
          <p:cNvSpPr/>
          <p:nvPr/>
        </p:nvSpPr>
        <p:spPr>
          <a:xfrm>
            <a:off x="86227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1"/>
          <p:cNvSpPr/>
          <p:nvPr/>
        </p:nvSpPr>
        <p:spPr>
          <a:xfrm>
            <a:off x="88513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1"/>
          <p:cNvSpPr/>
          <p:nvPr/>
        </p:nvSpPr>
        <p:spPr>
          <a:xfrm>
            <a:off x="347472" y="128016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MONTE CARLO · STRESS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1"/>
          <p:cNvSpPr/>
          <p:nvPr/>
        </p:nvSpPr>
        <p:spPr>
          <a:xfrm>
            <a:off x="347472" y="347472"/>
            <a:ext cx="8458200" cy="11887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1"/>
          <p:cNvSpPr/>
          <p:nvPr/>
        </p:nvSpPr>
        <p:spPr>
          <a:xfrm>
            <a:off x="347472" y="420624"/>
            <a:ext cx="777240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Simulando 10.000 cenários com Cholesky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1"/>
          <p:cNvSpPr/>
          <p:nvPr/>
        </p:nvSpPr>
        <p:spPr>
          <a:xfrm>
            <a:off x="347472" y="1298448"/>
            <a:ext cx="8458200" cy="713232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1"/>
          <p:cNvSpPr/>
          <p:nvPr/>
        </p:nvSpPr>
        <p:spPr>
          <a:xfrm>
            <a:off x="512064" y="1371600"/>
            <a:ext cx="8138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Para gerar retornos simulados correlacionados corretamente, usamos a decomposição de Cholesky da matriz de covariância. Sem isso, os ativos do portfólio seriam simulados de forma independente — o que subestima o risco em crises.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1"/>
          <p:cNvSpPr/>
          <p:nvPr/>
        </p:nvSpPr>
        <p:spPr>
          <a:xfrm>
            <a:off x="347472" y="2176272"/>
            <a:ext cx="4846320" cy="2578608"/>
          </a:xfrm>
          <a:prstGeom prst="rect">
            <a:avLst/>
          </a:prstGeom>
          <a:solidFill>
            <a:srgbClr val="1E1E2E"/>
          </a:solidFill>
          <a:ln cap="flat" cmpd="sng" w="12700">
            <a:solidFill>
              <a:srgbClr val="1E1E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1"/>
          <p:cNvSpPr/>
          <p:nvPr/>
        </p:nvSpPr>
        <p:spPr>
          <a:xfrm>
            <a:off x="512064" y="2313432"/>
            <a:ext cx="4572000" cy="2350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np.random.</a:t>
            </a:r>
            <a:r>
              <a:rPr b="0" i="0" lang="en-US" sz="1050" u="none" cap="none" strike="noStrike">
                <a:solidFill>
                  <a:srgbClr val="82AAFF"/>
                </a:solidFill>
                <a:latin typeface="Consolas"/>
                <a:ea typeface="Consolas"/>
                <a:cs typeface="Consolas"/>
                <a:sym typeface="Consolas"/>
              </a:rPr>
              <a:t>seed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(42)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N_sim </a:t>
            </a:r>
            <a:r>
              <a:rPr b="0" i="0" lang="en-US" sz="1050" u="none" cap="none" strike="noStrike">
                <a:solidFill>
                  <a:srgbClr val="89DDFF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b="0" i="0" lang="en-US" sz="1050" u="none" cap="none" strike="noStrike">
                <a:solidFill>
                  <a:srgbClr val="FF5370"/>
                </a:solidFill>
                <a:latin typeface="Consolas"/>
                <a:ea typeface="Consolas"/>
                <a:cs typeface="Consolas"/>
                <a:sym typeface="Consolas"/>
              </a:rPr>
              <a:t>10_000</a:t>
            </a:r>
            <a:br>
              <a:rPr b="0" i="0" lang="en-US" sz="1050" u="none" cap="none" strike="noStrike">
                <a:solidFill>
                  <a:srgbClr val="FF5370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050" u="none" cap="none" strike="noStrike">
                <a:solidFill>
                  <a:srgbClr val="FF537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mu_diario </a:t>
            </a:r>
            <a:r>
              <a:rPr b="0" i="0" lang="en-US" sz="1050" u="none" cap="none" strike="noStrike">
                <a:solidFill>
                  <a:srgbClr val="89DDFF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ret.</a:t>
            </a:r>
            <a:r>
              <a:rPr b="0" i="0" lang="en-US" sz="1050" u="none" cap="none" strike="noStrike">
                <a:solidFill>
                  <a:srgbClr val="82AAFF"/>
                </a:solidFill>
                <a:latin typeface="Consolas"/>
                <a:ea typeface="Consolas"/>
                <a:cs typeface="Consolas"/>
                <a:sym typeface="Consolas"/>
              </a:rPr>
              <a:t>mean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().values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cov       </a:t>
            </a:r>
            <a:r>
              <a:rPr b="0" i="0" lang="en-US" sz="1050" u="none" cap="none" strike="noStrike">
                <a:solidFill>
                  <a:srgbClr val="89DDFF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ret.</a:t>
            </a:r>
            <a:r>
              <a:rPr b="0" i="0" lang="en-US" sz="1050" u="none" cap="none" strike="noStrike">
                <a:solidFill>
                  <a:srgbClr val="82AAFF"/>
                </a:solidFill>
                <a:latin typeface="Consolas"/>
                <a:ea typeface="Consolas"/>
                <a:cs typeface="Consolas"/>
                <a:sym typeface="Consolas"/>
              </a:rPr>
              <a:t>cov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().values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1" lang="en-US" sz="1050" u="none" cap="none" strike="noStrike">
                <a:solidFill>
                  <a:srgbClr val="676E95"/>
                </a:solidFill>
                <a:latin typeface="Consolas"/>
                <a:ea typeface="Consolas"/>
                <a:cs typeface="Consolas"/>
                <a:sym typeface="Consolas"/>
              </a:rPr>
              <a:t># Cholesky garante correlações corretas</a:t>
            </a:r>
            <a:br>
              <a:rPr b="0" i="1" lang="en-US" sz="1050" u="none" cap="none" strike="noStrike">
                <a:solidFill>
                  <a:srgbClr val="676E9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 </a:t>
            </a:r>
            <a:r>
              <a:rPr b="0" i="0" lang="en-US" sz="1050" u="none" cap="none" strike="noStrike">
                <a:solidFill>
                  <a:srgbClr val="89DDFF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np.linalg.</a:t>
            </a:r>
            <a:r>
              <a:rPr b="0" i="0" lang="en-US" sz="1050" u="none" cap="none" strike="noStrike">
                <a:solidFill>
                  <a:srgbClr val="82AAFF"/>
                </a:solidFill>
                <a:latin typeface="Consolas"/>
                <a:ea typeface="Consolas"/>
                <a:cs typeface="Consolas"/>
                <a:sym typeface="Consolas"/>
              </a:rPr>
              <a:t>cholesky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(cov)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Z </a:t>
            </a:r>
            <a:r>
              <a:rPr b="0" i="0" lang="en-US" sz="1050" u="none" cap="none" strike="noStrike">
                <a:solidFill>
                  <a:srgbClr val="89DDFF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np.random.</a:t>
            </a:r>
            <a:r>
              <a:rPr b="0" i="0" lang="en-US" sz="1050" u="none" cap="none" strike="noStrike">
                <a:solidFill>
                  <a:srgbClr val="82AAFF"/>
                </a:solidFill>
                <a:latin typeface="Consolas"/>
                <a:ea typeface="Consolas"/>
                <a:cs typeface="Consolas"/>
                <a:sym typeface="Consolas"/>
              </a:rPr>
              <a:t>standard_normal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((N_sim, </a:t>
            </a:r>
            <a:r>
              <a:rPr b="0" i="0" lang="en-US" sz="1050" u="none" cap="none" strike="noStrike">
                <a:solidFill>
                  <a:srgbClr val="FF5370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))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sim_ret  </a:t>
            </a:r>
            <a:r>
              <a:rPr b="0" i="0" lang="en-US" sz="1050" u="none" cap="none" strike="noStrike">
                <a:solidFill>
                  <a:srgbClr val="89DDFF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Z @ L.T </a:t>
            </a:r>
            <a:r>
              <a:rPr b="0" i="0" lang="en-US" sz="1050" u="none" cap="none" strike="noStrike">
                <a:solidFill>
                  <a:srgbClr val="89DDFF"/>
                </a:solidFill>
                <a:latin typeface="Consolas"/>
                <a:ea typeface="Consolas"/>
                <a:cs typeface="Consolas"/>
                <a:sym typeface="Consolas"/>
              </a:rPr>
              <a:t>+ 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mu_diario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sim_port </a:t>
            </a:r>
            <a:r>
              <a:rPr b="0" i="0" lang="en-US" sz="1050" u="none" cap="none" strike="noStrike">
                <a:solidFill>
                  <a:srgbClr val="89DDFF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sim_ret @ pesos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alpha    </a:t>
            </a:r>
            <a:r>
              <a:rPr b="0" i="0" lang="en-US" sz="1050" u="none" cap="none" strike="noStrike">
                <a:solidFill>
                  <a:srgbClr val="89DDFF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b="0" i="0" lang="en-US" sz="1050" u="none" cap="none" strike="noStrike">
                <a:solidFill>
                  <a:srgbClr val="FF5370"/>
                </a:solidFill>
                <a:latin typeface="Consolas"/>
                <a:ea typeface="Consolas"/>
                <a:cs typeface="Consolas"/>
                <a:sym typeface="Consolas"/>
              </a:rPr>
              <a:t>0.05</a:t>
            </a:r>
            <a:br>
              <a:rPr b="0" i="0" lang="en-US" sz="1050" u="none" cap="none" strike="noStrike">
                <a:solidFill>
                  <a:srgbClr val="FF537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var_mc   </a:t>
            </a:r>
            <a:r>
              <a:rPr b="0" i="0" lang="en-US" sz="1050" u="none" cap="none" strike="noStrike">
                <a:solidFill>
                  <a:srgbClr val="89DDFF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np.</a:t>
            </a:r>
            <a:r>
              <a:rPr b="0" i="0" lang="en-US" sz="1050" u="none" cap="none" strike="noStrike">
                <a:solidFill>
                  <a:srgbClr val="82AAFF"/>
                </a:solidFill>
                <a:latin typeface="Consolas"/>
                <a:ea typeface="Consolas"/>
                <a:cs typeface="Consolas"/>
                <a:sym typeface="Consolas"/>
              </a:rPr>
              <a:t>percentile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(sim_port, alpha</a:t>
            </a:r>
            <a:r>
              <a:rPr b="0" i="0" lang="en-US" sz="1050" u="none" cap="none" strike="noStrike">
                <a:solidFill>
                  <a:srgbClr val="89DDFF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100)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cvar_mc  </a:t>
            </a:r>
            <a:r>
              <a:rPr b="0" i="0" lang="en-US" sz="1050" u="none" cap="none" strike="noStrike">
                <a:solidFill>
                  <a:srgbClr val="89DDFF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sim_port[sim_port </a:t>
            </a:r>
            <a:r>
              <a:rPr b="0" i="0" lang="en-US" sz="1050" u="none" cap="none" strike="noStrike">
                <a:solidFill>
                  <a:srgbClr val="89DDFF"/>
                </a:solidFill>
                <a:latin typeface="Consolas"/>
                <a:ea typeface="Consolas"/>
                <a:cs typeface="Consolas"/>
                <a:sym typeface="Consolas"/>
              </a:rPr>
              <a:t>&lt;= 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var_mc].</a:t>
            </a:r>
            <a:r>
              <a:rPr b="0" i="0" lang="en-US" sz="1050" u="none" cap="none" strike="noStrike">
                <a:solidFill>
                  <a:srgbClr val="82AAFF"/>
                </a:solidFill>
                <a:latin typeface="Consolas"/>
                <a:ea typeface="Consolas"/>
                <a:cs typeface="Consolas"/>
                <a:sym typeface="Consolas"/>
              </a:rPr>
              <a:t>mean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1"/>
          <p:cNvSpPr/>
          <p:nvPr/>
        </p:nvSpPr>
        <p:spPr>
          <a:xfrm>
            <a:off x="5376672" y="2176272"/>
            <a:ext cx="3419856" cy="804672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1"/>
          <p:cNvSpPr/>
          <p:nvPr/>
        </p:nvSpPr>
        <p:spPr>
          <a:xfrm>
            <a:off x="8412480" y="2267712"/>
            <a:ext cx="3291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1"/>
          <p:cNvSpPr/>
          <p:nvPr/>
        </p:nvSpPr>
        <p:spPr>
          <a:xfrm>
            <a:off x="5541264" y="2219391"/>
            <a:ext cx="2916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Por que Cholesky?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1"/>
          <p:cNvSpPr/>
          <p:nvPr/>
        </p:nvSpPr>
        <p:spPr>
          <a:xfrm>
            <a:off x="5541264" y="2494479"/>
            <a:ext cx="3090600" cy="102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1"/>
          <p:cNvSpPr/>
          <p:nvPr/>
        </p:nvSpPr>
        <p:spPr>
          <a:xfrm>
            <a:off x="5541264" y="2633638"/>
            <a:ext cx="3090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 decomposição L tal que Σ = LLᵀ. Multiplicar Z (normal independente) por L transforma em vetores correlacionados segundo a covariância histórica.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1"/>
          <p:cNvSpPr/>
          <p:nvPr/>
        </p:nvSpPr>
        <p:spPr>
          <a:xfrm>
            <a:off x="5376672" y="3063240"/>
            <a:ext cx="3419856" cy="804672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1"/>
          <p:cNvSpPr/>
          <p:nvPr/>
        </p:nvSpPr>
        <p:spPr>
          <a:xfrm>
            <a:off x="8412480" y="3154680"/>
            <a:ext cx="3291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1"/>
          <p:cNvSpPr/>
          <p:nvPr/>
        </p:nvSpPr>
        <p:spPr>
          <a:xfrm>
            <a:off x="5541264" y="3100147"/>
            <a:ext cx="2916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Z @ L.T + μ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1"/>
          <p:cNvSpPr/>
          <p:nvPr/>
        </p:nvSpPr>
        <p:spPr>
          <a:xfrm>
            <a:off x="5541264" y="3377134"/>
            <a:ext cx="3090600" cy="102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1"/>
          <p:cNvSpPr/>
          <p:nvPr/>
        </p:nvSpPr>
        <p:spPr>
          <a:xfrm>
            <a:off x="5541264" y="3522676"/>
            <a:ext cx="3090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Z é a aleatoriedade pura (N×4 normais padrão). Multiplicar por Lᵀ injeta a estrutura de correlação. Somar μ adiciona a média histórica.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1"/>
          <p:cNvSpPr/>
          <p:nvPr/>
        </p:nvSpPr>
        <p:spPr>
          <a:xfrm>
            <a:off x="5376672" y="3950208"/>
            <a:ext cx="3419856" cy="804672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1"/>
          <p:cNvSpPr/>
          <p:nvPr/>
        </p:nvSpPr>
        <p:spPr>
          <a:xfrm>
            <a:off x="8412480" y="4041648"/>
            <a:ext cx="3291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1"/>
          <p:cNvSpPr/>
          <p:nvPr/>
        </p:nvSpPr>
        <p:spPr>
          <a:xfrm>
            <a:off x="5541264" y="3964338"/>
            <a:ext cx="2916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sim_ret @ pesos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1"/>
          <p:cNvSpPr/>
          <p:nvPr/>
        </p:nvSpPr>
        <p:spPr>
          <a:xfrm>
            <a:off x="5541264" y="4293870"/>
            <a:ext cx="3090600" cy="102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1"/>
          <p:cNvSpPr/>
          <p:nvPr/>
        </p:nvSpPr>
        <p:spPr>
          <a:xfrm>
            <a:off x="5541264" y="4403432"/>
            <a:ext cx="3090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Produto escalar: cada linha de sim_ret é um cenário de 1 dia para os 4 ativos. Multiplicar pelos pesos dá o retorno do portfólio naquele cenário.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12"/>
          <p:cNvSpPr/>
          <p:nvPr/>
        </p:nvSpPr>
        <p:spPr>
          <a:xfrm>
            <a:off x="74797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2"/>
          <p:cNvSpPr/>
          <p:nvPr/>
        </p:nvSpPr>
        <p:spPr>
          <a:xfrm>
            <a:off x="77083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2"/>
          <p:cNvSpPr/>
          <p:nvPr/>
        </p:nvSpPr>
        <p:spPr>
          <a:xfrm>
            <a:off x="79369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2"/>
          <p:cNvSpPr/>
          <p:nvPr/>
        </p:nvSpPr>
        <p:spPr>
          <a:xfrm>
            <a:off x="81655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2"/>
          <p:cNvSpPr/>
          <p:nvPr/>
        </p:nvSpPr>
        <p:spPr>
          <a:xfrm>
            <a:off x="83941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2"/>
          <p:cNvSpPr/>
          <p:nvPr/>
        </p:nvSpPr>
        <p:spPr>
          <a:xfrm>
            <a:off x="86227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2"/>
          <p:cNvSpPr/>
          <p:nvPr/>
        </p:nvSpPr>
        <p:spPr>
          <a:xfrm>
            <a:off x="88513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2"/>
          <p:cNvSpPr/>
          <p:nvPr/>
        </p:nvSpPr>
        <p:spPr>
          <a:xfrm>
            <a:off x="74797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2"/>
          <p:cNvSpPr/>
          <p:nvPr/>
        </p:nvSpPr>
        <p:spPr>
          <a:xfrm>
            <a:off x="77083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2"/>
          <p:cNvSpPr/>
          <p:nvPr/>
        </p:nvSpPr>
        <p:spPr>
          <a:xfrm>
            <a:off x="79369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2"/>
          <p:cNvSpPr/>
          <p:nvPr/>
        </p:nvSpPr>
        <p:spPr>
          <a:xfrm>
            <a:off x="81655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2"/>
          <p:cNvSpPr/>
          <p:nvPr/>
        </p:nvSpPr>
        <p:spPr>
          <a:xfrm>
            <a:off x="83941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2"/>
          <p:cNvSpPr/>
          <p:nvPr/>
        </p:nvSpPr>
        <p:spPr>
          <a:xfrm>
            <a:off x="86227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2"/>
          <p:cNvSpPr/>
          <p:nvPr/>
        </p:nvSpPr>
        <p:spPr>
          <a:xfrm>
            <a:off x="88513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2"/>
          <p:cNvSpPr/>
          <p:nvPr/>
        </p:nvSpPr>
        <p:spPr>
          <a:xfrm>
            <a:off x="74797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12"/>
          <p:cNvSpPr/>
          <p:nvPr/>
        </p:nvSpPr>
        <p:spPr>
          <a:xfrm>
            <a:off x="77083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12"/>
          <p:cNvSpPr/>
          <p:nvPr/>
        </p:nvSpPr>
        <p:spPr>
          <a:xfrm>
            <a:off x="79369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12"/>
          <p:cNvSpPr/>
          <p:nvPr/>
        </p:nvSpPr>
        <p:spPr>
          <a:xfrm>
            <a:off x="81655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2"/>
          <p:cNvSpPr/>
          <p:nvPr/>
        </p:nvSpPr>
        <p:spPr>
          <a:xfrm>
            <a:off x="83941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2"/>
          <p:cNvSpPr/>
          <p:nvPr/>
        </p:nvSpPr>
        <p:spPr>
          <a:xfrm>
            <a:off x="86227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12"/>
          <p:cNvSpPr/>
          <p:nvPr/>
        </p:nvSpPr>
        <p:spPr>
          <a:xfrm>
            <a:off x="88513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12"/>
          <p:cNvSpPr/>
          <p:nvPr/>
        </p:nvSpPr>
        <p:spPr>
          <a:xfrm>
            <a:off x="74797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2"/>
          <p:cNvSpPr/>
          <p:nvPr/>
        </p:nvSpPr>
        <p:spPr>
          <a:xfrm>
            <a:off x="77083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2"/>
          <p:cNvSpPr/>
          <p:nvPr/>
        </p:nvSpPr>
        <p:spPr>
          <a:xfrm>
            <a:off x="79369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2"/>
          <p:cNvSpPr/>
          <p:nvPr/>
        </p:nvSpPr>
        <p:spPr>
          <a:xfrm>
            <a:off x="81655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2"/>
          <p:cNvSpPr/>
          <p:nvPr/>
        </p:nvSpPr>
        <p:spPr>
          <a:xfrm>
            <a:off x="83941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2"/>
          <p:cNvSpPr/>
          <p:nvPr/>
        </p:nvSpPr>
        <p:spPr>
          <a:xfrm>
            <a:off x="86227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12"/>
          <p:cNvSpPr/>
          <p:nvPr/>
        </p:nvSpPr>
        <p:spPr>
          <a:xfrm>
            <a:off x="88513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2"/>
          <p:cNvSpPr/>
          <p:nvPr/>
        </p:nvSpPr>
        <p:spPr>
          <a:xfrm>
            <a:off x="74797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12"/>
          <p:cNvSpPr/>
          <p:nvPr/>
        </p:nvSpPr>
        <p:spPr>
          <a:xfrm>
            <a:off x="77083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2"/>
          <p:cNvSpPr/>
          <p:nvPr/>
        </p:nvSpPr>
        <p:spPr>
          <a:xfrm>
            <a:off x="79369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12"/>
          <p:cNvSpPr/>
          <p:nvPr/>
        </p:nvSpPr>
        <p:spPr>
          <a:xfrm>
            <a:off x="81655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2"/>
          <p:cNvSpPr/>
          <p:nvPr/>
        </p:nvSpPr>
        <p:spPr>
          <a:xfrm>
            <a:off x="83941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12"/>
          <p:cNvSpPr/>
          <p:nvPr/>
        </p:nvSpPr>
        <p:spPr>
          <a:xfrm>
            <a:off x="86227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12"/>
          <p:cNvSpPr/>
          <p:nvPr/>
        </p:nvSpPr>
        <p:spPr>
          <a:xfrm>
            <a:off x="88513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1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12"/>
          <p:cNvSpPr/>
          <p:nvPr/>
        </p:nvSpPr>
        <p:spPr>
          <a:xfrm>
            <a:off x="347472" y="128016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MONTE CARLO · STRESS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2"/>
          <p:cNvSpPr/>
          <p:nvPr/>
        </p:nvSpPr>
        <p:spPr>
          <a:xfrm>
            <a:off x="347472" y="347472"/>
            <a:ext cx="8458200" cy="11887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12"/>
          <p:cNvSpPr/>
          <p:nvPr/>
        </p:nvSpPr>
        <p:spPr>
          <a:xfrm>
            <a:off x="347472" y="468678"/>
            <a:ext cx="77724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Multiplicando a volatilidade: o que acontece em crises?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2"/>
          <p:cNvSpPr/>
          <p:nvPr/>
        </p:nvSpPr>
        <p:spPr>
          <a:xfrm>
            <a:off x="347475" y="1408176"/>
            <a:ext cx="8458200" cy="49380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2"/>
          <p:cNvSpPr/>
          <p:nvPr/>
        </p:nvSpPr>
        <p:spPr>
          <a:xfrm>
            <a:off x="512064" y="1376172"/>
            <a:ext cx="81381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Em crises, a volatilidade não apenas sobe</a:t>
            </a:r>
            <a:r>
              <a:rPr lang="en-US" sz="11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ela pode dobrar ou triplicar. Multiplicamos a matriz de covariância por f² para simular regimes de alta volatilidade sem mudar a estrutura de correlação entre os ativos.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2"/>
          <p:cNvSpPr/>
          <p:nvPr/>
        </p:nvSpPr>
        <p:spPr>
          <a:xfrm>
            <a:off x="347472" y="2029968"/>
            <a:ext cx="4846320" cy="2724912"/>
          </a:xfrm>
          <a:prstGeom prst="rect">
            <a:avLst/>
          </a:prstGeom>
          <a:solidFill>
            <a:srgbClr val="1E1E2E"/>
          </a:solidFill>
          <a:ln cap="flat" cmpd="sng" w="12700">
            <a:solidFill>
              <a:srgbClr val="1E1E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12"/>
          <p:cNvSpPr/>
          <p:nvPr/>
        </p:nvSpPr>
        <p:spPr>
          <a:xfrm>
            <a:off x="512064" y="2167128"/>
            <a:ext cx="4572000" cy="2496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fatores_stress </a:t>
            </a:r>
            <a:r>
              <a:rPr b="0" i="0" lang="en-US" sz="1050" u="none" cap="none" strike="noStrike">
                <a:solidFill>
                  <a:srgbClr val="89DDFF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b="0" i="0" lang="en-US" sz="1050" u="none" cap="none" strike="noStrike">
                <a:solidFill>
                  <a:srgbClr val="FF5370"/>
                </a:solidFill>
                <a:latin typeface="Consolas"/>
                <a:ea typeface="Consolas"/>
                <a:cs typeface="Consolas"/>
                <a:sym typeface="Consolas"/>
              </a:rPr>
              <a:t>[1.0, 1.5, 2.0, 3.0]</a:t>
            </a:r>
            <a:r>
              <a:rPr b="0" i="1" lang="en-US" sz="1050" u="none" cap="none" strike="noStrike">
                <a:solidFill>
                  <a:srgbClr val="676E95"/>
                </a:solidFill>
                <a:latin typeface="Consolas"/>
                <a:ea typeface="Consolas"/>
                <a:cs typeface="Consolas"/>
                <a:sym typeface="Consolas"/>
              </a:rPr>
              <a:t>  # 1x normal, 3x crise severa</a:t>
            </a:r>
            <a:br>
              <a:rPr b="0" i="1" lang="en-US" sz="1050" u="none" cap="none" strike="noStrike">
                <a:solidFill>
                  <a:srgbClr val="676E95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1" lang="en-US" sz="1050" u="none" cap="none" strike="noStrike">
                <a:solidFill>
                  <a:srgbClr val="676E9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C792EA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f </a:t>
            </a:r>
            <a:r>
              <a:rPr b="0" i="0" lang="en-US" sz="1050" u="none" cap="none" strike="noStrike">
                <a:solidFill>
                  <a:srgbClr val="C792EA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fatores_stress: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1" lang="en-US" sz="1050" u="none" cap="none" strike="noStrike">
                <a:solidFill>
                  <a:srgbClr val="676E95"/>
                </a:solidFill>
                <a:latin typeface="Consolas"/>
                <a:ea typeface="Consolas"/>
                <a:cs typeface="Consolas"/>
                <a:sym typeface="Consolas"/>
              </a:rPr>
              <a:t>    # escala a variância (cov × f²)</a:t>
            </a:r>
            <a:br>
              <a:rPr b="0" i="1" lang="en-US" sz="1050" u="none" cap="none" strike="noStrike">
                <a:solidFill>
                  <a:srgbClr val="676E9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cov_stress </a:t>
            </a:r>
            <a:r>
              <a:rPr b="0" i="0" lang="en-US" sz="1050" u="none" cap="none" strike="noStrike">
                <a:solidFill>
                  <a:srgbClr val="89DDFF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cov * (f ** </a:t>
            </a:r>
            <a:r>
              <a:rPr b="0" i="0" lang="en-US" sz="1050" u="none" cap="none" strike="noStrike">
                <a:solidFill>
                  <a:srgbClr val="FF537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L_s </a:t>
            </a:r>
            <a:r>
              <a:rPr b="0" i="0" lang="en-US" sz="1050" u="none" cap="none" strike="noStrike">
                <a:solidFill>
                  <a:srgbClr val="89DDFF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np.linalg.</a:t>
            </a:r>
            <a:r>
              <a:rPr b="0" i="0" lang="en-US" sz="1050" u="none" cap="none" strike="noStrike">
                <a:solidFill>
                  <a:srgbClr val="82AAFF"/>
                </a:solidFill>
                <a:latin typeface="Consolas"/>
                <a:ea typeface="Consolas"/>
                <a:cs typeface="Consolas"/>
                <a:sym typeface="Consolas"/>
              </a:rPr>
              <a:t>cholesky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(cov_stress)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sim_s </a:t>
            </a:r>
            <a:r>
              <a:rPr b="0" i="0" lang="en-US" sz="1050" u="none" cap="none" strike="noStrike">
                <a:solidFill>
                  <a:srgbClr val="89DDFF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(Z @ L_s.T </a:t>
            </a:r>
            <a:r>
              <a:rPr b="0" i="0" lang="en-US" sz="1050" u="none" cap="none" strike="noStrike">
                <a:solidFill>
                  <a:srgbClr val="89DDFF"/>
                </a:solidFill>
                <a:latin typeface="Consolas"/>
                <a:ea typeface="Consolas"/>
                <a:cs typeface="Consolas"/>
                <a:sym typeface="Consolas"/>
              </a:rPr>
              <a:t>+ 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mu_diario) @ pesos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v_s </a:t>
            </a:r>
            <a:r>
              <a:rPr b="0" i="0" lang="en-US" sz="1050" u="none" cap="none" strike="noStrike">
                <a:solidFill>
                  <a:srgbClr val="89DDFF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np.</a:t>
            </a:r>
            <a:r>
              <a:rPr b="0" i="0" lang="en-US" sz="1050" u="none" cap="none" strike="noStrike">
                <a:solidFill>
                  <a:srgbClr val="82AAFF"/>
                </a:solidFill>
                <a:latin typeface="Consolas"/>
                <a:ea typeface="Consolas"/>
                <a:cs typeface="Consolas"/>
                <a:sym typeface="Consolas"/>
              </a:rPr>
              <a:t>percentile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(sim_s, </a:t>
            </a:r>
            <a:r>
              <a:rPr b="0" i="0" lang="en-US" sz="1050" u="none" cap="none" strike="noStrike">
                <a:solidFill>
                  <a:srgbClr val="FF5370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c_s </a:t>
            </a:r>
            <a:r>
              <a:rPr b="0" i="0" lang="en-US" sz="1050" u="none" cap="none" strike="noStrike">
                <a:solidFill>
                  <a:srgbClr val="89DDFF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sim_s[sim_s </a:t>
            </a:r>
            <a:r>
              <a:rPr b="0" i="0" lang="en-US" sz="1050" u="none" cap="none" strike="noStrike">
                <a:solidFill>
                  <a:srgbClr val="89DDFF"/>
                </a:solidFill>
                <a:latin typeface="Consolas"/>
                <a:ea typeface="Consolas"/>
                <a:cs typeface="Consolas"/>
                <a:sym typeface="Consolas"/>
              </a:rPr>
              <a:t>&lt;= 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v_s].</a:t>
            </a:r>
            <a:r>
              <a:rPr b="0" i="0" lang="en-US" sz="1050" u="none" cap="none" strike="noStrike">
                <a:solidFill>
                  <a:srgbClr val="82AAFF"/>
                </a:solidFill>
                <a:latin typeface="Consolas"/>
                <a:ea typeface="Consolas"/>
                <a:cs typeface="Consolas"/>
                <a:sym typeface="Consolas"/>
              </a:rPr>
              <a:t>mean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1" lang="en-US" sz="1050" u="none" cap="none" strike="noStrike">
                <a:solidFill>
                  <a:srgbClr val="676E95"/>
                </a:solidFill>
                <a:latin typeface="Consolas"/>
                <a:ea typeface="Consolas"/>
                <a:cs typeface="Consolas"/>
                <a:sym typeface="Consolas"/>
              </a:rPr>
              <a:t># Escalando cov por f²:</a:t>
            </a:r>
            <a:br>
              <a:rPr b="0" i="1" lang="en-US" sz="1050" u="none" cap="none" strike="noStrike">
                <a:solidFill>
                  <a:srgbClr val="676E9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1" lang="en-US" sz="1050" u="none" cap="none" strike="noStrike">
                <a:solidFill>
                  <a:srgbClr val="676E95"/>
                </a:solidFill>
                <a:latin typeface="Consolas"/>
                <a:ea typeface="Consolas"/>
                <a:cs typeface="Consolas"/>
                <a:sym typeface="Consolas"/>
              </a:rPr>
              <a:t># vol (desvio) escala por f, variância por f²</a:t>
            </a:r>
            <a:br>
              <a:rPr b="0" i="1" lang="en-US" sz="1050" u="none" cap="none" strike="noStrike">
                <a:solidFill>
                  <a:srgbClr val="676E9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1" lang="en-US" sz="1050" u="none" cap="none" strike="noStrike">
                <a:solidFill>
                  <a:srgbClr val="676E95"/>
                </a:solidFill>
                <a:latin typeface="Consolas"/>
                <a:ea typeface="Consolas"/>
                <a:cs typeface="Consolas"/>
                <a:sym typeface="Consolas"/>
              </a:rPr>
              <a:t># correlações permanecem idênticas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2"/>
          <p:cNvSpPr/>
          <p:nvPr/>
        </p:nvSpPr>
        <p:spPr>
          <a:xfrm>
            <a:off x="5376672" y="2029968"/>
            <a:ext cx="3419856" cy="292608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12"/>
          <p:cNvSpPr/>
          <p:nvPr/>
        </p:nvSpPr>
        <p:spPr>
          <a:xfrm>
            <a:off x="5422392" y="2075688"/>
            <a:ext cx="60350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Fator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2"/>
          <p:cNvSpPr/>
          <p:nvPr/>
        </p:nvSpPr>
        <p:spPr>
          <a:xfrm>
            <a:off x="6080760" y="2075688"/>
            <a:ext cx="67665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VaR 95%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2"/>
          <p:cNvSpPr/>
          <p:nvPr/>
        </p:nvSpPr>
        <p:spPr>
          <a:xfrm>
            <a:off x="6812280" y="2075688"/>
            <a:ext cx="7498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CVaR 95%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2"/>
          <p:cNvSpPr/>
          <p:nvPr/>
        </p:nvSpPr>
        <p:spPr>
          <a:xfrm>
            <a:off x="7616952" y="2075688"/>
            <a:ext cx="106070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Perda $10k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2"/>
          <p:cNvSpPr/>
          <p:nvPr/>
        </p:nvSpPr>
        <p:spPr>
          <a:xfrm>
            <a:off x="5376672" y="2322576"/>
            <a:ext cx="3419856" cy="493776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12"/>
          <p:cNvSpPr/>
          <p:nvPr/>
        </p:nvSpPr>
        <p:spPr>
          <a:xfrm>
            <a:off x="5376672" y="2322576"/>
            <a:ext cx="36576" cy="493776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12"/>
          <p:cNvSpPr/>
          <p:nvPr/>
        </p:nvSpPr>
        <p:spPr>
          <a:xfrm>
            <a:off x="5431536" y="2432304"/>
            <a:ext cx="5669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1,0x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2"/>
          <p:cNvSpPr/>
          <p:nvPr/>
        </p:nvSpPr>
        <p:spPr>
          <a:xfrm>
            <a:off x="6089904" y="2432304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-2,1%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2"/>
          <p:cNvSpPr/>
          <p:nvPr/>
        </p:nvSpPr>
        <p:spPr>
          <a:xfrm>
            <a:off x="6821424" y="2432304"/>
            <a:ext cx="7132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-2,8%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2"/>
          <p:cNvSpPr/>
          <p:nvPr/>
        </p:nvSpPr>
        <p:spPr>
          <a:xfrm>
            <a:off x="7626096" y="2432304"/>
            <a:ext cx="10241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$280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2"/>
          <p:cNvSpPr/>
          <p:nvPr/>
        </p:nvSpPr>
        <p:spPr>
          <a:xfrm>
            <a:off x="5376672" y="2889504"/>
            <a:ext cx="3419856" cy="49377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12"/>
          <p:cNvSpPr/>
          <p:nvPr/>
        </p:nvSpPr>
        <p:spPr>
          <a:xfrm>
            <a:off x="5376672" y="2889504"/>
            <a:ext cx="36576" cy="4937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12"/>
          <p:cNvSpPr/>
          <p:nvPr/>
        </p:nvSpPr>
        <p:spPr>
          <a:xfrm>
            <a:off x="5431536" y="2999232"/>
            <a:ext cx="5669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1,5x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2"/>
          <p:cNvSpPr/>
          <p:nvPr/>
        </p:nvSpPr>
        <p:spPr>
          <a:xfrm>
            <a:off x="6089904" y="2999232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-3,2%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2"/>
          <p:cNvSpPr/>
          <p:nvPr/>
        </p:nvSpPr>
        <p:spPr>
          <a:xfrm>
            <a:off x="6821424" y="2999232"/>
            <a:ext cx="7132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-4,3%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2"/>
          <p:cNvSpPr/>
          <p:nvPr/>
        </p:nvSpPr>
        <p:spPr>
          <a:xfrm>
            <a:off x="7626096" y="2999232"/>
            <a:ext cx="10241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$430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2"/>
          <p:cNvSpPr/>
          <p:nvPr/>
        </p:nvSpPr>
        <p:spPr>
          <a:xfrm>
            <a:off x="5376672" y="3456432"/>
            <a:ext cx="3419856" cy="493776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12"/>
          <p:cNvSpPr/>
          <p:nvPr/>
        </p:nvSpPr>
        <p:spPr>
          <a:xfrm>
            <a:off x="5376672" y="3456432"/>
            <a:ext cx="36576" cy="4937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12"/>
          <p:cNvSpPr/>
          <p:nvPr/>
        </p:nvSpPr>
        <p:spPr>
          <a:xfrm>
            <a:off x="5431536" y="3566160"/>
            <a:ext cx="5669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2,0x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2"/>
          <p:cNvSpPr/>
          <p:nvPr/>
        </p:nvSpPr>
        <p:spPr>
          <a:xfrm>
            <a:off x="6089904" y="3566160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-4,3%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2"/>
          <p:cNvSpPr/>
          <p:nvPr/>
        </p:nvSpPr>
        <p:spPr>
          <a:xfrm>
            <a:off x="6821424" y="3566160"/>
            <a:ext cx="7132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-5,7%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2"/>
          <p:cNvSpPr/>
          <p:nvPr/>
        </p:nvSpPr>
        <p:spPr>
          <a:xfrm>
            <a:off x="7626096" y="3566160"/>
            <a:ext cx="10241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$570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2"/>
          <p:cNvSpPr/>
          <p:nvPr/>
        </p:nvSpPr>
        <p:spPr>
          <a:xfrm>
            <a:off x="5376672" y="4023360"/>
            <a:ext cx="3419856" cy="49377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12"/>
          <p:cNvSpPr/>
          <p:nvPr/>
        </p:nvSpPr>
        <p:spPr>
          <a:xfrm>
            <a:off x="5376672" y="4023360"/>
            <a:ext cx="36576" cy="493776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12"/>
          <p:cNvSpPr/>
          <p:nvPr/>
        </p:nvSpPr>
        <p:spPr>
          <a:xfrm>
            <a:off x="5431536" y="4133088"/>
            <a:ext cx="5669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3,0x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2"/>
          <p:cNvSpPr/>
          <p:nvPr/>
        </p:nvSpPr>
        <p:spPr>
          <a:xfrm>
            <a:off x="6089904" y="4133088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-6,5%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2"/>
          <p:cNvSpPr/>
          <p:nvPr/>
        </p:nvSpPr>
        <p:spPr>
          <a:xfrm>
            <a:off x="6821424" y="4133088"/>
            <a:ext cx="7132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-8,6%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2"/>
          <p:cNvSpPr/>
          <p:nvPr/>
        </p:nvSpPr>
        <p:spPr>
          <a:xfrm>
            <a:off x="7626096" y="4133088"/>
            <a:ext cx="10241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$860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2"/>
          <p:cNvSpPr/>
          <p:nvPr/>
        </p:nvSpPr>
        <p:spPr>
          <a:xfrm>
            <a:off x="5376672" y="4681728"/>
            <a:ext cx="3419856" cy="310896"/>
          </a:xfrm>
          <a:prstGeom prst="rect">
            <a:avLst/>
          </a:prstGeom>
          <a:solidFill>
            <a:srgbClr val="F0E8FF"/>
          </a:solidFill>
          <a:ln cap="flat" cmpd="sng" w="9525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12"/>
          <p:cNvSpPr/>
          <p:nvPr/>
        </p:nvSpPr>
        <p:spPr>
          <a:xfrm>
            <a:off x="5486400" y="4690872"/>
            <a:ext cx="32186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1F9A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5A1F9A"/>
                </a:solidFill>
                <a:latin typeface="Calibri"/>
                <a:ea typeface="Calibri"/>
                <a:cs typeface="Calibri"/>
                <a:sym typeface="Calibri"/>
              </a:rPr>
              <a:t>Com volatilidade 3x (regime de crise severa), o CVaR triplicou. É exatamente o que observamos em 2008 e COVID.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13"/>
          <p:cNvSpPr/>
          <p:nvPr/>
        </p:nvSpPr>
        <p:spPr>
          <a:xfrm>
            <a:off x="74797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13"/>
          <p:cNvSpPr/>
          <p:nvPr/>
        </p:nvSpPr>
        <p:spPr>
          <a:xfrm>
            <a:off x="77083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13"/>
          <p:cNvSpPr/>
          <p:nvPr/>
        </p:nvSpPr>
        <p:spPr>
          <a:xfrm>
            <a:off x="79369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13"/>
          <p:cNvSpPr/>
          <p:nvPr/>
        </p:nvSpPr>
        <p:spPr>
          <a:xfrm>
            <a:off x="81655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13"/>
          <p:cNvSpPr/>
          <p:nvPr/>
        </p:nvSpPr>
        <p:spPr>
          <a:xfrm>
            <a:off x="83941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13"/>
          <p:cNvSpPr/>
          <p:nvPr/>
        </p:nvSpPr>
        <p:spPr>
          <a:xfrm>
            <a:off x="86227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13"/>
          <p:cNvSpPr/>
          <p:nvPr/>
        </p:nvSpPr>
        <p:spPr>
          <a:xfrm>
            <a:off x="88513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13"/>
          <p:cNvSpPr/>
          <p:nvPr/>
        </p:nvSpPr>
        <p:spPr>
          <a:xfrm>
            <a:off x="74797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13"/>
          <p:cNvSpPr/>
          <p:nvPr/>
        </p:nvSpPr>
        <p:spPr>
          <a:xfrm>
            <a:off x="77083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13"/>
          <p:cNvSpPr/>
          <p:nvPr/>
        </p:nvSpPr>
        <p:spPr>
          <a:xfrm>
            <a:off x="79369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13"/>
          <p:cNvSpPr/>
          <p:nvPr/>
        </p:nvSpPr>
        <p:spPr>
          <a:xfrm>
            <a:off x="81655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13"/>
          <p:cNvSpPr/>
          <p:nvPr/>
        </p:nvSpPr>
        <p:spPr>
          <a:xfrm>
            <a:off x="83941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13"/>
          <p:cNvSpPr/>
          <p:nvPr/>
        </p:nvSpPr>
        <p:spPr>
          <a:xfrm>
            <a:off x="86227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13"/>
          <p:cNvSpPr/>
          <p:nvPr/>
        </p:nvSpPr>
        <p:spPr>
          <a:xfrm>
            <a:off x="88513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13"/>
          <p:cNvSpPr/>
          <p:nvPr/>
        </p:nvSpPr>
        <p:spPr>
          <a:xfrm>
            <a:off x="74797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13"/>
          <p:cNvSpPr/>
          <p:nvPr/>
        </p:nvSpPr>
        <p:spPr>
          <a:xfrm>
            <a:off x="77083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13"/>
          <p:cNvSpPr/>
          <p:nvPr/>
        </p:nvSpPr>
        <p:spPr>
          <a:xfrm>
            <a:off x="79369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13"/>
          <p:cNvSpPr/>
          <p:nvPr/>
        </p:nvSpPr>
        <p:spPr>
          <a:xfrm>
            <a:off x="81655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13"/>
          <p:cNvSpPr/>
          <p:nvPr/>
        </p:nvSpPr>
        <p:spPr>
          <a:xfrm>
            <a:off x="83941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13"/>
          <p:cNvSpPr/>
          <p:nvPr/>
        </p:nvSpPr>
        <p:spPr>
          <a:xfrm>
            <a:off x="86227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13"/>
          <p:cNvSpPr/>
          <p:nvPr/>
        </p:nvSpPr>
        <p:spPr>
          <a:xfrm>
            <a:off x="88513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13"/>
          <p:cNvSpPr/>
          <p:nvPr/>
        </p:nvSpPr>
        <p:spPr>
          <a:xfrm>
            <a:off x="74797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13"/>
          <p:cNvSpPr/>
          <p:nvPr/>
        </p:nvSpPr>
        <p:spPr>
          <a:xfrm>
            <a:off x="77083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13"/>
          <p:cNvSpPr/>
          <p:nvPr/>
        </p:nvSpPr>
        <p:spPr>
          <a:xfrm>
            <a:off x="79369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13"/>
          <p:cNvSpPr/>
          <p:nvPr/>
        </p:nvSpPr>
        <p:spPr>
          <a:xfrm>
            <a:off x="81655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13"/>
          <p:cNvSpPr/>
          <p:nvPr/>
        </p:nvSpPr>
        <p:spPr>
          <a:xfrm>
            <a:off x="83941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13"/>
          <p:cNvSpPr/>
          <p:nvPr/>
        </p:nvSpPr>
        <p:spPr>
          <a:xfrm>
            <a:off x="86227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13"/>
          <p:cNvSpPr/>
          <p:nvPr/>
        </p:nvSpPr>
        <p:spPr>
          <a:xfrm>
            <a:off x="88513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13"/>
          <p:cNvSpPr/>
          <p:nvPr/>
        </p:nvSpPr>
        <p:spPr>
          <a:xfrm>
            <a:off x="74797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13"/>
          <p:cNvSpPr/>
          <p:nvPr/>
        </p:nvSpPr>
        <p:spPr>
          <a:xfrm>
            <a:off x="77083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13"/>
          <p:cNvSpPr/>
          <p:nvPr/>
        </p:nvSpPr>
        <p:spPr>
          <a:xfrm>
            <a:off x="79369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13"/>
          <p:cNvSpPr/>
          <p:nvPr/>
        </p:nvSpPr>
        <p:spPr>
          <a:xfrm>
            <a:off x="81655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13"/>
          <p:cNvSpPr/>
          <p:nvPr/>
        </p:nvSpPr>
        <p:spPr>
          <a:xfrm>
            <a:off x="83941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13"/>
          <p:cNvSpPr/>
          <p:nvPr/>
        </p:nvSpPr>
        <p:spPr>
          <a:xfrm>
            <a:off x="86227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13"/>
          <p:cNvSpPr/>
          <p:nvPr/>
        </p:nvSpPr>
        <p:spPr>
          <a:xfrm>
            <a:off x="88513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13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13"/>
          <p:cNvSpPr/>
          <p:nvPr/>
        </p:nvSpPr>
        <p:spPr>
          <a:xfrm>
            <a:off x="347472" y="128016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STRESS TESTING · RESUMO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13"/>
          <p:cNvSpPr/>
          <p:nvPr/>
        </p:nvSpPr>
        <p:spPr>
          <a:xfrm>
            <a:off x="347472" y="347472"/>
            <a:ext cx="8458200" cy="11887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13"/>
          <p:cNvSpPr/>
          <p:nvPr/>
        </p:nvSpPr>
        <p:spPr>
          <a:xfrm>
            <a:off x="347472" y="438912"/>
            <a:ext cx="77724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Comparando os três métodos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3"/>
          <p:cNvSpPr/>
          <p:nvPr/>
        </p:nvSpPr>
        <p:spPr>
          <a:xfrm>
            <a:off x="347472" y="1188720"/>
            <a:ext cx="8458200" cy="713232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13"/>
          <p:cNvSpPr/>
          <p:nvPr/>
        </p:nvSpPr>
        <p:spPr>
          <a:xfrm>
            <a:off x="512064" y="1261872"/>
            <a:ext cx="8138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Cada método tem um papel diferente. Usados em conjunto, eles formam uma visão completa do risco: o que já aconteceu, o que pode acontecer amanhã e o que acontece quando tudo piora ao mesmo tempo.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13"/>
          <p:cNvSpPr/>
          <p:nvPr/>
        </p:nvSpPr>
        <p:spPr>
          <a:xfrm>
            <a:off x="347472" y="2029968"/>
            <a:ext cx="8458200" cy="329184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13"/>
          <p:cNvSpPr/>
          <p:nvPr/>
        </p:nvSpPr>
        <p:spPr>
          <a:xfrm>
            <a:off x="420624" y="2075688"/>
            <a:ext cx="1920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Método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3"/>
          <p:cNvSpPr/>
          <p:nvPr/>
        </p:nvSpPr>
        <p:spPr>
          <a:xfrm>
            <a:off x="2432304" y="2075688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VaR 95%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3"/>
          <p:cNvSpPr/>
          <p:nvPr/>
        </p:nvSpPr>
        <p:spPr>
          <a:xfrm>
            <a:off x="3273552" y="2075688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CVaR 95%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3"/>
          <p:cNvSpPr/>
          <p:nvPr/>
        </p:nvSpPr>
        <p:spPr>
          <a:xfrm>
            <a:off x="4114800" y="2075688"/>
            <a:ext cx="1463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Cobertura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3"/>
          <p:cNvSpPr/>
          <p:nvPr/>
        </p:nvSpPr>
        <p:spPr>
          <a:xfrm>
            <a:off x="5669280" y="2075688"/>
            <a:ext cx="3017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Melhor para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3"/>
          <p:cNvSpPr/>
          <p:nvPr/>
        </p:nvSpPr>
        <p:spPr>
          <a:xfrm>
            <a:off x="347472" y="2359152"/>
            <a:ext cx="8458200" cy="4572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13"/>
          <p:cNvSpPr/>
          <p:nvPr/>
        </p:nvSpPr>
        <p:spPr>
          <a:xfrm>
            <a:off x="347472" y="2359152"/>
            <a:ext cx="36576" cy="457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13"/>
          <p:cNvSpPr/>
          <p:nvPr/>
        </p:nvSpPr>
        <p:spPr>
          <a:xfrm>
            <a:off x="420624" y="2450592"/>
            <a:ext cx="19019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Histórico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3"/>
          <p:cNvSpPr/>
          <p:nvPr/>
        </p:nvSpPr>
        <p:spPr>
          <a:xfrm>
            <a:off x="2432304" y="245059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-2,3%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3"/>
          <p:cNvSpPr/>
          <p:nvPr/>
        </p:nvSpPr>
        <p:spPr>
          <a:xfrm>
            <a:off x="3273552" y="245059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-3,1%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3"/>
          <p:cNvSpPr/>
          <p:nvPr/>
        </p:nvSpPr>
        <p:spPr>
          <a:xfrm>
            <a:off x="4114800" y="2450592"/>
            <a:ext cx="14447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Dados reais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3"/>
          <p:cNvSpPr/>
          <p:nvPr/>
        </p:nvSpPr>
        <p:spPr>
          <a:xfrm>
            <a:off x="5669280" y="2450592"/>
            <a:ext cx="29992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Entender o passado real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3"/>
          <p:cNvSpPr/>
          <p:nvPr/>
        </p:nvSpPr>
        <p:spPr>
          <a:xfrm>
            <a:off x="347472" y="2871216"/>
            <a:ext cx="84582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13"/>
          <p:cNvSpPr/>
          <p:nvPr/>
        </p:nvSpPr>
        <p:spPr>
          <a:xfrm>
            <a:off x="347472" y="2871216"/>
            <a:ext cx="36576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13"/>
          <p:cNvSpPr/>
          <p:nvPr/>
        </p:nvSpPr>
        <p:spPr>
          <a:xfrm>
            <a:off x="420624" y="2962656"/>
            <a:ext cx="19019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Monte Carlo (vol normal)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3"/>
          <p:cNvSpPr/>
          <p:nvPr/>
        </p:nvSpPr>
        <p:spPr>
          <a:xfrm>
            <a:off x="2432304" y="2962656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-2,1%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13"/>
          <p:cNvSpPr/>
          <p:nvPr/>
        </p:nvSpPr>
        <p:spPr>
          <a:xfrm>
            <a:off x="3273552" y="2962656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-2,8%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13"/>
          <p:cNvSpPr/>
          <p:nvPr/>
        </p:nvSpPr>
        <p:spPr>
          <a:xfrm>
            <a:off x="4114800" y="2962656"/>
            <a:ext cx="14447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Dist. histórica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3"/>
          <p:cNvSpPr/>
          <p:nvPr/>
        </p:nvSpPr>
        <p:spPr>
          <a:xfrm>
            <a:off x="5669280" y="2962656"/>
            <a:ext cx="29992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Simular dias típicos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3"/>
          <p:cNvSpPr/>
          <p:nvPr/>
        </p:nvSpPr>
        <p:spPr>
          <a:xfrm>
            <a:off x="347472" y="3383280"/>
            <a:ext cx="8458200" cy="4572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13"/>
          <p:cNvSpPr/>
          <p:nvPr/>
        </p:nvSpPr>
        <p:spPr>
          <a:xfrm>
            <a:off x="347472" y="3383280"/>
            <a:ext cx="36576" cy="457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13"/>
          <p:cNvSpPr/>
          <p:nvPr/>
        </p:nvSpPr>
        <p:spPr>
          <a:xfrm>
            <a:off x="420624" y="3474720"/>
            <a:ext cx="19019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Monte Carlo (vol 2x)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3"/>
          <p:cNvSpPr/>
          <p:nvPr/>
        </p:nvSpPr>
        <p:spPr>
          <a:xfrm>
            <a:off x="2432304" y="347472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-4,3%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13"/>
          <p:cNvSpPr/>
          <p:nvPr/>
        </p:nvSpPr>
        <p:spPr>
          <a:xfrm>
            <a:off x="3273552" y="347472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-5,7%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3"/>
          <p:cNvSpPr/>
          <p:nvPr/>
        </p:nvSpPr>
        <p:spPr>
          <a:xfrm>
            <a:off x="4114800" y="3474720"/>
            <a:ext cx="14447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Regime de crise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3"/>
          <p:cNvSpPr/>
          <p:nvPr/>
        </p:nvSpPr>
        <p:spPr>
          <a:xfrm>
            <a:off x="5669280" y="3474720"/>
            <a:ext cx="29992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Stress test conservador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13"/>
          <p:cNvSpPr/>
          <p:nvPr/>
        </p:nvSpPr>
        <p:spPr>
          <a:xfrm>
            <a:off x="347472" y="3895344"/>
            <a:ext cx="84582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13"/>
          <p:cNvSpPr/>
          <p:nvPr/>
        </p:nvSpPr>
        <p:spPr>
          <a:xfrm>
            <a:off x="347472" y="3895344"/>
            <a:ext cx="36576" cy="4572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13"/>
          <p:cNvSpPr/>
          <p:nvPr/>
        </p:nvSpPr>
        <p:spPr>
          <a:xfrm>
            <a:off x="420624" y="3986784"/>
            <a:ext cx="19019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Monte Carlo (vol 3x)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13"/>
          <p:cNvSpPr/>
          <p:nvPr/>
        </p:nvSpPr>
        <p:spPr>
          <a:xfrm>
            <a:off x="2432304" y="3986784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-6,5%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13"/>
          <p:cNvSpPr/>
          <p:nvPr/>
        </p:nvSpPr>
        <p:spPr>
          <a:xfrm>
            <a:off x="3273552" y="3986784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-8,6%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13"/>
          <p:cNvSpPr/>
          <p:nvPr/>
        </p:nvSpPr>
        <p:spPr>
          <a:xfrm>
            <a:off x="4114800" y="3986784"/>
            <a:ext cx="14447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Crise severa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13"/>
          <p:cNvSpPr/>
          <p:nvPr/>
        </p:nvSpPr>
        <p:spPr>
          <a:xfrm>
            <a:off x="5669280" y="3986784"/>
            <a:ext cx="29992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Cenário catastrófico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13"/>
          <p:cNvSpPr/>
          <p:nvPr/>
        </p:nvSpPr>
        <p:spPr>
          <a:xfrm>
            <a:off x="347472" y="4425696"/>
            <a:ext cx="2743200" cy="713232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13"/>
          <p:cNvSpPr/>
          <p:nvPr/>
        </p:nvSpPr>
        <p:spPr>
          <a:xfrm>
            <a:off x="2706624" y="4517136"/>
            <a:ext cx="3291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13"/>
          <p:cNvSpPr/>
          <p:nvPr/>
        </p:nvSpPr>
        <p:spPr>
          <a:xfrm>
            <a:off x="512064" y="4383346"/>
            <a:ext cx="2240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Use stress histórico para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13"/>
          <p:cNvSpPr/>
          <p:nvPr/>
        </p:nvSpPr>
        <p:spPr>
          <a:xfrm>
            <a:off x="512064" y="4636405"/>
            <a:ext cx="2414100" cy="102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13"/>
          <p:cNvSpPr/>
          <p:nvPr/>
        </p:nvSpPr>
        <p:spPr>
          <a:xfrm>
            <a:off x="512064" y="4808828"/>
            <a:ext cx="24141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Contextualizar: 'se 2008 acontecesse com esse portfólio, quanto eu perderia?' Ancora a análise na realidade.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13"/>
          <p:cNvSpPr/>
          <p:nvPr/>
        </p:nvSpPr>
        <p:spPr>
          <a:xfrm>
            <a:off x="3200400" y="4425696"/>
            <a:ext cx="2743200" cy="713232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13"/>
          <p:cNvSpPr/>
          <p:nvPr/>
        </p:nvSpPr>
        <p:spPr>
          <a:xfrm>
            <a:off x="5559552" y="4517136"/>
            <a:ext cx="3291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13"/>
          <p:cNvSpPr/>
          <p:nvPr/>
        </p:nvSpPr>
        <p:spPr>
          <a:xfrm>
            <a:off x="3364992" y="4383346"/>
            <a:ext cx="2240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Use cenários para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13"/>
          <p:cNvSpPr/>
          <p:nvPr/>
        </p:nvSpPr>
        <p:spPr>
          <a:xfrm>
            <a:off x="3364992" y="4636405"/>
            <a:ext cx="2414100" cy="102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13"/>
          <p:cNvSpPr/>
          <p:nvPr/>
        </p:nvSpPr>
        <p:spPr>
          <a:xfrm>
            <a:off x="3364992" y="4808828"/>
            <a:ext cx="24141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Tomar decisões táticas: 'devo reduzir PETR4 antes de uma reunião da OPEP?' Cada decisão vira um cenário testável.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13"/>
          <p:cNvSpPr/>
          <p:nvPr/>
        </p:nvSpPr>
        <p:spPr>
          <a:xfrm>
            <a:off x="6053328" y="4425696"/>
            <a:ext cx="2743200" cy="713232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13"/>
          <p:cNvSpPr/>
          <p:nvPr/>
        </p:nvSpPr>
        <p:spPr>
          <a:xfrm>
            <a:off x="8412480" y="4517136"/>
            <a:ext cx="3291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13"/>
          <p:cNvSpPr/>
          <p:nvPr/>
        </p:nvSpPr>
        <p:spPr>
          <a:xfrm>
            <a:off x="6217920" y="4383346"/>
            <a:ext cx="2240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Use Monte Carlo stress para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13"/>
          <p:cNvSpPr/>
          <p:nvPr/>
        </p:nvSpPr>
        <p:spPr>
          <a:xfrm>
            <a:off x="6217920" y="4636405"/>
            <a:ext cx="2414100" cy="102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13"/>
          <p:cNvSpPr/>
          <p:nvPr/>
        </p:nvSpPr>
        <p:spPr>
          <a:xfrm>
            <a:off x="6217920" y="4808828"/>
            <a:ext cx="24141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Dimensionar capital de reserva. Reguladores exigem que bancos provisionem capital suficiente para o cenário 3x.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