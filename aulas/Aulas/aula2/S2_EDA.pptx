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6979f9b5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96979f9b5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96979f9b59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6" name="Google Shape;63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273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27432"/>
            <a:ext cx="5029200" cy="5116200"/>
          </a:xfrm>
          <a:prstGeom prst="rect">
            <a:avLst/>
          </a:prstGeom>
          <a:solidFill>
            <a:srgbClr val="FAFAFA"/>
          </a:solidFill>
          <a:ln cap="flat" cmpd="sng" w="1270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02920" y="502920"/>
            <a:ext cx="22800" cy="23775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17125" y="473434"/>
            <a:ext cx="42063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5800"/>
              <a:buFont typeface="Calibri"/>
              <a:buNone/>
            </a:pPr>
            <a:r>
              <a:rPr b="1" lang="en-US" sz="44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ANÁLISE </a:t>
            </a:r>
            <a:r>
              <a:rPr b="1" lang="en-US" sz="4400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EXPLORATÓRIA</a:t>
            </a:r>
            <a:r>
              <a:rPr b="1" lang="en-US" sz="44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 DE ATIVOS</a:t>
            </a:r>
            <a:endParaRPr b="1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2304288"/>
            <a:ext cx="3200400" cy="165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40080" y="2395728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Núcleo de Análise Quantitativa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2653565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Liga de Mercado Financeiro · UFU · 2026.1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0080" y="3264408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 DE PESQUISA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0080" y="3410712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Arthur Pires Lopes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246120" y="3429000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Elétrica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40080" y="3694176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40080" y="3730752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GERENTE QUANT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40080" y="3877056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João Emanuel Zilli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3246120" y="3895344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40080" y="4142232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640080" y="4178808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40080" y="4325112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Gustavo Kono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246120" y="4343400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40080" y="4590288"/>
            <a:ext cx="4160400" cy="11100"/>
          </a:xfrm>
          <a:prstGeom prst="rect">
            <a:avLst/>
          </a:prstGeom>
          <a:solidFill>
            <a:srgbClr val="D0D0D0"/>
          </a:solidFill>
          <a:ln cap="flat" cmpd="sng" w="12700">
            <a:solidFill>
              <a:srgbClr val="D0D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640080" y="4626864"/>
            <a:ext cx="41148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ASSESSOR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40080" y="4773168"/>
            <a:ext cx="256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Wilson Ribeiro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3235708" y="4791456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Eng. da Computação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5029200" y="27432"/>
            <a:ext cx="4114800" cy="5116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5120640" y="457200"/>
            <a:ext cx="39318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38000"/>
              <a:buFont typeface="Calibri"/>
              <a:buNone/>
            </a:pPr>
            <a:r>
              <a:rPr b="1" i="0" lang="en-US" sz="38000" u="none" cap="none" strike="noStrike">
                <a:solidFill>
                  <a:srgbClr val="EEEEEE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b="0" i="0" sz="3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029200" y="4709160"/>
            <a:ext cx="393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Diretoria de Pesquisa · 2026.1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0" y="5116068"/>
            <a:ext cx="9144000" cy="273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" name="Google Shape;42;p3" title="LOGO COMPLETA - PRETO - 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428" y="-604075"/>
            <a:ext cx="3674899" cy="20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que é EDA no contexto quantitativo?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EDA — Exploratory Data Analysis — é a primeira etapa de qualquer estudo quantitativo sério: investigar, descrever e visualizar os dados antes de aplicar modelos, estratégias ou técnicas mais complexas.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47472" y="2029968"/>
            <a:ext cx="4160520" cy="2743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512064" y="215798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Por que EDA em finanças?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12064" y="2450592"/>
            <a:ext cx="383133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512064" y="2542032"/>
            <a:ext cx="3831336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Ativos financeiros têm características próprias: volatilidade variável, caudas pesadas, correlações instáveis, outliers e rupturas de regime.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Nenhum modelo sobrevive a dados mal compreendidos. Se você não entende como uma série de preços se comporta, é impossível prever, precificar ou otimizar algo corretamente.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709160" y="2029968"/>
            <a:ext cx="4096512" cy="384048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800600" y="2066544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1.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193792" y="209397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Revelar padrões escondidos na série temporal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709160" y="2487168"/>
            <a:ext cx="409651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800600" y="2523744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2.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193792" y="255117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Detectar dados ruins, faltantes ou inconsistentes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709160" y="2944368"/>
            <a:ext cx="4096512" cy="384048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800600" y="2980944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3.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193792" y="300837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Entender o comportamento de risco de cada ativo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709160" y="3401568"/>
            <a:ext cx="409651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800600" y="3438144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4.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193792" y="346557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Validar suposições antes de construir um modelo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709160" y="3858768"/>
            <a:ext cx="4096512" cy="384048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800600" y="3895344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5.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193792" y="392277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Escolher a técnica certa: ARIMA? GARCH? ML?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709160" y="4315968"/>
            <a:ext cx="4096512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800600" y="4352544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b="1" lang="en-US" sz="1500">
                <a:latin typeface="Calibri"/>
                <a:ea typeface="Calibri"/>
                <a:cs typeface="Calibri"/>
                <a:sym typeface="Calibri"/>
              </a:rPr>
              <a:t>6.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193792" y="4379976"/>
            <a:ext cx="34930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Avaliar se há fundamento para uma estratégia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47472" y="4773168"/>
            <a:ext cx="8458200" cy="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4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Como vamos usar EDA no Núcleo Quant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EDA vira uma caixa de ferramentas prática para explorar séries de preços, retornos e risco. Cada módulo do código que vamos rodar hoje corresponde a uma etapa abaixo.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47472" y="2029968"/>
            <a:ext cx="2743200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2743200" y="208483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84632" y="20848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📥 Coleta de dados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84632" y="2359152"/>
            <a:ext cx="2468880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84632" y="243230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yfinance, APIs, ajustes por split e dividendo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200400" y="2029968"/>
            <a:ext cx="2743200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5596128" y="208483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337560" y="20848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🧹 Dados faltantes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337560" y="2359152"/>
            <a:ext cx="2468880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3337560" y="243230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ffill, dropna, missingno, buracos de liquidez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6053328" y="2029968"/>
            <a:ext cx="2743200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8449056" y="2084832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6190488" y="20848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📊 Visualização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190488" y="2359152"/>
            <a:ext cx="2468880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6190488" y="2432304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Matplotlib (estático) e Plotly (interativo)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47472" y="2962656"/>
            <a:ext cx="2743200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2743200" y="3017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84632" y="30175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📏 Preços normalizados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84632" y="3291840"/>
            <a:ext cx="2468880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84632" y="336499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Base 100 para comparar ativos em escalas diferentes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200400" y="2962656"/>
            <a:ext cx="2743200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5596128" y="3017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337560" y="30175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📈 Retornos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337560" y="3291840"/>
            <a:ext cx="2468880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3337560" y="336499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Simples e log-retorno</a:t>
            </a: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a linguagem do mercado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053328" y="2962656"/>
            <a:ext cx="2743200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8449056" y="3017520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190488" y="30175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🌊 Volatilidade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190488" y="3291840"/>
            <a:ext cx="2468880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6190488" y="3364992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Histograma, σ anualizada, janela rolante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47472" y="3895344"/>
            <a:ext cx="2743200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2743200" y="39502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84632" y="395020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🔗 Correlação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84632" y="4224528"/>
            <a:ext cx="2468880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484632" y="429768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Heatmap, clusters, correlação dinâmica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3200400" y="3895344"/>
            <a:ext cx="2743200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596128" y="39502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3337560" y="395020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〰️ Médias Móveis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337560" y="4224528"/>
            <a:ext cx="2468880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3337560" y="429768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SMA, EMA, Golden Cross, Death Cross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053328" y="3895344"/>
            <a:ext cx="2743200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"/>
          <p:cNvSpPr/>
          <p:nvPr/>
        </p:nvSpPr>
        <p:spPr>
          <a:xfrm>
            <a:off x="8449056" y="395020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190488" y="395020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📉 </a:t>
            </a: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Drawdowns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6190488" y="4224528"/>
            <a:ext cx="2468880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6190488" y="429768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Queda máxima, recuperação, underwater chart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5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59D0"/>
                </a:solidFill>
                <a:latin typeface="Calibri"/>
                <a:ea typeface="Calibri"/>
                <a:cs typeface="Calibri"/>
                <a:sym typeface="Calibri"/>
              </a:rPr>
              <a:t>CASO REAL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347472" y="566928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347472" y="56692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170432" y="566928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Dois ativos. Qual você escolheria para investir?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47472" y="2286000"/>
            <a:ext cx="8458200" cy="731520"/>
          </a:xfrm>
          <a:prstGeom prst="rect">
            <a:avLst/>
          </a:prstGeom>
          <a:solidFill>
            <a:srgbClr val="7B2FBE">
              <a:alpha val="20000"/>
            </a:srgbClr>
          </a:solidFill>
          <a:ln cap="flat" cmpd="sng" w="95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512064" y="234086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Ativo A rendeu +320% em 5 anos. Ativo B rendeu +280% no mesmo período. Você escolheria o A?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47472" y="3218688"/>
            <a:ext cx="4114800" cy="1691640"/>
          </a:xfrm>
          <a:prstGeom prst="rect">
            <a:avLst/>
          </a:prstGeom>
          <a:solidFill>
            <a:srgbClr val="252545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530352" y="331012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9D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B59D0"/>
                </a:solidFill>
                <a:latin typeface="Calibri"/>
                <a:ea typeface="Calibri"/>
                <a:cs typeface="Calibri"/>
                <a:sym typeface="Calibri"/>
              </a:rPr>
              <a:t>ATIVO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30352" y="362102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+320%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30352" y="42428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Retorno em 5 anos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4736592" y="3218688"/>
            <a:ext cx="4114800" cy="1691640"/>
          </a:xfrm>
          <a:prstGeom prst="rect">
            <a:avLst/>
          </a:prstGeom>
          <a:solidFill>
            <a:srgbClr val="252545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4919472" y="331012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9D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B59D0"/>
                </a:solidFill>
                <a:latin typeface="Calibri"/>
                <a:ea typeface="Calibri"/>
                <a:cs typeface="Calibri"/>
                <a:sym typeface="Calibri"/>
              </a:rPr>
              <a:t>ATIVO 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919472" y="3621024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+280%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4919472" y="42428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Retorno em 5 anos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160520" y="3712464"/>
            <a:ext cx="804672" cy="804672"/>
          </a:xfrm>
          <a:prstGeom prst="ellipse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4160520" y="3712464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CASO REAL · RESPOSTA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Retorno sem risco é metade da história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Ativo B era PETR4 (+280% de 2019–2024). O Ativo A era BTC (+320%)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mas caiu 83% no meio do caminho. Retorno alto com risco escondido pode destruir sua carteira antes de você chegar no lucro.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347472" y="2029968"/>
            <a:ext cx="4114800" cy="272491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512064" y="213969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ATIVO A — BTC-USD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12064" y="2414016"/>
            <a:ext cx="378561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512064" y="2487168"/>
            <a:ext cx="3785616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512064" y="2487168"/>
            <a:ext cx="45720" cy="5852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658368" y="2523744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Retorno 5 anos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58368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+320%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12064" y="3145536"/>
            <a:ext cx="3785616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512064" y="3145536"/>
            <a:ext cx="45720" cy="5852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658368" y="318211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Volatilidade diária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58368" y="33832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±12%/dia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12064" y="3803904"/>
            <a:ext cx="3785616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512064" y="3803904"/>
            <a:ext cx="45720" cy="5852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658368" y="38404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Pior drawdown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58368" y="404164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-83% em 2018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4736592" y="2029968"/>
            <a:ext cx="4114800" cy="272491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4901184" y="213969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ATIVO B — PETR4.SA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4901184" y="2414016"/>
            <a:ext cx="378561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4901184" y="2487168"/>
            <a:ext cx="3785616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"/>
          <p:cNvSpPr/>
          <p:nvPr/>
        </p:nvSpPr>
        <p:spPr>
          <a:xfrm>
            <a:off x="4901184" y="2487168"/>
            <a:ext cx="45720" cy="5852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5047488" y="2523744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Retorno 5 anos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5047488" y="2724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+280%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4901184" y="3145536"/>
            <a:ext cx="3785616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4901184" y="3145536"/>
            <a:ext cx="45720" cy="58521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5047488" y="318211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Volatilidade diária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5047488" y="33832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±2%/dia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4901184" y="3803904"/>
            <a:ext cx="3785616" cy="58521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4901184" y="3803904"/>
            <a:ext cx="45720" cy="5852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7"/>
          <p:cNvSpPr/>
          <p:nvPr/>
        </p:nvSpPr>
        <p:spPr>
          <a:xfrm>
            <a:off x="5047488" y="38404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Pior drawdown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5047488" y="404164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-50% em mar/2020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7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8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8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8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yfinance &amp; APIs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8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lang="en-US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Baixar </a:t>
            </a: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 anos de dados reais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yfinance conecta Python diretamente ao Yahoo Finance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gratuito, sem cadastro, com dados históricos de ações, ETFs, moedas e índices de todo o mundo.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347472" y="2029968"/>
            <a:ext cx="4846320" cy="272491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8"/>
          <p:cNvSpPr/>
          <p:nvPr/>
        </p:nvSpPr>
        <p:spPr>
          <a:xfrm>
            <a:off x="512064" y="2167128"/>
            <a:ext cx="457200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yfinance </a:t>
            </a: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yf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TICKERS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["PETR3.SA","VALE3.SA",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          "ITUB3.SA","USDBRL=X","^BVSP"]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df_raw = yf.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download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TICKERS,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CB6B"/>
                </a:solidFill>
                <a:latin typeface="Consolas"/>
                <a:ea typeface="Consolas"/>
                <a:cs typeface="Consolas"/>
                <a:sym typeface="Consolas"/>
              </a:rPr>
              <a:t>    start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="2019-01-01",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CB6B"/>
                </a:solidFill>
                <a:latin typeface="Consolas"/>
                <a:ea typeface="Consolas"/>
                <a:cs typeface="Consolas"/>
                <a:sym typeface="Consolas"/>
              </a:rPr>
              <a:t>    end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="2026-03-26",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CB6B"/>
                </a:solidFill>
                <a:latin typeface="Consolas"/>
                <a:ea typeface="Consolas"/>
                <a:cs typeface="Consolas"/>
                <a:sym typeface="Consolas"/>
              </a:rPr>
              <a:t>    auto_adjust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True,</a:t>
            </a:r>
            <a:b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CB6B"/>
                </a:solidFill>
                <a:latin typeface="Consolas"/>
                <a:ea typeface="Consolas"/>
                <a:cs typeface="Consolas"/>
                <a:sym typeface="Consolas"/>
              </a:rPr>
              <a:t>    progress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b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df_raw[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"Close"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copy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5376672" y="2029968"/>
            <a:ext cx="341985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8"/>
          <p:cNvSpPr/>
          <p:nvPr/>
        </p:nvSpPr>
        <p:spPr>
          <a:xfrm>
            <a:off x="8412480" y="21214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5541264" y="2157984"/>
            <a:ext cx="2916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auto_adjust=True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5541264" y="2468880"/>
            <a:ext cx="309067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8"/>
          <p:cNvSpPr/>
          <p:nvPr/>
        </p:nvSpPr>
        <p:spPr>
          <a:xfrm>
            <a:off x="5541264" y="253288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Ajusta por splits e dividendos. Sem isso, quedas artificiais aparecem como retornos negativos falsos.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5376672" y="2944368"/>
            <a:ext cx="341985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8"/>
          <p:cNvSpPr/>
          <p:nvPr/>
        </p:nvSpPr>
        <p:spPr>
          <a:xfrm>
            <a:off x="8412480" y="30358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5541264" y="3072384"/>
            <a:ext cx="2916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progress=False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5541264" y="3383280"/>
            <a:ext cx="309067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5541264" y="344728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Desativa a barra de progresso no terminal — útil em scripts e pipelines onde o output deve ser limpo.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5376672" y="3858768"/>
            <a:ext cx="341985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8"/>
          <p:cNvSpPr/>
          <p:nvPr/>
        </p:nvSpPr>
        <p:spPr>
          <a:xfrm>
            <a:off x="8412480" y="39502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5541264" y="3986784"/>
            <a:ext cx="2916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df_raw["Close"].copy()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5541264" y="4297680"/>
            <a:ext cx="309067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"/>
          <p:cNvSpPr/>
          <p:nvPr/>
        </p:nvSpPr>
        <p:spPr>
          <a:xfrm>
            <a:off x="5541264" y="436168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Extrai só os fechamentos. O .copy() evita SettingWithCopyWarning ao modificar o DataFrame depois.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2" name="Google Shape;372;p8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9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9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9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9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9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9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9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9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9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9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9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9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9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9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9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9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9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9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9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9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9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9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9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9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9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9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9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DADOS FALTANTES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9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NaN: </a:t>
            </a:r>
            <a:r>
              <a:rPr b="1" lang="en-US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erro</a:t>
            </a: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silencioso da análise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9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Dados faltantes não geram erro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eles passam silenciosamente e corrompem seus resultados. Um retorno calculado sobre NaN retorna NaN, que se propaga para médias, volatilidade e correlação.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347472" y="2029968"/>
            <a:ext cx="4846320" cy="272491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9"/>
          <p:cNvSpPr/>
          <p:nvPr/>
        </p:nvSpPr>
        <p:spPr>
          <a:xfrm>
            <a:off x="512064" y="2167128"/>
            <a:ext cx="457200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6E95"/>
              </a:buClr>
              <a:buSzPts val="1050"/>
              <a:buFont typeface="Consolas"/>
              <a:buNone/>
            </a:pP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1. Diagnóstico: onde estão os buracos?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isnull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sum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2. Visualizar padrão (biblioteca missingno)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missingno </a:t>
            </a: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msno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msno.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matrix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(df)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3a. Forward-fill → feriados / sem negociação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df_clean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ffill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3b. Remover linhas do início sem histórico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df_clean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df_clean.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dropna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5376672" y="2029968"/>
            <a:ext cx="341985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"/>
          <p:cNvSpPr/>
          <p:nvPr/>
        </p:nvSpPr>
        <p:spPr>
          <a:xfrm>
            <a:off x="8412480" y="21214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5541264" y="2157984"/>
            <a:ext cx="2916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ffill() → feriados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5541264" y="2468880"/>
            <a:ext cx="309067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9"/>
          <p:cNvSpPr/>
          <p:nvPr/>
        </p:nvSpPr>
        <p:spPr>
          <a:xfrm>
            <a:off x="5541264" y="253288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Mercado fechado = preço não mudou. Propagar o último valor é a abordagem correta para B3 e NYSE.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9"/>
          <p:cNvSpPr/>
          <p:nvPr/>
        </p:nvSpPr>
        <p:spPr>
          <a:xfrm>
            <a:off x="5376672" y="2944368"/>
            <a:ext cx="341985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9"/>
          <p:cNvSpPr/>
          <p:nvPr/>
        </p:nvSpPr>
        <p:spPr>
          <a:xfrm>
            <a:off x="8412480" y="30358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5541264" y="3072384"/>
            <a:ext cx="2916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dropna() → histórico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5541264" y="3383280"/>
            <a:ext cx="309067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9"/>
          <p:cNvSpPr/>
          <p:nvPr/>
        </p:nvSpPr>
        <p:spPr>
          <a:xfrm>
            <a:off x="5541264" y="344728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Ativo estreou depois da janela inicial? Remova as linhas do começo onde os dados ainda não existiam.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5376672" y="3858768"/>
            <a:ext cx="3419856" cy="82296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9"/>
          <p:cNvSpPr/>
          <p:nvPr/>
        </p:nvSpPr>
        <p:spPr>
          <a:xfrm>
            <a:off x="8412480" y="39502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5541264" y="3986784"/>
            <a:ext cx="291693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Regra de ouro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5541264" y="4297680"/>
            <a:ext cx="309067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9"/>
          <p:cNvSpPr/>
          <p:nvPr/>
        </p:nvSpPr>
        <p:spPr>
          <a:xfrm>
            <a:off x="5541264" y="436168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Nunca apague sem entender por quê falta. Feriado ≠ falha de coleta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ratamentos são diferentes.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7" name="Google Shape;437;p9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0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VISUALIZAÇÃO · RESPOSTA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347472" y="347472"/>
            <a:ext cx="8458200" cy="1200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347475" y="438900"/>
            <a:ext cx="8631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Matplotlib × Plotly: cada um no seu momento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347472" y="1207008"/>
            <a:ext cx="4160520" cy="3657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512064" y="137160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512064" y="1719072"/>
            <a:ext cx="383133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0"/>
          <p:cNvSpPr/>
          <p:nvPr/>
        </p:nvSpPr>
        <p:spPr>
          <a:xfrm>
            <a:off x="512064" y="1792224"/>
            <a:ext cx="3831336" cy="126187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0"/>
          <p:cNvSpPr/>
          <p:nvPr/>
        </p:nvSpPr>
        <p:spPr>
          <a:xfrm>
            <a:off x="676656" y="1929384"/>
            <a:ext cx="3557016" cy="1033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fig, ax = plt.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subplots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(figsize=(10,4))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ax.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plot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(df.index, df["Close"])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ax.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set_title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("PETR3")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plt.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savefig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("relatorio.png")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512064" y="3172968"/>
            <a:ext cx="38313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✅  Relatórios em PDF e LaTeX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512064" y="3520440"/>
            <a:ext cx="38313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✅  Controle total sobre cada pixel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0"/>
          <p:cNvSpPr/>
          <p:nvPr/>
        </p:nvSpPr>
        <p:spPr>
          <a:xfrm>
            <a:off x="512064" y="3867912"/>
            <a:ext cx="38313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✅  Integra com Jupyter nbconvert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512064" y="4215384"/>
            <a:ext cx="38313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⚠️  Sem interatividade</a:t>
            </a: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estático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/>
          <p:nvPr/>
        </p:nvSpPr>
        <p:spPr>
          <a:xfrm>
            <a:off x="4645152" y="1207008"/>
            <a:ext cx="4160520" cy="36576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0"/>
          <p:cNvSpPr/>
          <p:nvPr/>
        </p:nvSpPr>
        <p:spPr>
          <a:xfrm>
            <a:off x="4809744" y="137160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Plotly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4809744" y="1719072"/>
            <a:ext cx="383133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0"/>
          <p:cNvSpPr/>
          <p:nvPr/>
        </p:nvSpPr>
        <p:spPr>
          <a:xfrm>
            <a:off x="4809744" y="1792224"/>
            <a:ext cx="3831336" cy="126187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0"/>
          <p:cNvSpPr/>
          <p:nvPr/>
        </p:nvSpPr>
        <p:spPr>
          <a:xfrm>
            <a:off x="4974336" y="1929384"/>
            <a:ext cx="3557016" cy="10332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plotly.express </a:t>
            </a: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px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fig = px.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line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(df, y=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"Close"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title=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"PETR3")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fig.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show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0"/>
          <p:cNvSpPr/>
          <p:nvPr/>
        </p:nvSpPr>
        <p:spPr>
          <a:xfrm>
            <a:off x="4809744" y="3172968"/>
            <a:ext cx="38313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✅  Interativo: zoom, hover, seleção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4809744" y="3520440"/>
            <a:ext cx="38313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✅  1 linha de código = gráfico completo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0"/>
          <p:cNvSpPr/>
          <p:nvPr/>
        </p:nvSpPr>
        <p:spPr>
          <a:xfrm>
            <a:off x="4809744" y="3867912"/>
            <a:ext cx="38313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✅  Dashboards com Dash ou 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0"/>
          <p:cNvSpPr/>
          <p:nvPr/>
        </p:nvSpPr>
        <p:spPr>
          <a:xfrm>
            <a:off x="4809744" y="4215384"/>
            <a:ext cx="383133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✅  Melhor para exploração de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0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6" name="Google Shape;466;p10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1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PREÇOS NORMALIZADOS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"/>
          <p:cNvSpPr/>
          <p:nvPr/>
        </p:nvSpPr>
        <p:spPr>
          <a:xfrm>
            <a:off x="347475" y="438900"/>
            <a:ext cx="95619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Base 100</a:t>
            </a:r>
            <a:r>
              <a:rPr b="1" lang="en-US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todos no mesmo ponto de partida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Como comparar no mesmo gráfico um índice de 130.000 pontos (Ibovespa) com uma ação de R$15 (PETR3) e um Dólar a R$5? Normalizamos tudo para começar de 100.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1"/>
          <p:cNvSpPr/>
          <p:nvPr/>
        </p:nvSpPr>
        <p:spPr>
          <a:xfrm>
            <a:off x="347472" y="2029968"/>
            <a:ext cx="2468880" cy="1828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1"/>
          <p:cNvSpPr/>
          <p:nvPr/>
        </p:nvSpPr>
        <p:spPr>
          <a:xfrm>
            <a:off x="475488" y="2103120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❌  Escala bruta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475488" y="2377440"/>
            <a:ext cx="223113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1"/>
          <p:cNvSpPr/>
          <p:nvPr/>
        </p:nvSpPr>
        <p:spPr>
          <a:xfrm>
            <a:off x="566928" y="2487168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^BVSP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1"/>
          <p:cNvSpPr/>
          <p:nvPr/>
        </p:nvSpPr>
        <p:spPr>
          <a:xfrm>
            <a:off x="566928" y="2651760"/>
            <a:ext cx="1956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130.000 pts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566928" y="2916936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PETR3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566928" y="3081528"/>
            <a:ext cx="1956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R$ 38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/>
          <p:nvPr/>
        </p:nvSpPr>
        <p:spPr>
          <a:xfrm>
            <a:off x="566928" y="334670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Dólar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1"/>
          <p:cNvSpPr/>
          <p:nvPr/>
        </p:nvSpPr>
        <p:spPr>
          <a:xfrm>
            <a:off x="566928" y="3511296"/>
            <a:ext cx="1956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R$ 5,70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2880360" y="2816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3401568" y="2029968"/>
            <a:ext cx="2423160" cy="1828800"/>
          </a:xfrm>
          <a:prstGeom prst="rect">
            <a:avLst/>
          </a:prstGeom>
          <a:solidFill>
            <a:srgbClr val="F0E8FF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"/>
          <p:cNvSpPr/>
          <p:nvPr/>
        </p:nvSpPr>
        <p:spPr>
          <a:xfrm>
            <a:off x="3547872" y="2103120"/>
            <a:ext cx="2121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Fórmula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3547872" y="2377440"/>
            <a:ext cx="2121408" cy="1005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1"/>
          <p:cNvSpPr/>
          <p:nvPr/>
        </p:nvSpPr>
        <p:spPr>
          <a:xfrm>
            <a:off x="3547872" y="2487168"/>
            <a:ext cx="21214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onsolas"/>
                <a:ea typeface="Consolas"/>
                <a:cs typeface="Consolas"/>
                <a:sym typeface="Consolas"/>
              </a:rPr>
              <a:t>df_norm =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onsolas"/>
                <a:ea typeface="Consolas"/>
                <a:cs typeface="Consolas"/>
                <a:sym typeface="Consolas"/>
              </a:rPr>
              <a:t>(df_clean 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onsolas"/>
                <a:ea typeface="Consolas"/>
                <a:cs typeface="Consolas"/>
                <a:sym typeface="Consolas"/>
              </a:rPr>
              <a:t> df_clean.iloc[0])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onsolas"/>
                <a:ea typeface="Consolas"/>
                <a:cs typeface="Consolas"/>
                <a:sym typeface="Consolas"/>
              </a:rPr>
              <a:t>× 100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5888736" y="28163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6400800" y="2029968"/>
            <a:ext cx="2395728" cy="1828800"/>
          </a:xfrm>
          <a:prstGeom prst="rect">
            <a:avLst/>
          </a:prstGeom>
          <a:solidFill>
            <a:srgbClr val="EFEFEF"/>
          </a:solidFill>
          <a:ln cap="flat" cmpd="sng" w="15225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1"/>
          <p:cNvSpPr/>
          <p:nvPr/>
        </p:nvSpPr>
        <p:spPr>
          <a:xfrm>
            <a:off x="6537960" y="2103120"/>
            <a:ext cx="21214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✅  Base 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1"/>
          <p:cNvSpPr/>
          <p:nvPr/>
        </p:nvSpPr>
        <p:spPr>
          <a:xfrm>
            <a:off x="6537960" y="2377440"/>
            <a:ext cx="2121408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1"/>
          <p:cNvSpPr/>
          <p:nvPr/>
        </p:nvSpPr>
        <p:spPr>
          <a:xfrm>
            <a:off x="6601968" y="248716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^BVSP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/>
          <p:nvPr/>
        </p:nvSpPr>
        <p:spPr>
          <a:xfrm>
            <a:off x="6601968" y="2651760"/>
            <a:ext cx="1956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100 → 218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1"/>
          <p:cNvSpPr/>
          <p:nvPr/>
        </p:nvSpPr>
        <p:spPr>
          <a:xfrm>
            <a:off x="6601968" y="291693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PETR3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1"/>
          <p:cNvSpPr/>
          <p:nvPr/>
        </p:nvSpPr>
        <p:spPr>
          <a:xfrm>
            <a:off x="6601968" y="3081528"/>
            <a:ext cx="1956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100 → 285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1"/>
          <p:cNvSpPr/>
          <p:nvPr/>
        </p:nvSpPr>
        <p:spPr>
          <a:xfrm>
            <a:off x="6601968" y="3346704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Dólar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1"/>
          <p:cNvSpPr/>
          <p:nvPr/>
        </p:nvSpPr>
        <p:spPr>
          <a:xfrm>
            <a:off x="6601968" y="3511296"/>
            <a:ext cx="195681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100 → 152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1"/>
          <p:cNvSpPr/>
          <p:nvPr/>
        </p:nvSpPr>
        <p:spPr>
          <a:xfrm>
            <a:off x="347472" y="4041648"/>
            <a:ext cx="8458200" cy="822900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1"/>
          <p:cNvSpPr/>
          <p:nvPr/>
        </p:nvSpPr>
        <p:spPr>
          <a:xfrm>
            <a:off x="512064" y="4178808"/>
            <a:ext cx="8183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df_norm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(df_clean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/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df_clean.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iloc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[0])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* 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    # todos os ativos partem de 100 no dia inicial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1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11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EDA FINANCEIRA · RESPOSTA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2"/>
          <p:cNvSpPr/>
          <p:nvPr/>
        </p:nvSpPr>
        <p:spPr>
          <a:xfrm>
            <a:off x="347475" y="438900"/>
            <a:ext cx="86130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Preços vs. Retornos: a linguagem do mercado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Rt = (24 − 29) / 29 = −17,2%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E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sse é o retorno do pior dia da PETR3 em 2020. Preços absolutos não são comparáveis; retornos percentuais são a linguagem universal do mercado.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347472" y="2029968"/>
            <a:ext cx="4251960" cy="2724912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512064" y="21762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Fórmula do Retorno Simples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512064" y="2450592"/>
            <a:ext cx="391363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2"/>
          <p:cNvSpPr/>
          <p:nvPr/>
        </p:nvSpPr>
        <p:spPr>
          <a:xfrm>
            <a:off x="512064" y="2542032"/>
            <a:ext cx="39136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7B2FBE"/>
                </a:solidFill>
                <a:latin typeface="Cambria"/>
                <a:ea typeface="Cambria"/>
                <a:cs typeface="Cambria"/>
                <a:sym typeface="Cambria"/>
              </a:rPr>
              <a:t>Rt = ( Pt − Pt-1 ) / Pt-1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512064" y="3072384"/>
            <a:ext cx="3913632" cy="144475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676656" y="3209544"/>
            <a:ext cx="3639312" cy="12161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6E95"/>
              </a:buClr>
              <a:buSzPts val="1050"/>
              <a:buFont typeface="Consolas"/>
              <a:buNone/>
            </a:pP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Retorno simples — pandas faz em 1 linha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retornos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df_clean.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pct_change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dropna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Log-retorno (preferido em modelos quant)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log_ret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np.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(df_clean / df_clean.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shift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(1)).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dropna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4782312" y="2029968"/>
            <a:ext cx="401421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2"/>
          <p:cNvSpPr/>
          <p:nvPr/>
        </p:nvSpPr>
        <p:spPr>
          <a:xfrm>
            <a:off x="8412480" y="21214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4946904" y="2157984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Caso real: PETR3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4946904" y="2468880"/>
            <a:ext cx="368503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4946904" y="2532888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29 → 24 em 1 dia = −17,2%. 5 anos depois, quem ficou: R$100 virou R$380. Sem olhar retornos, impossível perceber isso.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4782312" y="2944368"/>
            <a:ext cx="401421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2"/>
          <p:cNvSpPr/>
          <p:nvPr/>
        </p:nvSpPr>
        <p:spPr>
          <a:xfrm>
            <a:off x="8412480" y="30358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4946904" y="3072384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Retorno simples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4946904" y="3383280"/>
            <a:ext cx="368503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2"/>
          <p:cNvSpPr/>
          <p:nvPr/>
        </p:nvSpPr>
        <p:spPr>
          <a:xfrm>
            <a:off x="4946904" y="3447288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Perfeito para performance de portfólio. +2% no dia significa exatamente isso. Fácil de interpretar e comunicar.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4782312" y="3858768"/>
            <a:ext cx="4014216" cy="82296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2"/>
          <p:cNvSpPr/>
          <p:nvPr/>
        </p:nvSpPr>
        <p:spPr>
          <a:xfrm>
            <a:off x="8412480" y="3950208"/>
            <a:ext cx="329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4946904" y="3986784"/>
            <a:ext cx="351129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Log-retorno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4946904" y="4297680"/>
            <a:ext cx="3685032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4946904" y="4361688"/>
            <a:ext cx="36850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Propriedade aditiva: retorno anual = soma dos diários. Essencial para ARIMA, GARCH e modelos de risco.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2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9" name="Google Shape;539;p12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3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3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3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3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3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13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3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3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3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3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3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3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3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3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3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3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3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3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3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EDA FINANCEIRA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3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3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Volatilidade</a:t>
            </a:r>
            <a:r>
              <a:rPr b="1" lang="en-US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DNA</a:t>
            </a: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do Risco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3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3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Dois ativos com o mesmo retorno médio podem ter riscos completamente diferentes. A volatilidade é o desvio-padrão dos retornos diários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ela revela se o ativo é 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estável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ou 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volátil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3"/>
          <p:cNvSpPr/>
          <p:nvPr/>
        </p:nvSpPr>
        <p:spPr>
          <a:xfrm>
            <a:off x="347472" y="2029968"/>
            <a:ext cx="4846320" cy="272491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3"/>
          <p:cNvSpPr/>
          <p:nvPr/>
        </p:nvSpPr>
        <p:spPr>
          <a:xfrm>
            <a:off x="512064" y="2167128"/>
            <a:ext cx="457200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76E95"/>
              </a:buClr>
              <a:buSzPts val="1050"/>
              <a:buFont typeface="Consolas"/>
              <a:buNone/>
            </a:pP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Volatilidade anualizada (padrão de mercado)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vol_anual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retornos.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 * np.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sqrt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(252)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Histograma dos retornos diários (Plotly)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fig = px.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histogram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retornos.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dropna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(), nbins=80,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CB6B"/>
                </a:solidFill>
                <a:latin typeface="Consolas"/>
                <a:ea typeface="Consolas"/>
                <a:cs typeface="Consolas"/>
                <a:sym typeface="Consolas"/>
              </a:rPr>
              <a:t>    title</a:t>
            </a: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="Distribuição dos Retornos"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Volatilidade rolante (risco muda no tempo!)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vol_roll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retornos.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rolling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(30).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std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 * np.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sqrt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(252)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3"/>
          <p:cNvSpPr/>
          <p:nvPr/>
        </p:nvSpPr>
        <p:spPr>
          <a:xfrm>
            <a:off x="5376672" y="2029968"/>
            <a:ext cx="3419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Volatilidade Anual — Referências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3"/>
          <p:cNvSpPr/>
          <p:nvPr/>
        </p:nvSpPr>
        <p:spPr>
          <a:xfrm>
            <a:off x="5376672" y="2322576"/>
            <a:ext cx="3419856" cy="10058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3"/>
          <p:cNvSpPr/>
          <p:nvPr/>
        </p:nvSpPr>
        <p:spPr>
          <a:xfrm>
            <a:off x="5376672" y="2395728"/>
            <a:ext cx="3419856" cy="512064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3"/>
          <p:cNvSpPr/>
          <p:nvPr/>
        </p:nvSpPr>
        <p:spPr>
          <a:xfrm>
            <a:off x="5376672" y="2395728"/>
            <a:ext cx="50292" cy="5120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3"/>
          <p:cNvSpPr/>
          <p:nvPr/>
        </p:nvSpPr>
        <p:spPr>
          <a:xfrm>
            <a:off x="5504688" y="24323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~2–4%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3"/>
          <p:cNvSpPr/>
          <p:nvPr/>
        </p:nvSpPr>
        <p:spPr>
          <a:xfrm>
            <a:off x="5504688" y="267004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Tesouro Selic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3"/>
          <p:cNvSpPr/>
          <p:nvPr/>
        </p:nvSpPr>
        <p:spPr>
          <a:xfrm>
            <a:off x="7150608" y="2542032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Praticamente sem risco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3"/>
          <p:cNvSpPr/>
          <p:nvPr/>
        </p:nvSpPr>
        <p:spPr>
          <a:xfrm>
            <a:off x="5376672" y="2980944"/>
            <a:ext cx="3419856" cy="512064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3"/>
          <p:cNvSpPr/>
          <p:nvPr/>
        </p:nvSpPr>
        <p:spPr>
          <a:xfrm>
            <a:off x="5376672" y="2980944"/>
            <a:ext cx="50292" cy="5120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3"/>
          <p:cNvSpPr/>
          <p:nvPr/>
        </p:nvSpPr>
        <p:spPr>
          <a:xfrm>
            <a:off x="5504688" y="30175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~25–30%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3"/>
          <p:cNvSpPr/>
          <p:nvPr/>
        </p:nvSpPr>
        <p:spPr>
          <a:xfrm>
            <a:off x="5504688" y="3255264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ITUB3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3"/>
          <p:cNvSpPr/>
          <p:nvPr/>
        </p:nvSpPr>
        <p:spPr>
          <a:xfrm>
            <a:off x="7150608" y="3127248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Risco moderado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3"/>
          <p:cNvSpPr/>
          <p:nvPr/>
        </p:nvSpPr>
        <p:spPr>
          <a:xfrm>
            <a:off x="5376672" y="3566160"/>
            <a:ext cx="3419856" cy="512064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3"/>
          <p:cNvSpPr/>
          <p:nvPr/>
        </p:nvSpPr>
        <p:spPr>
          <a:xfrm>
            <a:off x="5376672" y="3566160"/>
            <a:ext cx="50292" cy="5120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3"/>
          <p:cNvSpPr/>
          <p:nvPr/>
        </p:nvSpPr>
        <p:spPr>
          <a:xfrm>
            <a:off x="5504688" y="360273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~35–45%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3"/>
          <p:cNvSpPr/>
          <p:nvPr/>
        </p:nvSpPr>
        <p:spPr>
          <a:xfrm>
            <a:off x="5504688" y="384048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PETR3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3"/>
          <p:cNvSpPr/>
          <p:nvPr/>
        </p:nvSpPr>
        <p:spPr>
          <a:xfrm>
            <a:off x="7150608" y="3712464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Risco elevado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3"/>
          <p:cNvSpPr/>
          <p:nvPr/>
        </p:nvSpPr>
        <p:spPr>
          <a:xfrm>
            <a:off x="5376672" y="4151376"/>
            <a:ext cx="3419856" cy="512064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3"/>
          <p:cNvSpPr/>
          <p:nvPr/>
        </p:nvSpPr>
        <p:spPr>
          <a:xfrm>
            <a:off x="5376672" y="4151376"/>
            <a:ext cx="50292" cy="5120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3"/>
          <p:cNvSpPr/>
          <p:nvPr/>
        </p:nvSpPr>
        <p:spPr>
          <a:xfrm>
            <a:off x="5504688" y="418795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~60–90%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3"/>
          <p:cNvSpPr/>
          <p:nvPr/>
        </p:nvSpPr>
        <p:spPr>
          <a:xfrm>
            <a:off x="5504688" y="4425696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BTC-USD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3"/>
          <p:cNvSpPr/>
          <p:nvPr/>
        </p:nvSpPr>
        <p:spPr>
          <a:xfrm>
            <a:off x="7150608" y="429768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Risco extremo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3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1" name="Google Shape;611;p13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3"/>
          <p:cNvSpPr/>
          <p:nvPr/>
        </p:nvSpPr>
        <p:spPr>
          <a:xfrm>
            <a:off x="2607668" y="4622300"/>
            <a:ext cx="26703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*modelos mais avançados usam Var e CVar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4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D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9B59D0"/>
                </a:solidFill>
                <a:latin typeface="Calibri"/>
                <a:ea typeface="Calibri"/>
                <a:cs typeface="Calibri"/>
                <a:sym typeface="Calibri"/>
              </a:rPr>
              <a:t>EDA FINANCEIRA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3D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4"/>
          <p:cNvSpPr/>
          <p:nvPr/>
        </p:nvSpPr>
        <p:spPr>
          <a:xfrm>
            <a:off x="347472" y="566928"/>
            <a:ext cx="658368" cy="658368"/>
          </a:xfrm>
          <a:prstGeom prst="ellipse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14"/>
          <p:cNvSpPr/>
          <p:nvPr/>
        </p:nvSpPr>
        <p:spPr>
          <a:xfrm>
            <a:off x="347472" y="566928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4"/>
          <p:cNvSpPr/>
          <p:nvPr/>
        </p:nvSpPr>
        <p:spPr>
          <a:xfrm>
            <a:off x="1170432" y="566928"/>
            <a:ext cx="7680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 março de 2020, Ibovespa caiu −50%. O Dólar (USDBRL) subiu ou caiu no mesmo período?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4"/>
          <p:cNvSpPr/>
          <p:nvPr/>
        </p:nvSpPr>
        <p:spPr>
          <a:xfrm>
            <a:off x="347472" y="2286000"/>
            <a:ext cx="8458200" cy="731520"/>
          </a:xfrm>
          <a:prstGeom prst="rect">
            <a:avLst/>
          </a:prstGeom>
          <a:solidFill>
            <a:srgbClr val="7B2FBE">
              <a:alpha val="20000"/>
            </a:srgbClr>
          </a:solidFill>
          <a:ln cap="flat" cmpd="sng" w="95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4"/>
          <p:cNvSpPr/>
          <p:nvPr/>
        </p:nvSpPr>
        <p:spPr>
          <a:xfrm>
            <a:off x="512064" y="234086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Pense: em crises, investidores fogem para o Dólar. O que isso significa para quem tinha dólar na carteira junto com ações?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4"/>
          <p:cNvSpPr/>
          <p:nvPr/>
        </p:nvSpPr>
        <p:spPr>
          <a:xfrm>
            <a:off x="347472" y="3127248"/>
            <a:ext cx="4114800" cy="1828800"/>
          </a:xfrm>
          <a:prstGeom prst="rect">
            <a:avLst/>
          </a:prstGeom>
          <a:solidFill>
            <a:srgbClr val="252545"/>
          </a:solidFill>
          <a:ln cap="flat" cmpd="sng" w="190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4"/>
          <p:cNvSpPr/>
          <p:nvPr/>
        </p:nvSpPr>
        <p:spPr>
          <a:xfrm>
            <a:off x="530352" y="338328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📈  DÓLAR SUBIU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530352" y="385876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Alta do dólar compensou a queda das 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4"/>
          <p:cNvSpPr/>
          <p:nvPr/>
        </p:nvSpPr>
        <p:spPr>
          <a:xfrm>
            <a:off x="4736592" y="3127248"/>
            <a:ext cx="4114800" cy="1828800"/>
          </a:xfrm>
          <a:prstGeom prst="rect">
            <a:avLst/>
          </a:prstGeom>
          <a:solidFill>
            <a:srgbClr val="252545"/>
          </a:solidFill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4"/>
          <p:cNvSpPr/>
          <p:nvPr/>
        </p:nvSpPr>
        <p:spPr>
          <a:xfrm>
            <a:off x="4919472" y="3383280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📉  DÓLAR CAIU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4"/>
          <p:cNvSpPr/>
          <p:nvPr/>
        </p:nvSpPr>
        <p:spPr>
          <a:xfrm>
            <a:off x="4919472" y="3858768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AACC"/>
                </a:solidFill>
                <a:latin typeface="Calibri"/>
                <a:ea typeface="Calibri"/>
                <a:cs typeface="Calibri"/>
                <a:sym typeface="Calibri"/>
              </a:rPr>
              <a:t>Dólar seguiu o mesmo movimento das ações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4160520" y="3657600"/>
            <a:ext cx="804672" cy="804672"/>
          </a:xfrm>
          <a:prstGeom prst="ellipse">
            <a:avLst/>
          </a:prstGeom>
          <a:solidFill>
            <a:srgbClr val="252545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4"/>
          <p:cNvSpPr/>
          <p:nvPr/>
        </p:nvSpPr>
        <p:spPr>
          <a:xfrm>
            <a:off x="4160520" y="3657600"/>
            <a:ext cx="804672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5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5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5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5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5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5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5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15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5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15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5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15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5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5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15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5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15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5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5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5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15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5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5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5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15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5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5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5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5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15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15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5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15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5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EDA FINANCEIRA · RESPOSTA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15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5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Correlação</a:t>
            </a:r>
            <a:r>
              <a:rPr b="1" lang="en-US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 segredo da diversificação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5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5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Dólar subiu +30% enquanto o Ibovespa caiu −50% em mar/2020. Quem tinha dólar na carteira viu o seguro funcionar. Isso é correlação negativa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 oposto da diversificação falsa.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5"/>
          <p:cNvSpPr/>
          <p:nvPr/>
        </p:nvSpPr>
        <p:spPr>
          <a:xfrm>
            <a:off x="347472" y="2029968"/>
            <a:ext cx="4846320" cy="272491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15"/>
          <p:cNvSpPr/>
          <p:nvPr/>
        </p:nvSpPr>
        <p:spPr>
          <a:xfrm>
            <a:off x="512064" y="2167128"/>
            <a:ext cx="457200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retornos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df_clean["Close"].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pct_change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dropna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Matriz de correlação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corr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retornos.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corr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Heatmap interativo com Plotly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plotly.express </a:t>
            </a: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px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fig = px.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imshow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corr, text_auto=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37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color_continuous_scale=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E88D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3E88D"/>
                </a:solidFill>
                <a:latin typeface="Consolas"/>
                <a:ea typeface="Consolas"/>
                <a:cs typeface="Consolas"/>
                <a:sym typeface="Consolas"/>
              </a:rPr>
              <a:t>"RdBu_r"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zmin=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 zmax=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37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5"/>
          <p:cNvSpPr/>
          <p:nvPr/>
        </p:nvSpPr>
        <p:spPr>
          <a:xfrm>
            <a:off x="5376672" y="2029968"/>
            <a:ext cx="341985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5"/>
          <p:cNvSpPr/>
          <p:nvPr/>
        </p:nvSpPr>
        <p:spPr>
          <a:xfrm>
            <a:off x="5376672" y="2029968"/>
            <a:ext cx="50292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15"/>
          <p:cNvSpPr/>
          <p:nvPr/>
        </p:nvSpPr>
        <p:spPr>
          <a:xfrm>
            <a:off x="5504688" y="2084832"/>
            <a:ext cx="804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+1.0</a:t>
            </a:r>
            <a:endParaRPr b="0" i="0" sz="1700" u="none" cap="none" strike="noStrike">
              <a:solidFill>
                <a:srgbClr val="16A3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15"/>
          <p:cNvSpPr/>
          <p:nvPr/>
        </p:nvSpPr>
        <p:spPr>
          <a:xfrm>
            <a:off x="6336792" y="208483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Correlação perfeita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5"/>
          <p:cNvSpPr/>
          <p:nvPr/>
        </p:nvSpPr>
        <p:spPr>
          <a:xfrm>
            <a:off x="5504688" y="2441448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Movem igual — não diversifica. </a:t>
            </a:r>
            <a:endParaRPr b="0" i="0" sz="95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Ex: BOVA11 e PIBB11 (dois ETFs do Ibovespa).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5"/>
          <p:cNvSpPr/>
          <p:nvPr/>
        </p:nvSpPr>
        <p:spPr>
          <a:xfrm>
            <a:off x="5376672" y="2944368"/>
            <a:ext cx="341985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15"/>
          <p:cNvSpPr/>
          <p:nvPr/>
        </p:nvSpPr>
        <p:spPr>
          <a:xfrm>
            <a:off x="5376672" y="2944368"/>
            <a:ext cx="50292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5"/>
          <p:cNvSpPr/>
          <p:nvPr/>
        </p:nvSpPr>
        <p:spPr>
          <a:xfrm>
            <a:off x="5504688" y="2999232"/>
            <a:ext cx="804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5"/>
          <p:cNvSpPr/>
          <p:nvPr/>
        </p:nvSpPr>
        <p:spPr>
          <a:xfrm>
            <a:off x="6336792" y="299923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Sem correlação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5"/>
          <p:cNvSpPr/>
          <p:nvPr/>
        </p:nvSpPr>
        <p:spPr>
          <a:xfrm>
            <a:off x="5504688" y="3355848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Movimentos independentes — diversificação parcial. </a:t>
            </a:r>
            <a:endParaRPr b="0" i="0" sz="95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Ex: VALE3 vs empresas de saúde.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5"/>
          <p:cNvSpPr/>
          <p:nvPr/>
        </p:nvSpPr>
        <p:spPr>
          <a:xfrm>
            <a:off x="5376672" y="3858768"/>
            <a:ext cx="3419856" cy="82296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5"/>
          <p:cNvSpPr/>
          <p:nvPr/>
        </p:nvSpPr>
        <p:spPr>
          <a:xfrm>
            <a:off x="5376672" y="3858768"/>
            <a:ext cx="50292" cy="8229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15"/>
          <p:cNvSpPr/>
          <p:nvPr/>
        </p:nvSpPr>
        <p:spPr>
          <a:xfrm>
            <a:off x="5504688" y="3913632"/>
            <a:ext cx="804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700"/>
              <a:buFont typeface="Calibri"/>
              <a:buNone/>
            </a:pPr>
            <a:r>
              <a:rPr b="1" i="0" lang="en-US" sz="1700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−1.0</a:t>
            </a:r>
            <a:endParaRPr b="0" i="0" sz="1700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5"/>
          <p:cNvSpPr/>
          <p:nvPr/>
        </p:nvSpPr>
        <p:spPr>
          <a:xfrm>
            <a:off x="6336792" y="3913632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Correlação negativa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5"/>
          <p:cNvSpPr/>
          <p:nvPr/>
        </p:nvSpPr>
        <p:spPr>
          <a:xfrm>
            <a:off x="5504688" y="4270248"/>
            <a:ext cx="31821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Um sobe quando o outro cai. Proteção máxima. </a:t>
            </a:r>
            <a:endParaRPr b="0" i="0" sz="95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Caso real: Dólar × Ibovespa em crises.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5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8" name="Google Shape;698;p15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6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6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16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6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6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6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6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6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16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6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6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6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16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6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6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6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6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6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16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6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16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6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6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6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16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6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6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6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6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16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16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6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6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6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6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6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EDA FINANCEIRA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16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6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Médias Móveis</a:t>
            </a:r>
            <a:r>
              <a:rPr b="1" lang="en-US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tendência sob o ruído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6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6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 preço diário é cheio de ruído. A MM20 (curta) captura a tendência recente; a MM200 (longa) captura o movimento estrutural. Quando a curta cruza a longa para cima: possível tendência de alta.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6"/>
          <p:cNvSpPr/>
          <p:nvPr/>
        </p:nvSpPr>
        <p:spPr>
          <a:xfrm>
            <a:off x="347472" y="2029968"/>
            <a:ext cx="4846200" cy="2724900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6"/>
          <p:cNvSpPr/>
          <p:nvPr/>
        </p:nvSpPr>
        <p:spPr>
          <a:xfrm>
            <a:off x="512064" y="2167128"/>
            <a:ext cx="4572000" cy="249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close_petro = df_clean["PETR3.SA"]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Médias móveis simples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mm20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close_petro.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rolling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(20).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mean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mm200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close_petro.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rolling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(200).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mean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  <a:t># Detectar cruzamentos automaticamente</a:t>
            </a:r>
            <a:br>
              <a:rPr b="0" i="1" lang="en-US" sz="1050" u="none" cap="none" strike="noStrike">
                <a:solidFill>
                  <a:srgbClr val="676E9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sinal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(mm20 &gt; mm200).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astype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(int)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cruzamentos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sinal.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diff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dropna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golden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cruzamentos[cruzamentos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].index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death 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cruzamentos[cruzamentos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== 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-1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].index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6"/>
          <p:cNvSpPr/>
          <p:nvPr/>
        </p:nvSpPr>
        <p:spPr>
          <a:xfrm>
            <a:off x="5376672" y="2029968"/>
            <a:ext cx="341985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6"/>
          <p:cNvSpPr/>
          <p:nvPr/>
        </p:nvSpPr>
        <p:spPr>
          <a:xfrm>
            <a:off x="5376672" y="2029968"/>
            <a:ext cx="50292" cy="8229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6"/>
          <p:cNvSpPr/>
          <p:nvPr/>
        </p:nvSpPr>
        <p:spPr>
          <a:xfrm>
            <a:off x="5504688" y="208483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6"/>
          <p:cNvSpPr/>
          <p:nvPr/>
        </p:nvSpPr>
        <p:spPr>
          <a:xfrm>
            <a:off x="5879592" y="2084832"/>
            <a:ext cx="27980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MM20 cruza MM200 ↑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6"/>
          <p:cNvSpPr/>
          <p:nvPr/>
        </p:nvSpPr>
        <p:spPr>
          <a:xfrm>
            <a:off x="5504688" y="2432304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Tendência curta supera a longa</a:t>
            </a: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-US" sz="950" u="none" cap="none" strike="noStrike">
                <a:solidFill>
                  <a:srgbClr val="9B59D0"/>
                </a:solidFill>
                <a:latin typeface="Calibri"/>
                <a:ea typeface="Calibri"/>
                <a:cs typeface="Calibri"/>
                <a:sym typeface="Calibri"/>
              </a:rPr>
              <a:t>Golden Cross</a:t>
            </a: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95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Possível início de alta.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16"/>
          <p:cNvSpPr/>
          <p:nvPr/>
        </p:nvSpPr>
        <p:spPr>
          <a:xfrm>
            <a:off x="5376672" y="2944368"/>
            <a:ext cx="3419856" cy="82296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6"/>
          <p:cNvSpPr/>
          <p:nvPr/>
        </p:nvSpPr>
        <p:spPr>
          <a:xfrm>
            <a:off x="5376672" y="2944368"/>
            <a:ext cx="50292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6"/>
          <p:cNvSpPr/>
          <p:nvPr/>
        </p:nvSpPr>
        <p:spPr>
          <a:xfrm>
            <a:off x="5504688" y="299923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6"/>
          <p:cNvSpPr/>
          <p:nvPr/>
        </p:nvSpPr>
        <p:spPr>
          <a:xfrm>
            <a:off x="5879592" y="2999232"/>
            <a:ext cx="27980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MM20 cruza MM200 ↓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6"/>
          <p:cNvSpPr/>
          <p:nvPr/>
        </p:nvSpPr>
        <p:spPr>
          <a:xfrm>
            <a:off x="5504688" y="3346704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Tendência curta abaixo da longa</a:t>
            </a:r>
            <a:r>
              <a:rPr lang="en-US" sz="9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950" u="none" cap="none" strike="noStrike">
                <a:solidFill>
                  <a:srgbClr val="9B59D0"/>
                </a:solidFill>
                <a:latin typeface="Calibri"/>
                <a:ea typeface="Calibri"/>
                <a:cs typeface="Calibri"/>
                <a:sym typeface="Calibri"/>
              </a:rPr>
              <a:t>Death Cross</a:t>
            </a: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95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Possível início de baixa.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6"/>
          <p:cNvSpPr/>
          <p:nvPr/>
        </p:nvSpPr>
        <p:spPr>
          <a:xfrm>
            <a:off x="5376672" y="3858768"/>
            <a:ext cx="3419856" cy="82296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6"/>
          <p:cNvSpPr/>
          <p:nvPr/>
        </p:nvSpPr>
        <p:spPr>
          <a:xfrm>
            <a:off x="5376672" y="3858768"/>
            <a:ext cx="50292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6"/>
          <p:cNvSpPr/>
          <p:nvPr/>
        </p:nvSpPr>
        <p:spPr>
          <a:xfrm>
            <a:off x="5504688" y="391363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6"/>
          <p:cNvSpPr/>
          <p:nvPr/>
        </p:nvSpPr>
        <p:spPr>
          <a:xfrm>
            <a:off x="5879592" y="3913632"/>
            <a:ext cx="27980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Não é garantia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6"/>
          <p:cNvSpPr/>
          <p:nvPr/>
        </p:nvSpPr>
        <p:spPr>
          <a:xfrm>
            <a:off x="5504688" y="4261104"/>
            <a:ext cx="31821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Gera muitos falsos positivos. Sempre valide com backtesting rigoroso antes de qualquer uso real.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16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3" name="Google Shape;763;p16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7"/>
          <p:cNvSpPr/>
          <p:nvPr/>
        </p:nvSpPr>
        <p:spPr>
          <a:xfrm>
            <a:off x="7479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7"/>
          <p:cNvSpPr/>
          <p:nvPr/>
        </p:nvSpPr>
        <p:spPr>
          <a:xfrm>
            <a:off x="7708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7"/>
          <p:cNvSpPr/>
          <p:nvPr/>
        </p:nvSpPr>
        <p:spPr>
          <a:xfrm>
            <a:off x="79369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7"/>
          <p:cNvSpPr/>
          <p:nvPr/>
        </p:nvSpPr>
        <p:spPr>
          <a:xfrm>
            <a:off x="81655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7"/>
          <p:cNvSpPr/>
          <p:nvPr/>
        </p:nvSpPr>
        <p:spPr>
          <a:xfrm>
            <a:off x="83941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17"/>
          <p:cNvSpPr/>
          <p:nvPr/>
        </p:nvSpPr>
        <p:spPr>
          <a:xfrm>
            <a:off x="86227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7"/>
          <p:cNvSpPr/>
          <p:nvPr/>
        </p:nvSpPr>
        <p:spPr>
          <a:xfrm>
            <a:off x="8851392" y="640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7"/>
          <p:cNvSpPr/>
          <p:nvPr/>
        </p:nvSpPr>
        <p:spPr>
          <a:xfrm>
            <a:off x="7479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7"/>
          <p:cNvSpPr/>
          <p:nvPr/>
        </p:nvSpPr>
        <p:spPr>
          <a:xfrm>
            <a:off x="7708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7"/>
          <p:cNvSpPr/>
          <p:nvPr/>
        </p:nvSpPr>
        <p:spPr>
          <a:xfrm>
            <a:off x="79369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7"/>
          <p:cNvSpPr/>
          <p:nvPr/>
        </p:nvSpPr>
        <p:spPr>
          <a:xfrm>
            <a:off x="81655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7"/>
          <p:cNvSpPr/>
          <p:nvPr/>
        </p:nvSpPr>
        <p:spPr>
          <a:xfrm>
            <a:off x="83941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17"/>
          <p:cNvSpPr/>
          <p:nvPr/>
        </p:nvSpPr>
        <p:spPr>
          <a:xfrm>
            <a:off x="86227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17"/>
          <p:cNvSpPr/>
          <p:nvPr/>
        </p:nvSpPr>
        <p:spPr>
          <a:xfrm>
            <a:off x="8851392" y="2926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7"/>
          <p:cNvSpPr/>
          <p:nvPr/>
        </p:nvSpPr>
        <p:spPr>
          <a:xfrm>
            <a:off x="7479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17"/>
          <p:cNvSpPr/>
          <p:nvPr/>
        </p:nvSpPr>
        <p:spPr>
          <a:xfrm>
            <a:off x="7708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7"/>
          <p:cNvSpPr/>
          <p:nvPr/>
        </p:nvSpPr>
        <p:spPr>
          <a:xfrm>
            <a:off x="79369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17"/>
          <p:cNvSpPr/>
          <p:nvPr/>
        </p:nvSpPr>
        <p:spPr>
          <a:xfrm>
            <a:off x="81655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7"/>
          <p:cNvSpPr/>
          <p:nvPr/>
        </p:nvSpPr>
        <p:spPr>
          <a:xfrm>
            <a:off x="83941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7"/>
          <p:cNvSpPr/>
          <p:nvPr/>
        </p:nvSpPr>
        <p:spPr>
          <a:xfrm>
            <a:off x="86227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17"/>
          <p:cNvSpPr/>
          <p:nvPr/>
        </p:nvSpPr>
        <p:spPr>
          <a:xfrm>
            <a:off x="8851392" y="5212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17"/>
          <p:cNvSpPr/>
          <p:nvPr/>
        </p:nvSpPr>
        <p:spPr>
          <a:xfrm>
            <a:off x="7479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7"/>
          <p:cNvSpPr/>
          <p:nvPr/>
        </p:nvSpPr>
        <p:spPr>
          <a:xfrm>
            <a:off x="7708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7"/>
          <p:cNvSpPr/>
          <p:nvPr/>
        </p:nvSpPr>
        <p:spPr>
          <a:xfrm>
            <a:off x="79369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7"/>
          <p:cNvSpPr/>
          <p:nvPr/>
        </p:nvSpPr>
        <p:spPr>
          <a:xfrm>
            <a:off x="81655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7"/>
          <p:cNvSpPr/>
          <p:nvPr/>
        </p:nvSpPr>
        <p:spPr>
          <a:xfrm>
            <a:off x="83941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7"/>
          <p:cNvSpPr/>
          <p:nvPr/>
        </p:nvSpPr>
        <p:spPr>
          <a:xfrm>
            <a:off x="86227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7"/>
          <p:cNvSpPr/>
          <p:nvPr/>
        </p:nvSpPr>
        <p:spPr>
          <a:xfrm>
            <a:off x="8851392" y="7498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7"/>
          <p:cNvSpPr/>
          <p:nvPr/>
        </p:nvSpPr>
        <p:spPr>
          <a:xfrm>
            <a:off x="7479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17"/>
          <p:cNvSpPr/>
          <p:nvPr/>
        </p:nvSpPr>
        <p:spPr>
          <a:xfrm>
            <a:off x="7708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7"/>
          <p:cNvSpPr/>
          <p:nvPr/>
        </p:nvSpPr>
        <p:spPr>
          <a:xfrm>
            <a:off x="79369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7"/>
          <p:cNvSpPr/>
          <p:nvPr/>
        </p:nvSpPr>
        <p:spPr>
          <a:xfrm>
            <a:off x="81655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7"/>
          <p:cNvSpPr/>
          <p:nvPr/>
        </p:nvSpPr>
        <p:spPr>
          <a:xfrm>
            <a:off x="83941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17"/>
          <p:cNvSpPr/>
          <p:nvPr/>
        </p:nvSpPr>
        <p:spPr>
          <a:xfrm>
            <a:off x="86227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7"/>
          <p:cNvSpPr/>
          <p:nvPr/>
        </p:nvSpPr>
        <p:spPr>
          <a:xfrm>
            <a:off x="8851392" y="978408"/>
            <a:ext cx="64008" cy="64008"/>
          </a:xfrm>
          <a:prstGeom prst="ellipse">
            <a:avLst/>
          </a:prstGeom>
          <a:solidFill>
            <a:srgbClr val="D1D5DB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7"/>
          <p:cNvSpPr/>
          <p:nvPr/>
        </p:nvSpPr>
        <p:spPr>
          <a:xfrm>
            <a:off x="347472" y="128016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EDA FINANCEIRA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7"/>
          <p:cNvSpPr/>
          <p:nvPr/>
        </p:nvSpPr>
        <p:spPr>
          <a:xfrm>
            <a:off x="347472" y="347472"/>
            <a:ext cx="8458200" cy="11887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7"/>
          <p:cNvSpPr/>
          <p:nvPr/>
        </p:nvSpPr>
        <p:spPr>
          <a:xfrm>
            <a:off x="347472" y="438912"/>
            <a:ext cx="7772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Drawdown</a:t>
            </a:r>
            <a:r>
              <a:rPr b="1" lang="en-US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3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 distância ao pico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7"/>
          <p:cNvSpPr/>
          <p:nvPr/>
        </p:nvSpPr>
        <p:spPr>
          <a:xfrm>
            <a:off x="347472" y="11887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7"/>
          <p:cNvSpPr/>
          <p:nvPr/>
        </p:nvSpPr>
        <p:spPr>
          <a:xfrm>
            <a:off x="512064" y="1261872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volatilidade mede o tamanho das oscilações. O drawdown mede algo diferente: o quanto você perdeu a partir do pico histórico. É a métrica que responde à pergunta: 'e se eu tivesse comprado no topo?'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7"/>
          <p:cNvSpPr/>
          <p:nvPr/>
        </p:nvSpPr>
        <p:spPr>
          <a:xfrm>
            <a:off x="347472" y="2029968"/>
            <a:ext cx="4846320" cy="1828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7"/>
          <p:cNvSpPr/>
          <p:nvPr/>
        </p:nvSpPr>
        <p:spPr>
          <a:xfrm>
            <a:off x="484632" y="2103120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Underwater Chart — como funciona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7"/>
          <p:cNvSpPr/>
          <p:nvPr/>
        </p:nvSpPr>
        <p:spPr>
          <a:xfrm>
            <a:off x="914400" y="2450592"/>
            <a:ext cx="640080" cy="201168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7"/>
          <p:cNvSpPr/>
          <p:nvPr/>
        </p:nvSpPr>
        <p:spPr>
          <a:xfrm>
            <a:off x="914400" y="245059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7"/>
          <p:cNvSpPr/>
          <p:nvPr/>
        </p:nvSpPr>
        <p:spPr>
          <a:xfrm>
            <a:off x="2560320" y="3328416"/>
            <a:ext cx="640080" cy="201168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7"/>
          <p:cNvSpPr/>
          <p:nvPr/>
        </p:nvSpPr>
        <p:spPr>
          <a:xfrm>
            <a:off x="2560320" y="3328416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7"/>
          <p:cNvSpPr/>
          <p:nvPr/>
        </p:nvSpPr>
        <p:spPr>
          <a:xfrm>
            <a:off x="4114800" y="2450592"/>
            <a:ext cx="822960" cy="20116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7"/>
          <p:cNvSpPr/>
          <p:nvPr/>
        </p:nvSpPr>
        <p:spPr>
          <a:xfrm>
            <a:off x="4114800" y="2450592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RECUPER.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7"/>
          <p:cNvSpPr/>
          <p:nvPr/>
        </p:nvSpPr>
        <p:spPr>
          <a:xfrm>
            <a:off x="1261872" y="2651760"/>
            <a:ext cx="2834640" cy="658368"/>
          </a:xfrm>
          <a:prstGeom prst="rect">
            <a:avLst/>
          </a:prstGeom>
          <a:solidFill>
            <a:srgbClr val="DC2626">
              <a:alpha val="25098"/>
            </a:srgbClr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7"/>
          <p:cNvSpPr/>
          <p:nvPr/>
        </p:nvSpPr>
        <p:spPr>
          <a:xfrm>
            <a:off x="1261872" y="2871216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← Drawdown máximo →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0" name="Google Shape;820;p17"/>
          <p:cNvCxnSpPr/>
          <p:nvPr/>
        </p:nvCxnSpPr>
        <p:spPr>
          <a:xfrm>
            <a:off x="512064" y="2651760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16A34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21" name="Google Shape;821;p17"/>
          <p:cNvSpPr/>
          <p:nvPr/>
        </p:nvSpPr>
        <p:spPr>
          <a:xfrm>
            <a:off x="347472" y="4005072"/>
            <a:ext cx="4846320" cy="896112"/>
          </a:xfrm>
          <a:prstGeom prst="rect">
            <a:avLst/>
          </a:prstGeom>
          <a:solidFill>
            <a:srgbClr val="1E1E2E"/>
          </a:solidFill>
          <a:ln cap="flat" cmpd="sng" w="12700">
            <a:solidFill>
              <a:srgbClr val="1E1E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7"/>
          <p:cNvSpPr/>
          <p:nvPr/>
        </p:nvSpPr>
        <p:spPr>
          <a:xfrm>
            <a:off x="512064" y="4142232"/>
            <a:ext cx="45720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def 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calcular_drawdown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(preco):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pico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preco.</a:t>
            </a:r>
            <a:r>
              <a:rPr b="0" i="0" lang="en-US" sz="1050" u="none" cap="none" strike="noStrike">
                <a:solidFill>
                  <a:srgbClr val="82AAFF"/>
                </a:solidFill>
                <a:latin typeface="Consolas"/>
                <a:ea typeface="Consolas"/>
                <a:cs typeface="Consolas"/>
                <a:sym typeface="Consolas"/>
              </a:rPr>
              <a:t>cummax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    return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(preco / pico) </a:t>
            </a:r>
            <a:r>
              <a:rPr b="0" i="0" lang="en-US" sz="1050" u="none" cap="none" strike="noStrike">
                <a:solidFill>
                  <a:srgbClr val="89DDFF"/>
                </a:solidFill>
                <a:latin typeface="Consolas"/>
                <a:ea typeface="Consolas"/>
                <a:cs typeface="Consolas"/>
                <a:sym typeface="Consolas"/>
              </a:rPr>
              <a:t>- </a:t>
            </a:r>
            <a:r>
              <a:rPr b="0" i="0" lang="en-US" sz="1050" u="none" cap="none" strike="noStrike">
                <a:solidFill>
                  <a:srgbClr val="FF5370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17"/>
          <p:cNvSpPr/>
          <p:nvPr/>
        </p:nvSpPr>
        <p:spPr>
          <a:xfrm>
            <a:off x="5376672" y="2029968"/>
            <a:ext cx="3419856" cy="86868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7"/>
          <p:cNvSpPr/>
          <p:nvPr/>
        </p:nvSpPr>
        <p:spPr>
          <a:xfrm>
            <a:off x="5376672" y="2029968"/>
            <a:ext cx="50292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17"/>
          <p:cNvSpPr/>
          <p:nvPr/>
        </p:nvSpPr>
        <p:spPr>
          <a:xfrm>
            <a:off x="5504688" y="208483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7"/>
          <p:cNvSpPr/>
          <p:nvPr/>
        </p:nvSpPr>
        <p:spPr>
          <a:xfrm>
            <a:off x="5879592" y="2084832"/>
            <a:ext cx="27980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Drawdown máximo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17"/>
          <p:cNvSpPr/>
          <p:nvPr/>
        </p:nvSpPr>
        <p:spPr>
          <a:xfrm>
            <a:off x="5504688" y="2414016"/>
            <a:ext cx="31821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maior queda percentual desde o pico histórico. PETR3: −69% em 2020 (do pico de 2019 ao fundo de mar/2020).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7"/>
          <p:cNvSpPr/>
          <p:nvPr/>
        </p:nvSpPr>
        <p:spPr>
          <a:xfrm>
            <a:off x="5376672" y="2990088"/>
            <a:ext cx="3419856" cy="86868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376672" y="2990088"/>
            <a:ext cx="50292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504688" y="304495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17"/>
          <p:cNvSpPr/>
          <p:nvPr/>
        </p:nvSpPr>
        <p:spPr>
          <a:xfrm>
            <a:off x="5879592" y="3044952"/>
            <a:ext cx="27980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Por que importa?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7"/>
          <p:cNvSpPr/>
          <p:nvPr/>
        </p:nvSpPr>
        <p:spPr>
          <a:xfrm>
            <a:off x="5504688" y="3374136"/>
            <a:ext cx="31821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Volatilidade anual de 35% é abstrata. 'Você perdeu −69% em 12 meses' é muito mais fácil de entender e sentir.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17"/>
          <p:cNvSpPr/>
          <p:nvPr/>
        </p:nvSpPr>
        <p:spPr>
          <a:xfrm>
            <a:off x="5376672" y="3950208"/>
            <a:ext cx="3419856" cy="86868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17"/>
          <p:cNvSpPr/>
          <p:nvPr/>
        </p:nvSpPr>
        <p:spPr>
          <a:xfrm>
            <a:off x="5376672" y="3950208"/>
            <a:ext cx="50292" cy="86868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7"/>
          <p:cNvSpPr/>
          <p:nvPr/>
        </p:nvSpPr>
        <p:spPr>
          <a:xfrm>
            <a:off x="5504688" y="400507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17"/>
          <p:cNvSpPr/>
          <p:nvPr/>
        </p:nvSpPr>
        <p:spPr>
          <a:xfrm>
            <a:off x="5879592" y="4005072"/>
            <a:ext cx="279806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B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B2FBE"/>
                </a:solidFill>
                <a:latin typeface="Calibri"/>
                <a:ea typeface="Calibri"/>
                <a:cs typeface="Calibri"/>
                <a:sym typeface="Calibri"/>
              </a:rPr>
              <a:t>Underwater Chart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17"/>
          <p:cNvSpPr/>
          <p:nvPr/>
        </p:nvSpPr>
        <p:spPr>
          <a:xfrm>
            <a:off x="5504688" y="4334256"/>
            <a:ext cx="31821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Gráfico que mostra quanto tempo o investidor ficou abaixo do pico. BTC ficou 3 anos para recuperar o topo de 2017.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7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7B2FBE"/>
          </a:solidFill>
          <a:ln cap="flat" cmpd="sng" w="12700">
            <a:solidFill>
              <a:srgbClr val="7B2F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9" name="Google Shape;839;p17" title="LOGOTIPO - PRETO - PNG .png"/>
          <p:cNvPicPr preferRelativeResize="0"/>
          <p:nvPr/>
        </p:nvPicPr>
        <p:blipFill rotWithShape="1">
          <a:blip r:embed="rId3">
            <a:alphaModFix/>
          </a:blip>
          <a:srcRect b="8750" l="16830" r="-16830" t="-8750"/>
          <a:stretch/>
        </p:blipFill>
        <p:spPr>
          <a:xfrm>
            <a:off x="-137439" y="4581161"/>
            <a:ext cx="1056682" cy="5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