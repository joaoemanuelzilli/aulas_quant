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fff781620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dfff781620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27432"/>
            <a:ext cx="5029200" cy="5116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29170" y="226220"/>
            <a:ext cx="22800" cy="23775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64724" y="409100"/>
            <a:ext cx="695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lang="en-US" sz="4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GESTÃO DE RISCO I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2330" y="1019643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lang="en-US" sz="37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CVaR e Drawdown</a:t>
            </a:r>
            <a:endParaRPr b="0"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6330" y="2027588"/>
            <a:ext cx="3200400" cy="165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6330" y="21190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6330" y="23768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29180" y="27858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9180" y="29321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835220" y="29504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29180" y="3215614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29180" y="325219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29180" y="3398493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835220" y="3416782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29180" y="3663670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9180" y="37002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29180" y="38465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835220" y="38648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29180" y="411172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29180" y="414830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9180" y="429460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824808" y="431289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7432"/>
            <a:ext cx="4114800" cy="51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120640" y="457200"/>
            <a:ext cx="3931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470916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5116068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" name="Google Shape;48;p4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229180" y="455659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29180" y="459317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29180" y="473947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Thiago Leal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824808" y="475776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Ciências Econômicas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CVaR / EXPECTED SHORTFALL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70432" y="465328"/>
            <a:ext cx="7680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VaR diz que em 95% dos dias você não perde mais de 3%. E nos outros 5%?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VaR é um limiar: ele diz onde a cauda começa. Mas não diz o que tem dentro dela. Num dia de crise real, você quer saber o quanto pode perder</a:t>
            </a: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não apenas se vai perder.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4747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30352" y="3310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VaR 95%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3035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-3%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3035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Limite de perda em 95% dos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73659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919472" y="3310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 nos 5% piores?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1947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91947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O VaR não responde isso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160520" y="3712464"/>
            <a:ext cx="804672" cy="804672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160520" y="3712464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CVaR / EXPECTED SHORTFALL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CVaR: a média do que está dentro da cauda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 responde: qual é o pior dia que eu posso ter em 95% do tempo? CVaR vai além: dado que estou nos 5% piores dias, qual é a perda média? É sempre maior que o VaR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 é o que realmente importa na gestão de risco.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2910" y="2029968"/>
            <a:ext cx="4251900" cy="272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12064" y="215798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Intuição visual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12064" y="2414016"/>
            <a:ext cx="39136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94360" y="3218688"/>
            <a:ext cx="256032" cy="109728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96112" y="2852928"/>
            <a:ext cx="256032" cy="146304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197864" y="2578608"/>
            <a:ext cx="256032" cy="173736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499616" y="2761488"/>
            <a:ext cx="256032" cy="155448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801368" y="3127248"/>
            <a:ext cx="256032" cy="118872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103120" y="3493008"/>
            <a:ext cx="256032" cy="822960"/>
          </a:xfrm>
          <a:prstGeom prst="rect">
            <a:avLst/>
          </a:prstGeom>
          <a:solidFill>
            <a:srgbClr val="AAAACC"/>
          </a:solidFill>
          <a:ln cap="flat" cmpd="sng" w="12700">
            <a:solidFill>
              <a:srgbClr val="AAA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404872" y="3813048"/>
            <a:ext cx="256032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2706624" y="4023360"/>
            <a:ext cx="256032" cy="29260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008376" y="4133088"/>
            <a:ext cx="256032" cy="1828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310128" y="4206240"/>
            <a:ext cx="256032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611880" y="4251960"/>
            <a:ext cx="256032" cy="6400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6"/>
          <p:cNvCxnSpPr/>
          <p:nvPr/>
        </p:nvCxnSpPr>
        <p:spPr>
          <a:xfrm>
            <a:off x="2340864" y="2523744"/>
            <a:ext cx="0" cy="1810512"/>
          </a:xfrm>
          <a:prstGeom prst="straightConnector1">
            <a:avLst/>
          </a:prstGeom>
          <a:noFill/>
          <a:ln cap="flat" cmpd="sng" w="25400">
            <a:solidFill>
              <a:srgbClr val="D9770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7" name="Google Shape;137;p6"/>
          <p:cNvSpPr/>
          <p:nvPr/>
        </p:nvSpPr>
        <p:spPr>
          <a:xfrm>
            <a:off x="2241350" y="2487168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3246120" y="2523744"/>
            <a:ext cx="0" cy="1810512"/>
          </a:xfrm>
          <a:prstGeom prst="straightConnector1">
            <a:avLst/>
          </a:prstGeom>
          <a:noFill/>
          <a:ln cap="flat" cmpd="sng" w="25400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9" name="Google Shape;139;p6"/>
          <p:cNvSpPr/>
          <p:nvPr/>
        </p:nvSpPr>
        <p:spPr>
          <a:xfrm>
            <a:off x="3134773" y="2487168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CVaR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348449" y="4370825"/>
            <a:ext cx="1527300" cy="549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527221" y="4389122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cauda capturada pelo CVaR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782312" y="20299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946904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</a:t>
            </a: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 limiar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946904" y="24688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946904" y="25328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Diz onde a cauda começa. 'Em 95% dos dias você não perde mais de X.' Não diz o que acontece nos outros 5%.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82312" y="29443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412480" y="30358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946904" y="30723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CVaR</a:t>
            </a: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média da cauda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946904" y="33832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946904" y="34472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Dado que você já está nos piores 5% dos dias, qual é a perda média? Sempre maior que o VaR em magnitude.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82312" y="38587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412480" y="39502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946904" y="39867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Por que CVaR importa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946904" y="42976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946904" y="43616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 crises, os dias ruins não são aleatórios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chegam juntos. CVaR captura exatamente essa severidade média dos eventos extremos.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CVaR / EXPECTED SHORTFALL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Histórico vs Paramétrico: qual usar?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Existem duas formas de calcular o CVaR. O histórico usa os retornos reais sem assumir nenhuma distribuição. O paramétrico assume distribuição normal. Para ativos com caudas gordas, o histórico é mais honesto.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47472" y="2029968"/>
            <a:ext cx="429768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12064" y="2167128"/>
            <a:ext cx="402336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6E95"/>
              </a:buClr>
              <a:buSzPts val="1050"/>
              <a:buFont typeface="Consolas"/>
              <a:buNone/>
            </a:pP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CVaR Histórico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alpha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1. Calcular VaR histórico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var_hist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quantile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(alpha)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2. Filtrar os dias piores que o VaR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cauda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retornos[retornos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&lt;=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var_hist]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3. CVaR = média da cauda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cvar_hist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cauda.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CVaR Paramétrico (assume normal)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scipy.stats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norm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norm.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ppf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(alpha)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cvar_param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sigma * norm.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pdf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(z) / alpha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828032" y="2029968"/>
            <a:ext cx="396849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992624" y="2067984"/>
            <a:ext cx="34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CVaR Histórico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992624" y="2371380"/>
            <a:ext cx="36393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992624" y="2487888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Pega os retornos reais que ficaram abaixo do VaR e tira a média. Sem suposição de distribuição. Mais pessimista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e mais honesto para ativos com cauda gorda.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28032" y="2944368"/>
            <a:ext cx="396849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412480" y="30358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992624" y="2982384"/>
            <a:ext cx="34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CVaR Paramétrico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992624" y="3293280"/>
            <a:ext cx="36393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992624" y="3402288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Assume distribuição normal. Usa a fórmula analítica μ − σ·φ(z)/α. Tende a ser menos pessimista porque a normal subestima eventos extremos reais.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828032" y="3858768"/>
            <a:ext cx="396849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8412480" y="39502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992624" y="3881784"/>
            <a:ext cx="34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Qual usar?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992624" y="4200180"/>
            <a:ext cx="36393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992625" y="4309200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Para ações brasileiras com cauda gorda (PETR3, MGLU3), o histórico é mais adequado. Paramétrico é mais rápido e usado em sistemas de risco em tempo real.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CVaR · CASO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PETR4 2015–2026: quanto capital reservar?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 crises, o VaR subestima o risco real. Para a PETR4 no período 2015–2026, o VaR dizia que nos piores 5% dos dias a perda seria de -3%. O CVaR histórico mostrou -6,2%. A diferença define quanto capital você precisa ter disponível.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47472" y="2029968"/>
            <a:ext cx="2606040" cy="914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47472" y="2029968"/>
            <a:ext cx="260604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84632" y="2121408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-3,0%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4632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 95% (histórico)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136392" y="2029968"/>
            <a:ext cx="2606040" cy="914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3136392" y="2029968"/>
            <a:ext cx="260604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273552" y="2121408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-6,2%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273552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CVaR 95% (histórico)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925312" y="2029968"/>
            <a:ext cx="2606040" cy="914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925312" y="2029968"/>
            <a:ext cx="2606040" cy="45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6062472" y="2121408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2,1×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062472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CVaR / VaR — fator de severidade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47472" y="3145536"/>
            <a:ext cx="8458200" cy="29260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20624" y="3191256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Nível de Confiança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066544" y="3191256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Hist.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255264" y="3191256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CVaR Hist.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535424" y="3191256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Param.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724144" y="3191256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CVaR Param.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004304" y="3191256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 Tail?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47472" y="3438144"/>
            <a:ext cx="84582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420624" y="3511296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066544" y="3511296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-1,8%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55264" y="3511296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-3,1%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535424" y="3511296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-1,6%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724144" y="3511296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-2,0%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004304" y="3511296"/>
            <a:ext cx="1033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47472" y="3877056"/>
            <a:ext cx="8458200" cy="38404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20624" y="3950208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066544" y="3950208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-3,0%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255264" y="395020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-6,2%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535424" y="3950208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-2,5%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724144" y="3950208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-3,2%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004304" y="3950208"/>
            <a:ext cx="1033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47472" y="4315968"/>
            <a:ext cx="84582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20624" y="4389120"/>
            <a:ext cx="15361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066544" y="4389120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-6,4%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255264" y="4389120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-12,8%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535424" y="4389120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-3,5%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724144" y="4389120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-4,4%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7004304" y="4389120"/>
            <a:ext cx="1033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47472" y="4736592"/>
            <a:ext cx="8458200" cy="274320"/>
          </a:xfrm>
          <a:prstGeom prst="rect">
            <a:avLst/>
          </a:prstGeom>
          <a:solidFill>
            <a:srgbClr val="F0E8FF"/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93776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F9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Ao subir de 95% para 99%, o CVaR histórico vai de -6,2% para -12,8%</a:t>
            </a:r>
            <a:r>
              <a:rPr i="1" lang="en-US" sz="950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950" u="none" cap="none" strike="noStrike">
                <a:solidFill>
                  <a:srgbClr val="5A1F9A"/>
                </a:solidFill>
                <a:latin typeface="Calibri"/>
                <a:ea typeface="Calibri"/>
                <a:cs typeface="Calibri"/>
                <a:sym typeface="Calibri"/>
              </a:rPr>
              <a:t> quase dobra. O paramétrico vai de -3,2% para -4,4%. A diferença é a cauda gorda da PETR4 que a normal não captura.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8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755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CVaR · APLICAÇÃO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Onde VaR e CVaR são usados na prática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CVaR foi adotado pelo Comitê de Basileia (Basileia III e IV) como a métrica oficial para cálculo de capital regulatório de bancos, substituindo o VaR. Na prática, os dois coexistem com papéis diferentes.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47472" y="2029968"/>
            <a:ext cx="4160520" cy="2743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347472" y="2029968"/>
            <a:ext cx="4160520" cy="347472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12064" y="2066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CVaR / Expected Shortfall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252374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/>
          <p:nvPr/>
        </p:nvSpPr>
        <p:spPr>
          <a:xfrm>
            <a:off x="914400" y="25420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Onde é usado: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94360" y="2907792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Basileia III/IV — capital regulatório de bancos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94360" y="3291840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Fundos de pensão — dimensionamento de reservas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94360" y="3675888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Gestão de risco institucional — stress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594360" y="4059936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FRTB — Fundamental Review of the Trading Book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512064" y="4517136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512064" y="4572000"/>
            <a:ext cx="3831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Captura severidade real dos eventos extremos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645152" y="2029968"/>
            <a:ext cx="4160520" cy="274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4645152" y="2029968"/>
            <a:ext cx="4160520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4809744" y="2066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— Value at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9744" y="252374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9"/>
          <p:cNvSpPr/>
          <p:nvPr/>
        </p:nvSpPr>
        <p:spPr>
          <a:xfrm>
            <a:off x="5212080" y="25420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Onde ainda domina: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4809744" y="2907792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Sistemas de risco intraday e em tempo real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809744" y="3291840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Relatórios diários de risco de mesa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809744" y="3675888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Limites operacionais de traders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4809744" y="4059936"/>
            <a:ext cx="3794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Comunicação rápida com gestores sênior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4809744" y="4517136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4809744" y="4572000"/>
            <a:ext cx="3831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Mais simples de calcular e comunicar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9" title="LOGOTIPO - PRETO - PNG .png"/>
          <p:cNvPicPr preferRelativeResize="0"/>
          <p:nvPr/>
        </p:nvPicPr>
        <p:blipFill rotWithShape="1">
          <a:blip r:embed="rId5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DRAWDOWN MÁXIMO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1170432" y="427228"/>
            <a:ext cx="7680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fundos com 15% de retorno ao ano. Qual você escolheria para investir?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retorno é igual. O que os diferencia é o caminho percorrido para chegar lá — e o quanto você teria sofrido no pior momento.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347475" y="3127250"/>
            <a:ext cx="4114800" cy="1463100"/>
          </a:xfrm>
          <a:prstGeom prst="rect">
            <a:avLst/>
          </a:prstGeom>
          <a:solidFill>
            <a:srgbClr val="252545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530352" y="32186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FUNDO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30352" y="349300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Retorno anual: +15%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30352" y="3730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Max Drawdown: -20%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30352" y="402336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Calmar Ratio: 0,75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736600" y="3127250"/>
            <a:ext cx="4114800" cy="1463100"/>
          </a:xfrm>
          <a:prstGeom prst="rect">
            <a:avLst/>
          </a:prstGeom>
          <a:solidFill>
            <a:srgbClr val="252545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919472" y="32186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FUNDO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919472" y="349300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Retorno anual: +15%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919472" y="3730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Max Drawdown: -50%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919472" y="402336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Calmar Ratio: 0,30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160520" y="3492500"/>
            <a:ext cx="804600" cy="804600"/>
          </a:xfrm>
          <a:prstGeom prst="ellipse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160520" y="3479800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DRAWDOWN MÁXIMO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47472" y="519632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Drawdown: a distância ao seu melhor momento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47475" y="1371601"/>
            <a:ext cx="8458200" cy="530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512064" y="1310304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Drawdown mede quanto você está perdendo em relação ao pico histórico do portfólio. Sempre menor ou igual a zero. É a métrica que responde: 'se eu tivesse comprado no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melhor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momento, quanto eu estaria perdendo agora?'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47472" y="2029968"/>
            <a:ext cx="4572000" cy="272491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512064" y="2139696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Anatomia do Drawdown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512064" y="2395728"/>
            <a:ext cx="420624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685800" y="2578608"/>
            <a:ext cx="640080" cy="21945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685800" y="257860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11"/>
          <p:cNvCxnSpPr/>
          <p:nvPr/>
        </p:nvCxnSpPr>
        <p:spPr>
          <a:xfrm>
            <a:off x="685800" y="2798064"/>
            <a:ext cx="4096512" cy="0"/>
          </a:xfrm>
          <a:prstGeom prst="straightConnector1">
            <a:avLst/>
          </a:prstGeom>
          <a:noFill/>
          <a:ln cap="flat" cmpd="sng" w="19050">
            <a:solidFill>
              <a:srgbClr val="16A34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57" name="Google Shape;457;p11"/>
          <p:cNvSpPr/>
          <p:nvPr/>
        </p:nvSpPr>
        <p:spPr>
          <a:xfrm>
            <a:off x="1389888" y="257860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HWM (High Water Mark)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1325875" y="2798075"/>
            <a:ext cx="1965900" cy="804600"/>
          </a:xfrm>
          <a:prstGeom prst="rect">
            <a:avLst/>
          </a:prstGeom>
          <a:solidFill>
            <a:srgbClr val="DC2626">
              <a:alpha val="21960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1394423" y="307238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Drawdown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2011680" y="3602736"/>
            <a:ext cx="640080" cy="21945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2011680" y="360273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3291840" y="2578608"/>
            <a:ext cx="914400" cy="2194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3291840" y="257860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RECUPER.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512064" y="4133088"/>
            <a:ext cx="4206240" cy="530352"/>
          </a:xfrm>
          <a:prstGeom prst="rect">
            <a:avLst/>
          </a:prstGeom>
          <a:solidFill>
            <a:srgbClr val="F0E8FF"/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40080" y="4206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mbria"/>
                <a:ea typeface="Cambria"/>
                <a:cs typeface="Cambria"/>
                <a:sym typeface="Cambria"/>
              </a:rPr>
              <a:t>drawdown = ( preço − HWM ) / HWM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5102352" y="2029968"/>
            <a:ext cx="3694176" cy="8046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266944" y="2069242"/>
            <a:ext cx="319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Water Mark (HWM)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266944" y="2380138"/>
            <a:ext cx="3365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5266944" y="2491475"/>
            <a:ext cx="3365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máximo histórico acumulado até cada ponto no tempo. Calculado com cummax(). Quando o preço cai abaixo do HWM, você está em drawdown.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102352" y="2916936"/>
            <a:ext cx="3694176" cy="80467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8412480" y="300837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5266944" y="2956210"/>
            <a:ext cx="319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Max Drawdown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266944" y="3267106"/>
            <a:ext cx="3365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5266944" y="3372527"/>
            <a:ext cx="3365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maior queda pico-a-vale do período inteiro. Captura a pior sequência de perdas consecutivas que um investidor teria sofrido.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102352" y="3803904"/>
            <a:ext cx="3694176" cy="804672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8412480" y="3895344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266944" y="3855010"/>
            <a:ext cx="319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Por que importa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5266944" y="4165906"/>
            <a:ext cx="3365100" cy="10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5266944" y="4265411"/>
            <a:ext cx="3365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Volatilidade de 40% é abstrata. 'O ativo caiu -60% e levou 3 anos para recuperar' é concreto. Drawdown conta a história do risco.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11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DRAWDOWN MÁXIMO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47472" y="540512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Calculando drawdown e identificando episódios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347475" y="1444825"/>
            <a:ext cx="8458200" cy="4572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512064" y="1388872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 três linhas de pandas você calcula o drawdown histórico completo. O mais importante não é só o número final — é identificar quando foi o pico, quando foi o vale e quanto tempo levou para recuperar.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calcular_drawdown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(preco):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hwm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preco.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cummax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    return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(preco / hwm)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dd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calcular_drawdown(close_petro)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Max Drawdown e suas datas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max_dd  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dd.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data_vale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dd.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idxmin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data_pico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close_petro[:data_vale].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idxmax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duracao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(data_vale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data_pico).days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(f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"Pico: {data_pico.date()}"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(f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"Vale: {data_vale.date()}"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(f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"Max DD: {max_dd:.1%} em {duracao} dias"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5376672" y="2029968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Piores Episódios — PETR4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5376672" y="2322576"/>
            <a:ext cx="341985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5376672" y="2395728"/>
            <a:ext cx="3419856" cy="45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5376672" y="2395728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5504688" y="243230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Jan/2015 → Jan/2016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5504688" y="261518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6400800" y="261518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365d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5376672" y="2926080"/>
            <a:ext cx="3419856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5376672" y="2926080"/>
            <a:ext cx="457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5504688" y="296265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Jul/2019 → Mar/2020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5504688" y="314553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-60%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6400800" y="314553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257d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5376672" y="3456432"/>
            <a:ext cx="3419856" cy="45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5376672" y="3456432"/>
            <a:ext cx="457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5504688" y="349300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Jun/2022 → Dez/2022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5504688" y="367588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-41%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6400800" y="36758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5376672" y="3986784"/>
            <a:ext cx="3419856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5376672" y="3986784"/>
            <a:ext cx="457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5504688" y="4023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Fev/2023 → Jun/2023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5504688" y="42062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-28%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6400800" y="42062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118d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5376672" y="4517136"/>
            <a:ext cx="3419856" cy="457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5376672" y="4517136"/>
            <a:ext cx="457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"/>
          <p:cNvSpPr/>
          <p:nvPr/>
        </p:nvSpPr>
        <p:spPr>
          <a:xfrm>
            <a:off x="5504688" y="455371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Ago/2023 → Dez/2023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5504688" y="473659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-22%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6400800" y="47365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122d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12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3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DRAWDOWN MÁXIMO · RESPOSTA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347472" y="515112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Calmar Ratio: retorno por unidade de drawdown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347475" y="1408250"/>
            <a:ext cx="8458200" cy="475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512064" y="1376172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Calmar Ratio responde: quanto de retorno você recebeu por cada unidade de risco de drawdown? Calmar acima de 1 é bom. Acima de 2 é muito bom. Ele é o denominador da frase 'vale a pena esse risco?'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347472" y="2029968"/>
            <a:ext cx="8458200" cy="658368"/>
          </a:xfrm>
          <a:prstGeom prst="rect">
            <a:avLst/>
          </a:prstGeom>
          <a:solidFill>
            <a:srgbClr val="F0E8FF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512064" y="2103120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7B2FBE"/>
                </a:solidFill>
                <a:latin typeface="Cambria"/>
                <a:ea typeface="Cambria"/>
                <a:cs typeface="Cambria"/>
                <a:sym typeface="Cambria"/>
              </a:rPr>
              <a:t>Calmar Ratio  =  Retorno Anualizado  /  |Max Drawdown|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347472" y="2852928"/>
            <a:ext cx="4160520" cy="2066544"/>
          </a:xfrm>
          <a:prstGeom prst="rect">
            <a:avLst/>
          </a:prstGeom>
          <a:solidFill>
            <a:srgbClr val="EFEFE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/>
          <p:nvPr/>
        </p:nvSpPr>
        <p:spPr>
          <a:xfrm>
            <a:off x="347472" y="2852928"/>
            <a:ext cx="4160520" cy="29260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3"/>
          <p:cNvSpPr/>
          <p:nvPr/>
        </p:nvSpPr>
        <p:spPr>
          <a:xfrm>
            <a:off x="484632" y="28712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FUNDO A  —  Razoável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512064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Retorno anual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2633472" y="32186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512064" y="35661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Max Drawdown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2633472" y="3566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-20%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512064" y="39136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Calmar Ratio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2633472" y="39136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0,75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512064" y="4279392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512064" y="4315968"/>
            <a:ext cx="3831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Calmar 0,75: para cada 1% de retorno, você aceitou 1,33% de drawdown. Não é ótimo, mas é gerenciável. Em -20% de drawdown, a maioria dos investidores consegue manter a posição.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3"/>
          <p:cNvSpPr/>
          <p:nvPr/>
        </p:nvSpPr>
        <p:spPr>
          <a:xfrm>
            <a:off x="4645152" y="2852928"/>
            <a:ext cx="4160520" cy="2066544"/>
          </a:xfrm>
          <a:prstGeom prst="rect">
            <a:avLst/>
          </a:prstGeom>
          <a:solidFill>
            <a:srgbClr val="EFEFE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3"/>
          <p:cNvSpPr/>
          <p:nvPr/>
        </p:nvSpPr>
        <p:spPr>
          <a:xfrm>
            <a:off x="4645152" y="2852928"/>
            <a:ext cx="4160520" cy="29260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4782312" y="28712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FUNDO B  —  Arriscado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4809744" y="3218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Retorno anual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3"/>
          <p:cNvSpPr/>
          <p:nvPr/>
        </p:nvSpPr>
        <p:spPr>
          <a:xfrm>
            <a:off x="6931152" y="32186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4809744" y="35661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Max Drawdown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3"/>
          <p:cNvSpPr/>
          <p:nvPr/>
        </p:nvSpPr>
        <p:spPr>
          <a:xfrm>
            <a:off x="6931152" y="3566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-50%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3"/>
          <p:cNvSpPr/>
          <p:nvPr/>
        </p:nvSpPr>
        <p:spPr>
          <a:xfrm>
            <a:off x="4809744" y="39136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Calmar Ratio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6931152" y="39136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0,30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4809744" y="4279392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4809744" y="4315968"/>
            <a:ext cx="3831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Calmar 0,30: para cada 1% de retorno, você aceitou 3,3% de drawdown. Em -50%, a maioria dos investidores capitula e vende no pior momento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realizando a perda antes da recuperação.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13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882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DRAWDOWN · REFLEXÃO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4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1170432" y="414528"/>
            <a:ext cx="7680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PETR4 caiu -69% do pico em 2015. Você teria aguentado sem vender?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4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drawdown não é só uma estatística</a:t>
            </a: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é um teste psicológico e financeiro. Se você não consegue manter a posição durante o drawdown, o retorno histórico não é seu.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347472" y="3246120"/>
            <a:ext cx="2743200" cy="1664208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347472" y="3246120"/>
            <a:ext cx="2743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4"/>
          <p:cNvSpPr/>
          <p:nvPr/>
        </p:nvSpPr>
        <p:spPr>
          <a:xfrm>
            <a:off x="484632" y="332841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📉 -69% significa...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484632" y="3621024"/>
            <a:ext cx="2487168" cy="10058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484632" y="3675888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R$100.000 investidos no pico viraram R$31.000 no fundo. Você veria seu patrimônio encolher por mais de 12 meses consecutivos antes de qualquer sinal de recuperação.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4"/>
          <p:cNvSpPr/>
          <p:nvPr/>
        </p:nvSpPr>
        <p:spPr>
          <a:xfrm>
            <a:off x="3246120" y="3246120"/>
            <a:ext cx="2743200" cy="1664208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4"/>
          <p:cNvSpPr/>
          <p:nvPr/>
        </p:nvSpPr>
        <p:spPr>
          <a:xfrm>
            <a:off x="3246120" y="3246120"/>
            <a:ext cx="27432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4"/>
          <p:cNvSpPr/>
          <p:nvPr/>
        </p:nvSpPr>
        <p:spPr>
          <a:xfrm>
            <a:off x="3383280" y="332841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🧠 O problema psicológico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3383280" y="3621024"/>
            <a:ext cx="2487168" cy="10058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3383280" y="3675888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A maioria capitula entre -30% e -40%. Vende no fundo, realiza a perda e não participa da recuperação. O retorno histórico do papel não é o retorno que a maioria dos investidores realmente obteve.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6144768" y="3246120"/>
            <a:ext cx="2743200" cy="1664208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4"/>
          <p:cNvSpPr/>
          <p:nvPr/>
        </p:nvSpPr>
        <p:spPr>
          <a:xfrm>
            <a:off x="6144768" y="3246120"/>
            <a:ext cx="27432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4"/>
          <p:cNvSpPr/>
          <p:nvPr/>
        </p:nvSpPr>
        <p:spPr>
          <a:xfrm>
            <a:off x="6281928" y="332841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Como usar essa info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6281928" y="3621024"/>
            <a:ext cx="2487168" cy="10058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6281928" y="3675888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Antes de alocar em qualquer ativo, pergunte: qual o max drawdown histórico? Você tem capital e estômago para aguentar isso? Se a resposta for não, redimensione a posição.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