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7449ba845_0_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g3d7449ba845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jp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0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27432"/>
            <a:ext cx="5029200" cy="5116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229170" y="226220"/>
            <a:ext cx="22800" cy="23775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264724" y="179695"/>
            <a:ext cx="6953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800"/>
              <a:buFont typeface="Calibri"/>
              <a:buNone/>
            </a:pPr>
            <a:r>
              <a:rPr b="1" lang="en-US" sz="4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GESTÃO DE RISCO I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2323" y="1019650"/>
            <a:ext cx="613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5800"/>
              <a:buFont typeface="Calibri"/>
              <a:buNone/>
            </a:pPr>
            <a:r>
              <a:rPr b="1" lang="en-US" sz="37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VaR: paramétrico, </a:t>
            </a:r>
            <a:endParaRPr b="1" sz="3700">
              <a:solidFill>
                <a:srgbClr val="7B2FB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5800"/>
              <a:buFont typeface="Calibri"/>
              <a:buNone/>
            </a:pPr>
            <a:r>
              <a:rPr b="1" lang="en-US" sz="37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histórico e Monte Carlo</a:t>
            </a:r>
            <a:endParaRPr b="0" i="0" sz="3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66330" y="2027588"/>
            <a:ext cx="3200400" cy="165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66330" y="2119028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Núcleo de Análise Quantitativa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6330" y="2376865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Liga de Mercado Financeiro · UFU · 2026.1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29180" y="2785846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 DE PESQUISA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29180" y="2932150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Arthur Pires Lopes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835220" y="2950438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Elétrica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29180" y="3215614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29180" y="3252190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GERENTE QUANT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29180" y="3398493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João Emanuel Zilli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835220" y="3416782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29180" y="3663670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29180" y="3700246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29180" y="3846550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Gustavo Kono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835220" y="3864838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29180" y="4111726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29180" y="4148302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29180" y="4294606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Wilson Ribeiro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824808" y="4312894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27432"/>
            <a:ext cx="4114800" cy="511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120640" y="457200"/>
            <a:ext cx="39318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38000"/>
              <a:buFont typeface="Calibri"/>
              <a:buNone/>
            </a:pPr>
            <a:r>
              <a:rPr b="1" i="0" lang="en-US" sz="38000" u="none" cap="none" strike="noStrike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3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0" y="4709160"/>
            <a:ext cx="393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Diretoria de Pesquisa · 2026.1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0" y="5116068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" name="Google Shape;48;p4" title="LOGO COMPLETA - PRETO - 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428" y="-604075"/>
            <a:ext cx="3674899" cy="20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229180" y="4556596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29180" y="4593172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29180" y="4739476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Thiago Leal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824808" y="4757764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Ciências Econômicas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346075" y="1216025"/>
            <a:ext cx="4225925" cy="353060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0" y="5080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5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5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5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5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5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5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5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5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5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5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5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5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5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5"/>
          <p:cNvSpPr/>
          <p:nvPr/>
        </p:nvSpPr>
        <p:spPr>
          <a:xfrm>
            <a:off x="365125" y="165100"/>
            <a:ext cx="8229600" cy="25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NOSSA MISSÃO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65125" y="476250"/>
            <a:ext cx="8413750" cy="174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125" y="5207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Value at Risk (VaR)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30225" y="1262063"/>
            <a:ext cx="8137525" cy="841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54013" y="1214438"/>
            <a:ext cx="4217987" cy="268287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651125" y="2359025"/>
            <a:ext cx="366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66726" y="1657350"/>
            <a:ext cx="4040187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Qual o prejuízo máximo?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50671" y="2107423"/>
            <a:ext cx="3657474" cy="7461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30225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5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4725988" y="1216025"/>
            <a:ext cx="4225925" cy="354330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725988" y="1225550"/>
            <a:ext cx="4225925" cy="25717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4868863" y="1641475"/>
            <a:ext cx="40195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Tipos: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964432" y="2154315"/>
            <a:ext cx="996314" cy="7461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" y="2370932"/>
            <a:ext cx="3923128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5049043" y="2514600"/>
            <a:ext cx="273845" cy="22225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043700" y="3244056"/>
            <a:ext cx="273845" cy="22225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045598" y="3973512"/>
            <a:ext cx="273845" cy="22225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5383434" y="2475318"/>
            <a:ext cx="2547936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Paramétrico</a:t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5383360" y="3204320"/>
            <a:ext cx="46669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Histórico</a:t>
            </a:r>
            <a:endParaRPr/>
          </a:p>
        </p:txBody>
      </p:sp>
      <p:sp>
        <p:nvSpPr>
          <p:cNvPr id="96" name="Google Shape;96;p5"/>
          <p:cNvSpPr txBox="1"/>
          <p:nvPr/>
        </p:nvSpPr>
        <p:spPr>
          <a:xfrm>
            <a:off x="5383360" y="3929063"/>
            <a:ext cx="50960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Monte Carlo</a:t>
            </a:r>
            <a:endParaRPr/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4254" y="2354262"/>
            <a:ext cx="2223671" cy="61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78638" y="3512097"/>
            <a:ext cx="1634405" cy="1085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0" y="8255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6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6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6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6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6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6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6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6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6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6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6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6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6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/>
          <p:nvPr/>
        </p:nvSpPr>
        <p:spPr>
          <a:xfrm>
            <a:off x="365125" y="165100"/>
            <a:ext cx="8229600" cy="25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NOSSA MISSÃO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125" y="476250"/>
            <a:ext cx="8413750" cy="174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65125" y="5207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Var Paramétrico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65125" y="1206500"/>
            <a:ext cx="8413750" cy="9604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65125" y="1206500"/>
            <a:ext cx="50800" cy="96043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31850" y="1638300"/>
            <a:ext cx="78359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65125" y="2305050"/>
            <a:ext cx="2698750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65125" y="2305050"/>
            <a:ext cx="2698750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651125" y="2359025"/>
            <a:ext cx="366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30225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 Padrão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30225" y="3090863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30225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200400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200400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486400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365500" y="2468563"/>
            <a:ext cx="2376488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365500" y="3090863"/>
            <a:ext cx="2376488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300413" y="3154363"/>
            <a:ext cx="2551112" cy="142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035675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035675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321675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199188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195218" y="2844097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199188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6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390525" y="3350023"/>
            <a:ext cx="2698752" cy="3077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0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199188" y="2413057"/>
            <a:ext cx="2378075" cy="417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199188" y="3138488"/>
            <a:ext cx="239553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1349" y="1353286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31825" y="1597819"/>
            <a:ext cx="200025" cy="1666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31825" y="1838325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19162" y="1294240"/>
            <a:ext cx="76755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é a perda máxima que posso sofrer, com X% de confiança?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919162" y="1540359"/>
            <a:ext cx="7748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é a métrica central em relatórios de risco.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919163" y="1767315"/>
            <a:ext cx="7748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paramétrico assume distribuição normal dos retornos 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3298824" y="3286885"/>
            <a:ext cx="244316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o portfólio é composto de ativos lineares (sem opções ou derivativos complexos) e a série de retornos se comporta razoavelmente próxima de uma distribuição normal.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234505" y="3065232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231457" y="4074277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6430113" y="2979108"/>
            <a:ext cx="21071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Simples e rápido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6440467" y="3886160"/>
            <a:ext cx="19129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Subestima eventos extremos 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6212597" y="3356728"/>
            <a:ext cx="2360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Desvantagens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195110" y="3742729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631825" y="3760191"/>
            <a:ext cx="2019300" cy="73866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7438" l="-906" r="0" t="-165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3378200" y="2589312"/>
            <a:ext cx="22277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Quando Usado?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0" y="8255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7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7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7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7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7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7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7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7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7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7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7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7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7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7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7"/>
          <p:cNvSpPr/>
          <p:nvPr/>
        </p:nvSpPr>
        <p:spPr>
          <a:xfrm>
            <a:off x="365125" y="165100"/>
            <a:ext cx="8229600" cy="25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NOSSA MISSÃO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65125" y="476250"/>
            <a:ext cx="8413750" cy="174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5125" y="5207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Var Histórico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65125" y="1206500"/>
            <a:ext cx="8413750" cy="9604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65125" y="1206500"/>
            <a:ext cx="50800" cy="96043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31850" y="1262063"/>
            <a:ext cx="7947025" cy="841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65125" y="2305050"/>
            <a:ext cx="2698750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65125" y="2305050"/>
            <a:ext cx="2698750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2651125" y="2359025"/>
            <a:ext cx="366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30225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Passo a Passo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30225" y="3090863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30225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200400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200400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486400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365500" y="2468563"/>
            <a:ext cx="2376488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365500" y="3090863"/>
            <a:ext cx="2376488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300413" y="3154363"/>
            <a:ext cx="2551112" cy="142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035675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035675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321675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199188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199188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7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/>
          <p:nvPr/>
        </p:nvSpPr>
        <p:spPr>
          <a:xfrm>
            <a:off x="6199188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65196" y="1605110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3328370" y="3179475"/>
            <a:ext cx="248253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Mais usado quando se possui uma grande quantidade de dados passados.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Quando se deseja uma aplicação rápida no qual o mercado não possui mudanças drásticas. 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449709" y="3260487"/>
            <a:ext cx="245859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Coletar retornos históricos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Ordenar os retornos</a:t>
            </a:r>
            <a:endParaRPr/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Pegar o porcentil (Ex:5%)</a:t>
            </a:r>
            <a:endParaRPr/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195218" y="2844097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199188" y="2413057"/>
            <a:ext cx="2378075" cy="417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231457" y="4074277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6421101" y="2908448"/>
            <a:ext cx="21071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Simples e não assume modelo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6439519" y="3800682"/>
            <a:ext cx="191297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 do passado e não assume nosso cenários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6212597" y="3356728"/>
            <a:ext cx="2360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Desvantagens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195110" y="3742729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234505" y="3065232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3378200" y="2589312"/>
            <a:ext cx="22277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Quando Usado?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845547" y="1421677"/>
            <a:ext cx="77199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 assume nenhuma distribuição, ordena os retornos reais do pior ao melhor e encontra o percentil de corte diretamente nos dados.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8255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8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8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8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8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8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8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8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8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8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8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8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8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8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8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8"/>
          <p:cNvSpPr/>
          <p:nvPr/>
        </p:nvSpPr>
        <p:spPr>
          <a:xfrm>
            <a:off x="365125" y="165100"/>
            <a:ext cx="8229600" cy="25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NOSSA MISSÃO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65125" y="476250"/>
            <a:ext cx="8413750" cy="174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65125" y="5207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Var Monte Carlo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65124" y="1205707"/>
            <a:ext cx="8321675" cy="9604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65125" y="1206500"/>
            <a:ext cx="50800" cy="96043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831850" y="1262063"/>
            <a:ext cx="7947025" cy="841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65125" y="2305050"/>
            <a:ext cx="2698750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65125" y="2305050"/>
            <a:ext cx="2698750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651125" y="2359025"/>
            <a:ext cx="366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30225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Formula do teste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30225" y="3090863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30225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200400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200400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486400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365500" y="2468563"/>
            <a:ext cx="2376488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3365500" y="3090863"/>
            <a:ext cx="2376488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3300413" y="3154363"/>
            <a:ext cx="2551112" cy="142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035675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035675" y="2305050"/>
            <a:ext cx="2697163" cy="49213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8321675" y="2359025"/>
            <a:ext cx="3651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199188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199188" y="3163888"/>
            <a:ext cx="23780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8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/>
          <p:nvPr/>
        </p:nvSpPr>
        <p:spPr>
          <a:xfrm>
            <a:off x="6199188" y="2468563"/>
            <a:ext cx="2378075" cy="59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615950" y="1362951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31825" y="1838325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035675" y="2305050"/>
            <a:ext cx="2697163" cy="23955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195218" y="2844097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199188" y="2413057"/>
            <a:ext cx="2378075" cy="417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231457" y="4074277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6212597" y="3356728"/>
            <a:ext cx="2360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Desvantagens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234505" y="3065232"/>
            <a:ext cx="200025" cy="1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195110" y="3742729"/>
            <a:ext cx="2378075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841374" y="1262062"/>
            <a:ext cx="77318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Simula milhares de cenários futuros a partir de um modelo estocástico calibrado e extrai o VaR da distribuição simulada.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831849" y="1761044"/>
            <a:ext cx="7731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Ao invés de olhar o passado, criamos vários futuros possíveis.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411161" y="3497267"/>
            <a:ext cx="2606677" cy="3077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0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6481153" y="2900196"/>
            <a:ext cx="21738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Flexível, captura cenários complexos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6413226" y="3785055"/>
            <a:ext cx="218229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Computacionalmente caro (demora com a quantidade de casos)</a:t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3365500" y="3090863"/>
            <a:ext cx="2376488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3378200" y="2589312"/>
            <a:ext cx="22277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Quando Usado?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3332431" y="3222406"/>
            <a:ext cx="251909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Quando o portfólio tem ativos não-lineares (opções, estruturas exóticas), ou quando você quer testar os limites de uma estratégia. você quer incorporar cenários de estresse.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"/>
          <p:cNvSpPr/>
          <p:nvPr/>
        </p:nvSpPr>
        <p:spPr>
          <a:xfrm>
            <a:off x="4664075" y="3080425"/>
            <a:ext cx="4159250" cy="1645563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0" y="5080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9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9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9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9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9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9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9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9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9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9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9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9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9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9"/>
          <p:cNvSpPr/>
          <p:nvPr/>
        </p:nvSpPr>
        <p:spPr>
          <a:xfrm>
            <a:off x="365125" y="119063"/>
            <a:ext cx="82296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65125" y="430213"/>
            <a:ext cx="8413750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365125" y="476250"/>
            <a:ext cx="84137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Colocando em Prática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365125" y="1116013"/>
            <a:ext cx="8413750" cy="657225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365125" y="1116013"/>
            <a:ext cx="50800" cy="65722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15925" y="1116013"/>
            <a:ext cx="83629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Faça o Value at Risk da Vale (Vale3) usando Python</a:t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549275" y="1755775"/>
            <a:ext cx="26543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3203575" y="1755775"/>
            <a:ext cx="539115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365125" y="2030413"/>
            <a:ext cx="4160838" cy="2697162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365125" y="2030413"/>
            <a:ext cx="114300" cy="268287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49275" y="2120900"/>
            <a:ext cx="3886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   Passo a passo Var Parametrico: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49275" y="2590800"/>
            <a:ext cx="3748088" cy="1905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49275" y="2857500"/>
            <a:ext cx="3886200" cy="175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664075" y="2030414"/>
            <a:ext cx="4159250" cy="985838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664075" y="2030413"/>
            <a:ext cx="117475" cy="973137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846638" y="2120900"/>
            <a:ext cx="38862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lang="en-US" sz="13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Faça agora com o var histórico e Monte Carlos</a:t>
            </a:r>
            <a:endParaRPr sz="13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846638" y="2368550"/>
            <a:ext cx="3748087" cy="1905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846638" y="2495550"/>
            <a:ext cx="3886200" cy="841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49275" y="3475038"/>
            <a:ext cx="3886200" cy="319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49275" y="3895725"/>
            <a:ext cx="38862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 flipH="1">
            <a:off x="4664072" y="3080424"/>
            <a:ext cx="117475" cy="16455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846638" y="3128010"/>
            <a:ext cx="3886200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Compare os Resultados</a:t>
            </a:r>
            <a:endParaRPr sz="1400">
              <a:solidFill>
                <a:srgbClr val="7B2F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846638" y="3417887"/>
            <a:ext cx="3748087" cy="17463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846638" y="3895725"/>
            <a:ext cx="3954462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9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9"/>
          <p:cNvSpPr/>
          <p:nvPr/>
        </p:nvSpPr>
        <p:spPr>
          <a:xfrm>
            <a:off x="549275" y="2305050"/>
            <a:ext cx="166688" cy="968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030A0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 txBox="1"/>
          <p:nvPr/>
        </p:nvSpPr>
        <p:spPr>
          <a:xfrm>
            <a:off x="544513" y="2649538"/>
            <a:ext cx="383063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 txBox="1"/>
          <p:nvPr/>
        </p:nvSpPr>
        <p:spPr>
          <a:xfrm>
            <a:off x="544513" y="2646581"/>
            <a:ext cx="38862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Adicione as bibliotecas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Baixe os dados da Vale3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Coloque os parâmetros nas variáveis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Construa a fórmula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Printa o resultado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Plote o gráfico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0687" y="3627438"/>
            <a:ext cx="1344052" cy="1045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4738" y="3627438"/>
            <a:ext cx="1308100" cy="1039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0506" y="3636961"/>
            <a:ext cx="1290181" cy="103981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9"/>
          <p:cNvSpPr txBox="1"/>
          <p:nvPr/>
        </p:nvSpPr>
        <p:spPr>
          <a:xfrm>
            <a:off x="4903719" y="2495729"/>
            <a:ext cx="37720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Aplique os ensinamentos da aula de hoje para realizar a tarefa.</a:t>
            </a:r>
            <a:endParaRPr/>
          </a:p>
        </p:txBody>
      </p:sp>
      <p:pic>
        <p:nvPicPr>
          <p:cNvPr id="343" name="Google Shape;34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72230" y="3128010"/>
            <a:ext cx="2314615" cy="2314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"/>
          <p:cNvSpPr/>
          <p:nvPr/>
        </p:nvSpPr>
        <p:spPr>
          <a:xfrm>
            <a:off x="365125" y="1116013"/>
            <a:ext cx="8413750" cy="3597275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0" y="50800"/>
            <a:ext cx="50800" cy="5092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0"/>
          <p:cNvCxnSpPr/>
          <p:nvPr/>
        </p:nvCxnSpPr>
        <p:spPr>
          <a:xfrm>
            <a:off x="71326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10"/>
          <p:cNvCxnSpPr/>
          <p:nvPr/>
        </p:nvCxnSpPr>
        <p:spPr>
          <a:xfrm>
            <a:off x="7132638" y="920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10"/>
          <p:cNvCxnSpPr/>
          <p:nvPr/>
        </p:nvCxnSpPr>
        <p:spPr>
          <a:xfrm>
            <a:off x="74247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10"/>
          <p:cNvCxnSpPr/>
          <p:nvPr/>
        </p:nvCxnSpPr>
        <p:spPr>
          <a:xfrm>
            <a:off x="7132638" y="3841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10"/>
          <p:cNvCxnSpPr/>
          <p:nvPr/>
        </p:nvCxnSpPr>
        <p:spPr>
          <a:xfrm>
            <a:off x="7716838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10"/>
          <p:cNvCxnSpPr/>
          <p:nvPr/>
        </p:nvCxnSpPr>
        <p:spPr>
          <a:xfrm>
            <a:off x="7132638" y="676275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10"/>
          <p:cNvCxnSpPr/>
          <p:nvPr/>
        </p:nvCxnSpPr>
        <p:spPr>
          <a:xfrm>
            <a:off x="80105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0"/>
          <p:cNvCxnSpPr/>
          <p:nvPr/>
        </p:nvCxnSpPr>
        <p:spPr>
          <a:xfrm>
            <a:off x="7132638" y="9699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0"/>
          <p:cNvCxnSpPr/>
          <p:nvPr/>
        </p:nvCxnSpPr>
        <p:spPr>
          <a:xfrm>
            <a:off x="83026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10"/>
          <p:cNvCxnSpPr/>
          <p:nvPr/>
        </p:nvCxnSpPr>
        <p:spPr>
          <a:xfrm>
            <a:off x="7132638" y="12620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10"/>
          <p:cNvCxnSpPr/>
          <p:nvPr/>
        </p:nvCxnSpPr>
        <p:spPr>
          <a:xfrm>
            <a:off x="8594725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10"/>
          <p:cNvCxnSpPr/>
          <p:nvPr/>
        </p:nvCxnSpPr>
        <p:spPr>
          <a:xfrm>
            <a:off x="7132638" y="1554163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10"/>
          <p:cNvCxnSpPr/>
          <p:nvPr/>
        </p:nvCxnSpPr>
        <p:spPr>
          <a:xfrm>
            <a:off x="8888413" y="92075"/>
            <a:ext cx="0" cy="2047875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10"/>
          <p:cNvCxnSpPr/>
          <p:nvPr/>
        </p:nvCxnSpPr>
        <p:spPr>
          <a:xfrm>
            <a:off x="7132638" y="1847850"/>
            <a:ext cx="2047875" cy="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0"/>
          <p:cNvSpPr/>
          <p:nvPr/>
        </p:nvSpPr>
        <p:spPr>
          <a:xfrm>
            <a:off x="365125" y="119063"/>
            <a:ext cx="82296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65125" y="430213"/>
            <a:ext cx="8413750" cy="17462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65125" y="476250"/>
            <a:ext cx="84137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Código .py do teste ADF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65125" y="1116013"/>
            <a:ext cx="155576" cy="359727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15925" y="1116013"/>
            <a:ext cx="8362950" cy="364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49275" y="1755775"/>
            <a:ext cx="26543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203575" y="1755775"/>
            <a:ext cx="539115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0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8113" y="4581525"/>
            <a:ext cx="1057276" cy="5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0"/>
          <p:cNvSpPr/>
          <p:nvPr/>
        </p:nvSpPr>
        <p:spPr>
          <a:xfrm>
            <a:off x="3076574" y="1115364"/>
            <a:ext cx="155575" cy="3596488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701" y="1116011"/>
            <a:ext cx="2570161" cy="359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13" y="1111856"/>
            <a:ext cx="2733202" cy="35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0"/>
          <p:cNvSpPr/>
          <p:nvPr/>
        </p:nvSpPr>
        <p:spPr>
          <a:xfrm>
            <a:off x="5963924" y="1115364"/>
            <a:ext cx="155575" cy="3595845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6166" y="1111855"/>
            <a:ext cx="2662709" cy="3597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