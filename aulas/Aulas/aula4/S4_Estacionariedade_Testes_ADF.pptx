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2698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-426476"/>
            <a:ext cx="5029200" cy="511651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80219" y="329968"/>
            <a:ext cx="22225" cy="2376487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16744" y="283930"/>
            <a:ext cx="4206875" cy="1006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800"/>
              <a:buFont typeface="Calibri"/>
              <a:buNone/>
            </a:pPr>
            <a:r>
              <a:rPr b="1" i="0" lang="pt-BR" sz="5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NÚCLEO</a:t>
            </a:r>
            <a:endParaRPr b="0" i="0" sz="5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16744" y="1152293"/>
            <a:ext cx="4206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5800"/>
              <a:buFont typeface="Calibri"/>
              <a:buNone/>
            </a:pPr>
            <a:r>
              <a:rPr b="1" i="0" lang="pt-BR" sz="5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QUANT</a:t>
            </a:r>
            <a:endParaRPr b="0" i="0" sz="5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16744" y="2131780"/>
            <a:ext cx="3200400" cy="15875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16744" y="2222268"/>
            <a:ext cx="41148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Núcleo de Análise Quantitativa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16744" y="2481030"/>
            <a:ext cx="4114800" cy="25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Liga de Mercado Financeiro · UFU · 2026.1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39763" y="2809759"/>
            <a:ext cx="4114800" cy="1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pt-BR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DIRETOR DE PESQUISA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39763" y="2955809"/>
            <a:ext cx="2560637" cy="201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pt-BR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Arthur Pires Lopes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246438" y="3429000"/>
            <a:ext cx="1646237" cy="1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Elétrica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39763" y="3694113"/>
            <a:ext cx="4160837" cy="1111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39763" y="3276484"/>
            <a:ext cx="4114800" cy="1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pt-BR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GERENTE QUANT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39763" y="3422534"/>
            <a:ext cx="2560637" cy="201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pt-BR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João Emanuel Zilli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246438" y="3895725"/>
            <a:ext cx="1646237" cy="163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39763" y="3724836"/>
            <a:ext cx="4114800" cy="1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pt-BR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39763" y="3870886"/>
            <a:ext cx="2560637" cy="201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pt-BR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Gustavo Kono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246438" y="4343400"/>
            <a:ext cx="1646237" cy="1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39763" y="4591050"/>
            <a:ext cx="4160837" cy="9525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39763" y="4627563"/>
            <a:ext cx="4114800" cy="1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pt-BR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39763" y="4773613"/>
            <a:ext cx="25606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pt-BR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Wilson Ribeiro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3235325" y="4791075"/>
            <a:ext cx="1646238" cy="1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029200" y="26988"/>
            <a:ext cx="4114800" cy="51165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121275" y="457200"/>
            <a:ext cx="3930650" cy="4389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38000"/>
              <a:buFont typeface="Calibri"/>
              <a:buNone/>
            </a:pPr>
            <a:r>
              <a:rPr b="1" i="0" lang="pt-BR" sz="38000" u="none" cap="none" strike="noStrike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38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029200" y="4708525"/>
            <a:ext cx="39322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Diretoria de Pesquisa · 2026.1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0" y="5116513"/>
            <a:ext cx="9144000" cy="26987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3" title="LOGO COMPLETA - PRETO - P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7850" y="-604838"/>
            <a:ext cx="3675063" cy="20685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639763" y="4150190"/>
            <a:ext cx="4160837" cy="1111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39763" y="3252246"/>
            <a:ext cx="4160837" cy="1111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550476" y="4131702"/>
            <a:ext cx="582465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pt-BR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550476" y="4270159"/>
            <a:ext cx="58246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pt-BR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Thiago Leal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000000"/>
              </a:solidFill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95959"/>
              </a:solidFill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0" y="0"/>
            <a:ext cx="9144000" cy="273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0" y="27432"/>
            <a:ext cx="5029200" cy="51162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229170" y="226220"/>
            <a:ext cx="22800" cy="23775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366324" y="351000"/>
            <a:ext cx="4662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800"/>
              <a:buFont typeface="Calibri"/>
              <a:buNone/>
            </a:pPr>
            <a:r>
              <a:rPr b="1" lang="pt-BR" sz="47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Estacionariedade</a:t>
            </a:r>
            <a:endParaRPr b="0" i="0" sz="4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66330" y="1006554"/>
            <a:ext cx="420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5800"/>
              <a:buFont typeface="Calibri"/>
              <a:buNone/>
            </a:pPr>
            <a:r>
              <a:rPr b="1" lang="pt-BR" sz="47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e Testes ADF</a:t>
            </a:r>
            <a:endParaRPr b="0" i="0" sz="4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66330" y="2027588"/>
            <a:ext cx="3200400" cy="165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366330" y="2119028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Núcleo de Análise Quantitativa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66330" y="2376865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Liga de Mercado Financeiro · UFU · 2026.1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229180" y="2785846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pt-BR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DIRETOR DE PESQUISA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229180" y="2932150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pt-BR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Arthur Pires Lopes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835220" y="2950438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Elétrica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29180" y="3215614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229180" y="3252190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pt-BR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GERENTE QUANT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29180" y="3398493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pt-BR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João Emanuel Zilli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835220" y="3416782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29180" y="3663670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229180" y="3700246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pt-BR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229180" y="3846550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pt-BR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Gustavo Kono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835220" y="3864838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29180" y="4111726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229180" y="4148302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pt-BR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29180" y="4294606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pt-BR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Wilson Ribeiro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824808" y="4312894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029200" y="27432"/>
            <a:ext cx="4114800" cy="511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5120640" y="457200"/>
            <a:ext cx="39318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38000"/>
              <a:buFont typeface="Calibri"/>
              <a:buNone/>
            </a:pPr>
            <a:r>
              <a:rPr b="1" i="0" lang="pt-BR" sz="38000" u="none" cap="none" strike="noStrike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38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029200" y="4709160"/>
            <a:ext cx="393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Diretoria de Pesquisa · 2026.1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0" y="5116068"/>
            <a:ext cx="9144000" cy="273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3" title="LOGO COMPLETA - PRETO - 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428" y="-604075"/>
            <a:ext cx="3674899" cy="20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229180" y="4556596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229180" y="4593172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pt-BR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29180" y="4739476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lang="pt-BR" sz="12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Thiago Leal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824808" y="4757764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pt-BR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Ciências Econômicas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346075" y="1216025"/>
            <a:ext cx="4225925" cy="353060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0" y="50800"/>
            <a:ext cx="50800" cy="50927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4"/>
          <p:cNvCxnSpPr/>
          <p:nvPr/>
        </p:nvCxnSpPr>
        <p:spPr>
          <a:xfrm>
            <a:off x="71326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4"/>
          <p:cNvCxnSpPr/>
          <p:nvPr/>
        </p:nvCxnSpPr>
        <p:spPr>
          <a:xfrm>
            <a:off x="7132638" y="920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4"/>
          <p:cNvCxnSpPr/>
          <p:nvPr/>
        </p:nvCxnSpPr>
        <p:spPr>
          <a:xfrm>
            <a:off x="74247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4"/>
          <p:cNvCxnSpPr/>
          <p:nvPr/>
        </p:nvCxnSpPr>
        <p:spPr>
          <a:xfrm>
            <a:off x="7132638" y="3841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4"/>
          <p:cNvCxnSpPr/>
          <p:nvPr/>
        </p:nvCxnSpPr>
        <p:spPr>
          <a:xfrm>
            <a:off x="77168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4"/>
          <p:cNvCxnSpPr/>
          <p:nvPr/>
        </p:nvCxnSpPr>
        <p:spPr>
          <a:xfrm>
            <a:off x="7132638" y="6762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4"/>
          <p:cNvCxnSpPr/>
          <p:nvPr/>
        </p:nvCxnSpPr>
        <p:spPr>
          <a:xfrm>
            <a:off x="80105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4"/>
          <p:cNvCxnSpPr/>
          <p:nvPr/>
        </p:nvCxnSpPr>
        <p:spPr>
          <a:xfrm>
            <a:off x="7132638" y="9699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4"/>
          <p:cNvCxnSpPr/>
          <p:nvPr/>
        </p:nvCxnSpPr>
        <p:spPr>
          <a:xfrm>
            <a:off x="83026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4"/>
          <p:cNvCxnSpPr/>
          <p:nvPr/>
        </p:nvCxnSpPr>
        <p:spPr>
          <a:xfrm>
            <a:off x="7132638" y="12620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4"/>
          <p:cNvCxnSpPr/>
          <p:nvPr/>
        </p:nvCxnSpPr>
        <p:spPr>
          <a:xfrm>
            <a:off x="85947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4"/>
          <p:cNvCxnSpPr/>
          <p:nvPr/>
        </p:nvCxnSpPr>
        <p:spPr>
          <a:xfrm>
            <a:off x="7132638" y="15541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4"/>
          <p:cNvCxnSpPr/>
          <p:nvPr/>
        </p:nvCxnSpPr>
        <p:spPr>
          <a:xfrm>
            <a:off x="8888413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4"/>
          <p:cNvCxnSpPr/>
          <p:nvPr/>
        </p:nvCxnSpPr>
        <p:spPr>
          <a:xfrm>
            <a:off x="7132638" y="1847850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4"/>
          <p:cNvSpPr/>
          <p:nvPr/>
        </p:nvSpPr>
        <p:spPr>
          <a:xfrm>
            <a:off x="365125" y="165100"/>
            <a:ext cx="8229600" cy="25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NOSSA MISSÃO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65125" y="476250"/>
            <a:ext cx="8413750" cy="17463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65125" y="5207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pt-BR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30225" y="1262063"/>
            <a:ext cx="8137525" cy="841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54013" y="1214438"/>
            <a:ext cx="4217987" cy="268287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651125" y="2359025"/>
            <a:ext cx="3667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30225" y="1657350"/>
            <a:ext cx="3976688" cy="566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Estacionariedade 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91946" y="2149477"/>
            <a:ext cx="2357629" cy="7461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30225" y="3163888"/>
            <a:ext cx="2378075" cy="141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4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8113" y="4581525"/>
            <a:ext cx="1057276" cy="5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4725988" y="1216025"/>
            <a:ext cx="4225925" cy="354330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725988" y="1225550"/>
            <a:ext cx="4225925" cy="257175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4868863" y="1641475"/>
            <a:ext cx="401955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Teste ADF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834" y="2224088"/>
            <a:ext cx="3276791" cy="243998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4832157" y="2154315"/>
            <a:ext cx="2357629" cy="7461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4888261" y="2357697"/>
            <a:ext cx="297420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Dickey-Fuller Aumentado (ADF):</a:t>
            </a:r>
            <a:endParaRPr/>
          </a:p>
        </p:txBody>
      </p:sp>
      <p:pic>
        <p:nvPicPr>
          <p:cNvPr id="120" name="Google Shape;12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1421" y="2819971"/>
            <a:ext cx="3901778" cy="739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0" y="82550"/>
            <a:ext cx="50800" cy="50927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5"/>
          <p:cNvCxnSpPr/>
          <p:nvPr/>
        </p:nvCxnSpPr>
        <p:spPr>
          <a:xfrm>
            <a:off x="71326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5"/>
          <p:cNvCxnSpPr/>
          <p:nvPr/>
        </p:nvCxnSpPr>
        <p:spPr>
          <a:xfrm>
            <a:off x="7132638" y="920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5"/>
          <p:cNvCxnSpPr/>
          <p:nvPr/>
        </p:nvCxnSpPr>
        <p:spPr>
          <a:xfrm>
            <a:off x="74247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5"/>
          <p:cNvCxnSpPr/>
          <p:nvPr/>
        </p:nvCxnSpPr>
        <p:spPr>
          <a:xfrm>
            <a:off x="7132638" y="3841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5"/>
          <p:cNvCxnSpPr/>
          <p:nvPr/>
        </p:nvCxnSpPr>
        <p:spPr>
          <a:xfrm>
            <a:off x="77168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5"/>
          <p:cNvCxnSpPr/>
          <p:nvPr/>
        </p:nvCxnSpPr>
        <p:spPr>
          <a:xfrm>
            <a:off x="7132638" y="6762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5"/>
          <p:cNvCxnSpPr/>
          <p:nvPr/>
        </p:nvCxnSpPr>
        <p:spPr>
          <a:xfrm>
            <a:off x="80105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5"/>
          <p:cNvCxnSpPr/>
          <p:nvPr/>
        </p:nvCxnSpPr>
        <p:spPr>
          <a:xfrm>
            <a:off x="7132638" y="9699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5"/>
          <p:cNvCxnSpPr/>
          <p:nvPr/>
        </p:nvCxnSpPr>
        <p:spPr>
          <a:xfrm>
            <a:off x="83026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5"/>
          <p:cNvCxnSpPr/>
          <p:nvPr/>
        </p:nvCxnSpPr>
        <p:spPr>
          <a:xfrm>
            <a:off x="7132638" y="12620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5"/>
          <p:cNvCxnSpPr/>
          <p:nvPr/>
        </p:nvCxnSpPr>
        <p:spPr>
          <a:xfrm>
            <a:off x="85947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5"/>
          <p:cNvCxnSpPr/>
          <p:nvPr/>
        </p:nvCxnSpPr>
        <p:spPr>
          <a:xfrm>
            <a:off x="7132638" y="15541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5"/>
          <p:cNvCxnSpPr/>
          <p:nvPr/>
        </p:nvCxnSpPr>
        <p:spPr>
          <a:xfrm>
            <a:off x="8888413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5"/>
          <p:cNvCxnSpPr/>
          <p:nvPr/>
        </p:nvCxnSpPr>
        <p:spPr>
          <a:xfrm>
            <a:off x="7132638" y="1847850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5"/>
          <p:cNvSpPr/>
          <p:nvPr/>
        </p:nvSpPr>
        <p:spPr>
          <a:xfrm>
            <a:off x="365125" y="165100"/>
            <a:ext cx="8229600" cy="25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lang="pt-BR" sz="9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NOSSA MISSÃO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65125" y="476250"/>
            <a:ext cx="8413750" cy="17463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365125" y="5207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lang="pt-BR" sz="28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Estacionariedade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65125" y="1206500"/>
            <a:ext cx="8413750" cy="9604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65125" y="1206500"/>
            <a:ext cx="50800" cy="96043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31850" y="1638300"/>
            <a:ext cx="7835900" cy="423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65125" y="2305050"/>
            <a:ext cx="2698750" cy="23955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65125" y="2305050"/>
            <a:ext cx="2698750" cy="49213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651125" y="2359025"/>
            <a:ext cx="3667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lang="pt-BR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30225" y="2468563"/>
            <a:ext cx="2378075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alibri"/>
              <a:buNone/>
            </a:pPr>
            <a:r>
              <a:rPr b="1" lang="pt-BR" sz="14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Serie Numérica Estacionária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30225" y="3090863"/>
            <a:ext cx="2378075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30225" y="3163888"/>
            <a:ext cx="2378075" cy="141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200400" y="2305050"/>
            <a:ext cx="2697163" cy="23955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200400" y="2305050"/>
            <a:ext cx="2697163" cy="49213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486400" y="2359025"/>
            <a:ext cx="3651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lang="pt-BR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365500" y="2468563"/>
            <a:ext cx="2376488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Séria Numérica Não Estacionária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365500" y="3090863"/>
            <a:ext cx="2376488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300413" y="3154363"/>
            <a:ext cx="2551112" cy="1427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035675" y="2305050"/>
            <a:ext cx="2697163" cy="23955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6035675" y="2305050"/>
            <a:ext cx="2697163" cy="49213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8321675" y="2359025"/>
            <a:ext cx="3651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lang="pt-BR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199188" y="2468563"/>
            <a:ext cx="2378075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199188" y="3090863"/>
            <a:ext cx="2378075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199188" y="3163888"/>
            <a:ext cx="2378075" cy="141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5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8113" y="4581525"/>
            <a:ext cx="1057276" cy="5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5"/>
          <p:cNvSpPr txBox="1"/>
          <p:nvPr/>
        </p:nvSpPr>
        <p:spPr>
          <a:xfrm>
            <a:off x="369886" y="3630424"/>
            <a:ext cx="269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Média e a volatilidade é constante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dependem do tempo.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Retornos geralmente são estacionários</a:t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6199188" y="2468563"/>
            <a:ext cx="2378075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Tipos de série Estacionária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6199188" y="3138488"/>
            <a:ext cx="239553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363536" y="3206949"/>
            <a:ext cx="26987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Ex:100, 98,102,101,99,100,103</a:t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641349" y="1353286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31825" y="1597819"/>
            <a:ext cx="200025" cy="16668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31825" y="1838325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919162" y="1294240"/>
            <a:ext cx="76755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série temporal é </a:t>
            </a:r>
            <a:r>
              <a:rPr b="1"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estacionária</a:t>
            </a:r>
            <a:r>
              <a:rPr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quando suas propriedades estatísticas não mudam ao longo do </a:t>
            </a:r>
            <a:r>
              <a:rPr b="1"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tempo</a:t>
            </a:r>
            <a:r>
              <a:rPr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919162" y="1540359"/>
            <a:ext cx="77485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mercado financeiro modelos financeiros exigem dados estacionários.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919163" y="1767315"/>
            <a:ext cx="77485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verificar a estacionariedade, utilizam-se testes estatísticos como o </a:t>
            </a:r>
            <a:r>
              <a:rPr b="1"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ADF</a:t>
            </a:r>
            <a:r>
              <a:rPr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3198811" y="3198813"/>
            <a:ext cx="26971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Ex:10, 12,15,13,16,19,20,21,18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3182938" y="3630424"/>
            <a:ext cx="269875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Possui Tendência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Média e volatilidade pode mudar com o tempo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Preços de Ações geralmente são não estacionários</a:t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6287583" y="3360837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287581" y="3927566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6487606" y="3288376"/>
            <a:ext cx="21071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Fraca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média e variância constantes  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6487606" y="3856227"/>
            <a:ext cx="191297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Forte, 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distribuição inteira constante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0" y="82550"/>
            <a:ext cx="50800" cy="50927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6"/>
          <p:cNvCxnSpPr/>
          <p:nvPr/>
        </p:nvCxnSpPr>
        <p:spPr>
          <a:xfrm>
            <a:off x="71326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6"/>
          <p:cNvCxnSpPr/>
          <p:nvPr/>
        </p:nvCxnSpPr>
        <p:spPr>
          <a:xfrm>
            <a:off x="7132638" y="920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6"/>
          <p:cNvCxnSpPr/>
          <p:nvPr/>
        </p:nvCxnSpPr>
        <p:spPr>
          <a:xfrm>
            <a:off x="74247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6"/>
          <p:cNvCxnSpPr/>
          <p:nvPr/>
        </p:nvCxnSpPr>
        <p:spPr>
          <a:xfrm>
            <a:off x="7132638" y="3841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6"/>
          <p:cNvCxnSpPr/>
          <p:nvPr/>
        </p:nvCxnSpPr>
        <p:spPr>
          <a:xfrm>
            <a:off x="77168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6"/>
          <p:cNvCxnSpPr/>
          <p:nvPr/>
        </p:nvCxnSpPr>
        <p:spPr>
          <a:xfrm>
            <a:off x="7132638" y="6762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6"/>
          <p:cNvCxnSpPr/>
          <p:nvPr/>
        </p:nvCxnSpPr>
        <p:spPr>
          <a:xfrm>
            <a:off x="80105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6"/>
          <p:cNvCxnSpPr/>
          <p:nvPr/>
        </p:nvCxnSpPr>
        <p:spPr>
          <a:xfrm>
            <a:off x="7132638" y="9699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6"/>
          <p:cNvCxnSpPr/>
          <p:nvPr/>
        </p:nvCxnSpPr>
        <p:spPr>
          <a:xfrm>
            <a:off x="83026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6"/>
          <p:cNvCxnSpPr/>
          <p:nvPr/>
        </p:nvCxnSpPr>
        <p:spPr>
          <a:xfrm>
            <a:off x="7132638" y="12620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6"/>
          <p:cNvCxnSpPr/>
          <p:nvPr/>
        </p:nvCxnSpPr>
        <p:spPr>
          <a:xfrm>
            <a:off x="85947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6"/>
          <p:cNvCxnSpPr/>
          <p:nvPr/>
        </p:nvCxnSpPr>
        <p:spPr>
          <a:xfrm>
            <a:off x="7132638" y="15541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6"/>
          <p:cNvCxnSpPr/>
          <p:nvPr/>
        </p:nvCxnSpPr>
        <p:spPr>
          <a:xfrm>
            <a:off x="8888413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6"/>
          <p:cNvCxnSpPr/>
          <p:nvPr/>
        </p:nvCxnSpPr>
        <p:spPr>
          <a:xfrm>
            <a:off x="7132638" y="1847850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6"/>
          <p:cNvSpPr/>
          <p:nvPr/>
        </p:nvSpPr>
        <p:spPr>
          <a:xfrm>
            <a:off x="365125" y="165100"/>
            <a:ext cx="8229600" cy="25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lang="pt-BR" sz="9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NOSSA MISSÃO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65125" y="476250"/>
            <a:ext cx="8413750" cy="17463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65125" y="5207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lang="pt-BR" sz="28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Testes ADF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365125" y="1206500"/>
            <a:ext cx="8413750" cy="9604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65125" y="1206500"/>
            <a:ext cx="50800" cy="96043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831850" y="1262063"/>
            <a:ext cx="7947025" cy="841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Teste criado para identificar se uma série é estacionária ou não.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teste verifica se a raiz é unitária.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Criado por David Dickey e Wayne Fuller, por isso teste Augmented Dickey-Fuller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65125" y="2305050"/>
            <a:ext cx="2698750" cy="23955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65125" y="2305050"/>
            <a:ext cx="2698750" cy="49213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2651125" y="2359025"/>
            <a:ext cx="3667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lang="pt-BR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530225" y="2468563"/>
            <a:ext cx="2378075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alibri"/>
              <a:buNone/>
            </a:pPr>
            <a:r>
              <a:rPr b="1" lang="pt-BR" sz="14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Formula do teste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530225" y="3090863"/>
            <a:ext cx="2378075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530225" y="3163888"/>
            <a:ext cx="2378075" cy="141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200400" y="2305050"/>
            <a:ext cx="2697163" cy="23955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200400" y="2305050"/>
            <a:ext cx="2697163" cy="49213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5486400" y="2359025"/>
            <a:ext cx="3651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lang="pt-BR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3365500" y="2468563"/>
            <a:ext cx="2376488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3365500" y="3090863"/>
            <a:ext cx="2376488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3300413" y="3154363"/>
            <a:ext cx="2551112" cy="1427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035675" y="2305050"/>
            <a:ext cx="2697163" cy="23955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035675" y="2305050"/>
            <a:ext cx="2697163" cy="49213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8321675" y="2359025"/>
            <a:ext cx="3651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lang="pt-BR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6199188" y="2468563"/>
            <a:ext cx="2378075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199188" y="3090863"/>
            <a:ext cx="2378075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6199188" y="3163888"/>
            <a:ext cx="2378075" cy="141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6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8113" y="4581525"/>
            <a:ext cx="1057276" cy="5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6"/>
          <p:cNvSpPr/>
          <p:nvPr/>
        </p:nvSpPr>
        <p:spPr>
          <a:xfrm>
            <a:off x="6199188" y="2468563"/>
            <a:ext cx="2378075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Aplicação Real</a:t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631825" y="1398588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31825" y="1620838"/>
            <a:ext cx="200025" cy="16668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631825" y="1838325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161" y="3373438"/>
            <a:ext cx="2633663" cy="73920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6"/>
          <p:cNvSpPr txBox="1"/>
          <p:nvPr/>
        </p:nvSpPr>
        <p:spPr>
          <a:xfrm>
            <a:off x="3414443" y="3090238"/>
            <a:ext cx="24825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 de p &gt; 0.05, não é estacionária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 de p &lt; 0.05, é estacionária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6174522" y="3684925"/>
            <a:ext cx="232514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Modelos ARIMA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Previsão de preços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Estratégias automatizadas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Pair trading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6103433" y="3117423"/>
            <a:ext cx="25833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conseguir fazer modelagem quantitativa e previsão é necessário usar séries estacionárias</a:t>
            </a:r>
            <a:endParaRPr/>
          </a:p>
        </p:txBody>
      </p:sp>
      <p:pic>
        <p:nvPicPr>
          <p:cNvPr id="239" name="Google Shape;23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94559" y="3710394"/>
            <a:ext cx="1708844" cy="91924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6"/>
          <p:cNvSpPr/>
          <p:nvPr/>
        </p:nvSpPr>
        <p:spPr>
          <a:xfrm>
            <a:off x="3239273" y="3154363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3239045" y="3507784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0" y="50800"/>
            <a:ext cx="50800" cy="50927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7"/>
          <p:cNvCxnSpPr/>
          <p:nvPr/>
        </p:nvCxnSpPr>
        <p:spPr>
          <a:xfrm>
            <a:off x="71326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7"/>
          <p:cNvCxnSpPr/>
          <p:nvPr/>
        </p:nvCxnSpPr>
        <p:spPr>
          <a:xfrm>
            <a:off x="7132638" y="920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7"/>
          <p:cNvCxnSpPr/>
          <p:nvPr/>
        </p:nvCxnSpPr>
        <p:spPr>
          <a:xfrm>
            <a:off x="74247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7"/>
          <p:cNvCxnSpPr/>
          <p:nvPr/>
        </p:nvCxnSpPr>
        <p:spPr>
          <a:xfrm>
            <a:off x="7132638" y="3841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7"/>
          <p:cNvCxnSpPr/>
          <p:nvPr/>
        </p:nvCxnSpPr>
        <p:spPr>
          <a:xfrm>
            <a:off x="77168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7"/>
          <p:cNvCxnSpPr/>
          <p:nvPr/>
        </p:nvCxnSpPr>
        <p:spPr>
          <a:xfrm>
            <a:off x="7132638" y="6762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7"/>
          <p:cNvCxnSpPr/>
          <p:nvPr/>
        </p:nvCxnSpPr>
        <p:spPr>
          <a:xfrm>
            <a:off x="80105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7"/>
          <p:cNvCxnSpPr/>
          <p:nvPr/>
        </p:nvCxnSpPr>
        <p:spPr>
          <a:xfrm>
            <a:off x="7132638" y="9699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7"/>
          <p:cNvCxnSpPr/>
          <p:nvPr/>
        </p:nvCxnSpPr>
        <p:spPr>
          <a:xfrm>
            <a:off x="83026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7"/>
          <p:cNvCxnSpPr/>
          <p:nvPr/>
        </p:nvCxnSpPr>
        <p:spPr>
          <a:xfrm>
            <a:off x="7132638" y="12620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7"/>
          <p:cNvCxnSpPr/>
          <p:nvPr/>
        </p:nvCxnSpPr>
        <p:spPr>
          <a:xfrm>
            <a:off x="85947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7"/>
          <p:cNvCxnSpPr/>
          <p:nvPr/>
        </p:nvCxnSpPr>
        <p:spPr>
          <a:xfrm>
            <a:off x="7132638" y="15541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7"/>
          <p:cNvCxnSpPr/>
          <p:nvPr/>
        </p:nvCxnSpPr>
        <p:spPr>
          <a:xfrm>
            <a:off x="8888413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7"/>
          <p:cNvCxnSpPr/>
          <p:nvPr/>
        </p:nvCxnSpPr>
        <p:spPr>
          <a:xfrm>
            <a:off x="7132638" y="1847850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7"/>
          <p:cNvSpPr/>
          <p:nvPr/>
        </p:nvSpPr>
        <p:spPr>
          <a:xfrm>
            <a:off x="365125" y="119063"/>
            <a:ext cx="82296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lang="pt-BR" sz="9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COMO FUNCIONA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365125" y="430213"/>
            <a:ext cx="8413750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365125" y="476250"/>
            <a:ext cx="8413750" cy="530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libri"/>
              <a:buNone/>
            </a:pPr>
            <a:r>
              <a:rPr b="1" lang="pt-BR" sz="26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Colocando em Prática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365125" y="1116013"/>
            <a:ext cx="8413750" cy="657225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365125" y="1116013"/>
            <a:ext cx="50800" cy="657225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15925" y="1116013"/>
            <a:ext cx="83629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lang="pt-BR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Faça o teste ADF para a série abaixo e depois teste com o preço das ações da Petrobras</a:t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549275" y="1755775"/>
            <a:ext cx="26543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3203575" y="1755775"/>
            <a:ext cx="539115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365125" y="2030413"/>
            <a:ext cx="4160838" cy="2697162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365125" y="2030413"/>
            <a:ext cx="114300" cy="2682875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549275" y="2120900"/>
            <a:ext cx="3886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alibri"/>
              <a:buNone/>
            </a:pPr>
            <a:r>
              <a:rPr b="1" lang="pt-BR" sz="16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   Exemplo: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549275" y="2590800"/>
            <a:ext cx="3748088" cy="19050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549275" y="2857500"/>
            <a:ext cx="3886200" cy="175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4664075" y="2030413"/>
            <a:ext cx="4159250" cy="1316037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4664075" y="2030413"/>
            <a:ext cx="117475" cy="1298575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846638" y="2120900"/>
            <a:ext cx="38862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1" lang="pt-BR" sz="13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Faça o teste com o preço da ação da Petrobras </a:t>
            </a:r>
            <a:endParaRPr sz="13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4846638" y="2468563"/>
            <a:ext cx="3748087" cy="1905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4846638" y="2495550"/>
            <a:ext cx="3886200" cy="841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549275" y="3475038"/>
            <a:ext cx="3886200" cy="319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549275" y="3895725"/>
            <a:ext cx="38862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4664075" y="3400425"/>
            <a:ext cx="4159250" cy="1254125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 flipH="1">
            <a:off x="4664075" y="3400425"/>
            <a:ext cx="117475" cy="1308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4846638" y="3475038"/>
            <a:ext cx="3886200" cy="319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b="1" lang="pt-BR" sz="135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Faça o teste com o log retorno da Petrobras</a:t>
            </a:r>
            <a:endParaRPr sz="1400">
              <a:solidFill>
                <a:srgbClr val="7B2F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4846638" y="3822700"/>
            <a:ext cx="3748087" cy="17463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4846638" y="3895725"/>
            <a:ext cx="3954462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t/>
            </a:r>
            <a:endParaRPr i="1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7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8113" y="4581525"/>
            <a:ext cx="1057276" cy="5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7"/>
          <p:cNvSpPr/>
          <p:nvPr/>
        </p:nvSpPr>
        <p:spPr>
          <a:xfrm>
            <a:off x="549275" y="2305050"/>
            <a:ext cx="166688" cy="9683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030A0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544513" y="2649538"/>
            <a:ext cx="3830637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Série : [12, 15, 14, 18, 17, 20, 22, 21, 23, 25, 24, 26, 28, 27, 30, 33, 23, 29, 28, 30]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1- Use a biblioteca statsmodels.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2- Use a função adfuller().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3- Faça a média de dois intervalos diferentes.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4919662" y="2624137"/>
            <a:ext cx="34048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Import yfanance as yf</a:t>
            </a:r>
            <a:endParaRPr i="1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5025483" y="4054475"/>
            <a:ext cx="33825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 das duas é estacionárias?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0474" y="2569667"/>
            <a:ext cx="1202794" cy="676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"/>
          <p:cNvSpPr/>
          <p:nvPr/>
        </p:nvSpPr>
        <p:spPr>
          <a:xfrm>
            <a:off x="365125" y="1116013"/>
            <a:ext cx="8413750" cy="3597275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0" y="50800"/>
            <a:ext cx="50800" cy="50927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p8"/>
          <p:cNvCxnSpPr/>
          <p:nvPr/>
        </p:nvCxnSpPr>
        <p:spPr>
          <a:xfrm>
            <a:off x="71326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8"/>
          <p:cNvCxnSpPr/>
          <p:nvPr/>
        </p:nvCxnSpPr>
        <p:spPr>
          <a:xfrm>
            <a:off x="7132638" y="920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8"/>
          <p:cNvCxnSpPr/>
          <p:nvPr/>
        </p:nvCxnSpPr>
        <p:spPr>
          <a:xfrm>
            <a:off x="74247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8"/>
          <p:cNvCxnSpPr/>
          <p:nvPr/>
        </p:nvCxnSpPr>
        <p:spPr>
          <a:xfrm>
            <a:off x="7132638" y="3841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8"/>
          <p:cNvCxnSpPr/>
          <p:nvPr/>
        </p:nvCxnSpPr>
        <p:spPr>
          <a:xfrm>
            <a:off x="77168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8"/>
          <p:cNvCxnSpPr/>
          <p:nvPr/>
        </p:nvCxnSpPr>
        <p:spPr>
          <a:xfrm>
            <a:off x="7132638" y="6762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8"/>
          <p:cNvCxnSpPr/>
          <p:nvPr/>
        </p:nvCxnSpPr>
        <p:spPr>
          <a:xfrm>
            <a:off x="80105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8"/>
          <p:cNvCxnSpPr/>
          <p:nvPr/>
        </p:nvCxnSpPr>
        <p:spPr>
          <a:xfrm>
            <a:off x="7132638" y="9699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8"/>
          <p:cNvCxnSpPr/>
          <p:nvPr/>
        </p:nvCxnSpPr>
        <p:spPr>
          <a:xfrm>
            <a:off x="83026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8"/>
          <p:cNvCxnSpPr/>
          <p:nvPr/>
        </p:nvCxnSpPr>
        <p:spPr>
          <a:xfrm>
            <a:off x="7132638" y="12620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8"/>
          <p:cNvCxnSpPr/>
          <p:nvPr/>
        </p:nvCxnSpPr>
        <p:spPr>
          <a:xfrm>
            <a:off x="85947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8"/>
          <p:cNvCxnSpPr/>
          <p:nvPr/>
        </p:nvCxnSpPr>
        <p:spPr>
          <a:xfrm>
            <a:off x="7132638" y="15541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8"/>
          <p:cNvCxnSpPr/>
          <p:nvPr/>
        </p:nvCxnSpPr>
        <p:spPr>
          <a:xfrm>
            <a:off x="8888413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8"/>
          <p:cNvCxnSpPr/>
          <p:nvPr/>
        </p:nvCxnSpPr>
        <p:spPr>
          <a:xfrm>
            <a:off x="7132638" y="1847850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8"/>
          <p:cNvSpPr/>
          <p:nvPr/>
        </p:nvSpPr>
        <p:spPr>
          <a:xfrm>
            <a:off x="365125" y="119063"/>
            <a:ext cx="82296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lang="pt-BR" sz="9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COMO FUNCIONA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365125" y="430213"/>
            <a:ext cx="8413750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365125" y="476250"/>
            <a:ext cx="8413750" cy="530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libri"/>
              <a:buNone/>
            </a:pPr>
            <a:r>
              <a:rPr b="1" lang="pt-BR" sz="26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Código .py do teste ADF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365125" y="1116013"/>
            <a:ext cx="184150" cy="3597275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415925" y="1116013"/>
            <a:ext cx="8362950" cy="364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549275" y="1755775"/>
            <a:ext cx="26543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3203575" y="1755775"/>
            <a:ext cx="539115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8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8113" y="4581525"/>
            <a:ext cx="1057276" cy="5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8"/>
          <p:cNvSpPr/>
          <p:nvPr/>
        </p:nvSpPr>
        <p:spPr>
          <a:xfrm>
            <a:off x="4514850" y="1116013"/>
            <a:ext cx="155575" cy="3597275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095" y="1116014"/>
            <a:ext cx="3959167" cy="359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0426" y="1116012"/>
            <a:ext cx="4108450" cy="359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